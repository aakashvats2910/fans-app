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out" id="{9f7c71bc-03b5-b9d7-f1c7-d3bcaead3f3f}">
          <p14:sldIdLst>
            <p14:sldId id="256"/>
            <p14:sldId id="257"/>
            <p14:sldId id="258"/>
            <p14:sldId id="259"/>
          </p14:sldIdLst>
        </p14:section>
        <p14:section name="Company portal" id="{f0dc65ea-e0ac-7fb6-4d04-a10970ea52f3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Dealer and owner" id="{2e717c5f-699e-35ce-8930-62cea003d17d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Next" id="{05e0bde9-285b-f161-7b11-c885dcbfd06a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Zelio vehicle registry portal. The Zelio wordmark used here is a placeholder drawn for the demo, not the official logo. Everything is shown with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Low-speed e-bikes do not go through the RTO, so there is no government registry to lean on. The portal fills that gap for the manufacturer and its dealer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plate links the physical bike to its record. Scanning it opens registration, warranty per part and the parts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data. 52% = the five largest states (76,533) over the 1,48,174 total. The 38 comes from the 540 most recent registrations in the warranty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data. Districts use real boundaries; the counts are made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data: 540 recent registrations, 485 active, 38 expiring soon, 17 expired. Per-part active shares are from the By part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data. 76,533 of 1,48,174 registrations are in the five states shown (52%). Of 540 recent bikes: 485 active (90%), 38 expiring soon (7%), 17 expired (3%).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link works once GitHub Pages is switched on for the gh-pages branch (Settings, Pages). The Zelio logo is a placeholder wordmark.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z_mark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CENT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z_mark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EF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z_mark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09360" y="1554480"/>
            <a:ext cx="5120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akashvats2910.github.io/fans-app/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4" Type="http://schemas.openxmlformats.org/officeDocument/2006/relationships/image" Target="../media/image-20-3.png"/><Relationship Id="rId5" Type="http://schemas.openxmlformats.org/officeDocument/2006/relationships/image" Target="../media/image-20-4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elio logo" descr="Zelio logo (placeholder word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1737360" cy="96795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registry for every non-RTO e-bike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Registration, warranty and parts history, from the factory to the dealer to the owner.</a:t>
            </a:r>
            <a:endParaRPr lang="en-US" sz="1600" dirty="0"/>
          </a:p>
        </p:txBody>
      </p:sp>
      <p:pic>
        <p:nvPicPr>
          <p:cNvPr id="5" name="Hero panel" descr="Owner phone screen with the Zelio number p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502920"/>
            <a:ext cx="3200400" cy="585216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77724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000" dirty="0"/>
          </a:p>
        </p:txBody>
      </p:sp>
      <p:sp>
        <p:nvSpPr>
          <p:cNvPr id="7" name="Text"/>
          <p:cNvSpPr txBox="1"/>
          <p:nvPr/>
        </p:nvSpPr>
        <p:spPr>
          <a:xfrm>
            <a:off x="77724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Zelio</a:t>
            </a:r>
            <a:endParaRPr lang="en-US" sz="1300" dirty="0"/>
          </a:p>
        </p:txBody>
      </p:sp>
      <p:sp>
        <p:nvSpPr>
          <p:cNvPr id="8" name="Text"/>
          <p:cNvSpPr txBox="1"/>
          <p:nvPr/>
        </p:nvSpPr>
        <p:spPr>
          <a:xfrm>
            <a:off x="297180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</a:t>
            </a:r>
            <a:endParaRPr lang="en-US" sz="1000" dirty="0"/>
          </a:p>
        </p:txBody>
      </p:sp>
      <p:sp>
        <p:nvSpPr>
          <p:cNvPr id="9" name="Text"/>
          <p:cNvSpPr txBox="1"/>
          <p:nvPr/>
        </p:nvSpPr>
        <p:spPr>
          <a:xfrm>
            <a:off x="297180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 registry portal</a:t>
            </a:r>
            <a:endParaRPr lang="en-US" sz="1300" dirty="0"/>
          </a:p>
        </p:txBody>
      </p:sp>
      <p:sp>
        <p:nvSpPr>
          <p:cNvPr id="10" name="Text"/>
          <p:cNvSpPr txBox="1"/>
          <p:nvPr/>
        </p:nvSpPr>
        <p:spPr>
          <a:xfrm>
            <a:off x="534924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</a:t>
            </a:r>
            <a:endParaRPr lang="en-US" sz="1000" dirty="0"/>
          </a:p>
        </p:txBody>
      </p:sp>
      <p:sp>
        <p:nvSpPr>
          <p:cNvPr id="11" name="Text"/>
          <p:cNvSpPr txBox="1"/>
          <p:nvPr/>
        </p:nvSpPr>
        <p:spPr>
          <a:xfrm>
            <a:off x="534924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data only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he gap"/>
          <p:cNvSpPr txBox="1"/>
          <p:nvPr/>
        </p:nvSpPr>
        <p:spPr>
          <a:xfrm>
            <a:off x="777240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GAP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Non-RTO e-bikes leave no record behind</a:t>
            </a:r>
            <a:endParaRPr lang="en-US" sz="3000" dirty="0"/>
          </a:p>
        </p:txBody>
      </p:sp>
      <p:sp>
        <p:nvSpPr>
          <p:cNvPr id="5" name="Left tile"/>
          <p:cNvSpPr/>
          <p:nvPr/>
        </p:nvSpPr>
        <p:spPr>
          <a:xfrm>
            <a:off x="777240" y="1783080"/>
            <a:ext cx="3154680" cy="3429000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/>
        </p:spPr>
      </p:sp>
      <p:pic>
        <p:nvPicPr>
          <p:cNvPr id="6" name="Icon: no central record" descr="Icon: no central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240280"/>
            <a:ext cx="822960" cy="8229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central record</a:t>
            </a:r>
            <a:endParaRPr lang="en-US" sz="1900" dirty="0"/>
          </a:p>
        </p:txBody>
      </p:sp>
      <p:sp>
        <p:nvSpPr>
          <p:cNvPr id="8" name="Text"/>
          <p:cNvSpPr txBox="1"/>
          <p:nvPr/>
        </p:nvSpPr>
        <p:spPr>
          <a:xfrm>
            <a:off x="1188720" y="3886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Nobody can say how many bikes are on the road, who owns them or where they were sold.</a:t>
            </a:r>
            <a:endParaRPr lang="en-US" sz="1400" dirty="0"/>
          </a:p>
        </p:txBody>
      </p:sp>
      <p:sp>
        <p:nvSpPr>
          <p:cNvPr id="9" name="Center card"/>
          <p:cNvSpPr/>
          <p:nvPr/>
        </p:nvSpPr>
        <p:spPr>
          <a:xfrm>
            <a:off x="4114800" y="1783080"/>
            <a:ext cx="4114800" cy="34290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pic>
        <p:nvPicPr>
          <p:cNvPr id="10" name="Icon: paper warranty" descr="Icon: paper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40280"/>
            <a:ext cx="640080" cy="64008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5394960" y="2286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Paper warranty</a:t>
            </a:r>
            <a:endParaRPr lang="en-US" sz="2200" dirty="0"/>
          </a:p>
        </p:txBody>
      </p:sp>
      <p:pic>
        <p:nvPicPr>
          <p:cNvPr id="12" name="Check 1" descr="Check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91840"/>
            <a:ext cx="274320" cy="274320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5029200" y="3264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claim depends on a bill the owner may have lost</a:t>
            </a:r>
            <a:endParaRPr lang="en-US" sz="1400" dirty="0"/>
          </a:p>
        </p:txBody>
      </p:sp>
      <p:pic>
        <p:nvPicPr>
          <p:cNvPr id="14" name="Check 2" descr="Check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913632"/>
            <a:ext cx="274320" cy="274320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502920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Dealers rely on their memory of the sale</a:t>
            </a:r>
            <a:endParaRPr lang="en-US" sz="1400" dirty="0"/>
          </a:p>
        </p:txBody>
      </p:sp>
      <p:pic>
        <p:nvPicPr>
          <p:cNvPr id="16" name="Check 3" descr="Check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535424"/>
            <a:ext cx="274320" cy="27432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5029200" y="45079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Nobody can check which part carries which warranty</a:t>
            </a:r>
            <a:endParaRPr lang="en-US" sz="1400" dirty="0"/>
          </a:p>
        </p:txBody>
      </p:sp>
      <p:sp>
        <p:nvSpPr>
          <p:cNvPr id="18" name="Right tile"/>
          <p:cNvSpPr/>
          <p:nvPr/>
        </p:nvSpPr>
        <p:spPr>
          <a:xfrm>
            <a:off x="8412480" y="1783080"/>
            <a:ext cx="3154680" cy="3429000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/>
        </p:spPr>
      </p:sp>
      <p:pic>
        <p:nvPicPr>
          <p:cNvPr id="19" name="Icon: unseen part swaps" descr="Icon: unseen part swap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2240280"/>
            <a:ext cx="822960" cy="82296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882396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Unseen part swaps</a:t>
            </a:r>
            <a:endParaRPr lang="en-US" sz="1900" dirty="0"/>
          </a:p>
        </p:txBody>
      </p:sp>
      <p:sp>
        <p:nvSpPr>
          <p:cNvPr id="21" name="Text"/>
          <p:cNvSpPr txBox="1"/>
          <p:nvPr/>
        </p:nvSpPr>
        <p:spPr>
          <a:xfrm>
            <a:off x="8823960" y="3886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new motor, controller or battery is fitted and what was replaced, and when, is lost.</a:t>
            </a:r>
            <a:endParaRPr lang="en-US" sz="1400" dirty="0"/>
          </a:p>
        </p:txBody>
      </p:sp>
      <p:sp>
        <p:nvSpPr>
          <p:cNvPr id="22" name="Text"/>
          <p:cNvSpPr txBox="1"/>
          <p:nvPr/>
        </p:nvSpPr>
        <p:spPr>
          <a:xfrm>
            <a:off x="777240" y="54864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Zelio portal gives each bike a QR plate and one record that company, dealer and owner can all read.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he solution"/>
          <p:cNvSpPr txBox="1"/>
          <p:nvPr/>
        </p:nvSpPr>
        <p:spPr>
          <a:xfrm>
            <a:off x="777240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QR plate. One record for everyone</a:t>
            </a:r>
            <a:endParaRPr lang="en-US" sz="3000" dirty="0"/>
          </a:p>
        </p:txBody>
      </p:sp>
      <p:pic>
        <p:nvPicPr>
          <p:cNvPr id="5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371600" y="1965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dealer registers the bike before it is sold</a:t>
            </a:r>
            <a:endParaRPr lang="en-US" sz="1600" dirty="0"/>
          </a:p>
        </p:txBody>
      </p:sp>
      <p:pic>
        <p:nvPicPr>
          <p:cNvPr id="7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63240"/>
            <a:ext cx="365760" cy="36576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371600" y="3017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plate carries the Zelio logo and a QR code</a:t>
            </a:r>
            <a:endParaRPr lang="en-US" sz="1600" dirty="0"/>
          </a:p>
        </p:txBody>
      </p:sp>
      <p:pic>
        <p:nvPicPr>
          <p:cNvPr id="9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0"/>
            <a:ext cx="365760" cy="365760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371600" y="4069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Owner, dealer and company read the same record</a:t>
            </a:r>
            <a:endParaRPr lang="en-US" sz="1600" dirty="0"/>
          </a:p>
        </p:txBody>
      </p:sp>
      <p:pic>
        <p:nvPicPr>
          <p:cNvPr id="11" name="Plate tile" descr="Number plate with the Zelio logo and QR 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783080"/>
            <a:ext cx="2651760" cy="3108960"/>
          </a:xfrm>
          <a:prstGeom prst="rect">
            <a:avLst/>
          </a:prstGeom>
        </p:spPr>
      </p:pic>
      <p:pic>
        <p:nvPicPr>
          <p:cNvPr id="12" name="Phone tile" descr="Owner warranty 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783080"/>
            <a:ext cx="2651760" cy="3108960"/>
          </a:xfrm>
          <a:prstGeom prst="rect">
            <a:avLst/>
          </a:prstGeom>
        </p:spPr>
      </p:pic>
      <p:sp>
        <p:nvSpPr>
          <p:cNvPr id="13" name="Callout"/>
          <p:cNvSpPr/>
          <p:nvPr/>
        </p:nvSpPr>
        <p:spPr>
          <a:xfrm>
            <a:off x="5989320" y="5120640"/>
            <a:ext cx="5486400" cy="548640"/>
          </a:xfrm>
          <a:prstGeom prst="roundRect">
            <a:avLst>
              <a:gd name="adj" fmla="val 33333"/>
            </a:avLst>
          </a:prstGeom>
          <a:solidFill>
            <a:schemeClr val="accent3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598932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the plate, see the whole bike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44668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Who it&amp;apos;s for"/>
          <p:cNvSpPr txBox="1"/>
          <p:nvPr/>
        </p:nvSpPr>
        <p:spPr>
          <a:xfrm>
            <a:off x="5344668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users, one registry</a:t>
            </a:r>
            <a:endParaRPr lang="en-US" sz="3000" dirty="0"/>
          </a:p>
        </p:txBody>
      </p:sp>
      <p:sp>
        <p:nvSpPr>
          <p:cNvPr id="5" name="User card Company"/>
          <p:cNvSpPr/>
          <p:nvPr/>
        </p:nvSpPr>
        <p:spPr>
          <a:xfrm>
            <a:off x="95097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6" name="Icon disc Company"/>
          <p:cNvSpPr/>
          <p:nvPr/>
        </p:nvSpPr>
        <p:spPr>
          <a:xfrm>
            <a:off x="220827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: Company" descr="Icon: Comp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868" y="2450592"/>
            <a:ext cx="402336" cy="402336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22529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800" dirty="0"/>
          </a:p>
        </p:txBody>
      </p:sp>
      <p:sp>
        <p:nvSpPr>
          <p:cNvPr id="9" name="Text"/>
          <p:cNvSpPr txBox="1"/>
          <p:nvPr/>
        </p:nvSpPr>
        <p:spPr>
          <a:xfrm>
            <a:off x="127101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map, area report and every warranty on record. Desktop first.</a:t>
            </a:r>
            <a:endParaRPr lang="en-US" sz="1300" dirty="0"/>
          </a:p>
        </p:txBody>
      </p:sp>
      <p:sp>
        <p:nvSpPr>
          <p:cNvPr id="10" name="User card Dealer"/>
          <p:cNvSpPr/>
          <p:nvPr/>
        </p:nvSpPr>
        <p:spPr>
          <a:xfrm>
            <a:off x="447141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11" name="Icon disc Dealer"/>
          <p:cNvSpPr/>
          <p:nvPr/>
        </p:nvSpPr>
        <p:spPr>
          <a:xfrm>
            <a:off x="572871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: Dealer" descr="Icon: Dea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2450592"/>
            <a:ext cx="402336" cy="402336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474573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</a:t>
            </a:r>
            <a:endParaRPr lang="en-US" sz="1800" dirty="0"/>
          </a:p>
        </p:txBody>
      </p:sp>
      <p:sp>
        <p:nvSpPr>
          <p:cNvPr id="14" name="Text"/>
          <p:cNvSpPr txBox="1"/>
          <p:nvPr/>
        </p:nvSpPr>
        <p:spPr>
          <a:xfrm>
            <a:off x="479145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 before selling, scan the plate, log part swaps. Phone and tablet.</a:t>
            </a:r>
            <a:endParaRPr lang="en-US" sz="1300" dirty="0"/>
          </a:p>
        </p:txBody>
      </p:sp>
      <p:sp>
        <p:nvSpPr>
          <p:cNvPr id="15" name="User card Vehicle owner"/>
          <p:cNvSpPr/>
          <p:nvPr/>
        </p:nvSpPr>
        <p:spPr>
          <a:xfrm>
            <a:off x="799185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16" name="Icon disc Vehicle owner"/>
          <p:cNvSpPr/>
          <p:nvPr/>
        </p:nvSpPr>
        <p:spPr>
          <a:xfrm>
            <a:off x="924915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: Vehicle owner" descr="Icon: Vehicle ow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48" y="2450592"/>
            <a:ext cx="402336" cy="402336"/>
          </a:xfrm>
          <a:prstGeom prst="rect">
            <a:avLst/>
          </a:prstGeom>
        </p:spPr>
      </p:pic>
      <p:sp>
        <p:nvSpPr>
          <p:cNvPr id="18" name="Text"/>
          <p:cNvSpPr txBox="1"/>
          <p:nvPr/>
        </p:nvSpPr>
        <p:spPr>
          <a:xfrm>
            <a:off x="826617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 owner</a:t>
            </a:r>
            <a:endParaRPr lang="en-US" sz="1800" dirty="0"/>
          </a:p>
        </p:txBody>
      </p:sp>
      <p:sp>
        <p:nvSpPr>
          <p:cNvPr id="19" name="Text"/>
          <p:cNvSpPr txBox="1"/>
          <p:nvPr/>
        </p:nvSpPr>
        <p:spPr>
          <a:xfrm>
            <a:off x="831189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period, warranty per part and parts history. On the phone.</a:t>
            </a:r>
            <a:endParaRPr lang="en-US" sz="1300" dirty="0"/>
          </a:p>
        </p:txBody>
      </p:sp>
      <p:sp>
        <p:nvSpPr>
          <p:cNvPr id="20" name="Text"/>
          <p:cNvSpPr txBox="1"/>
          <p:nvPr/>
        </p:nvSpPr>
        <p:spPr>
          <a:xfrm>
            <a:off x="777240" y="51206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for the control room, the shop counter and the owner's pocket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67335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 portal"/>
          <p:cNvSpPr txBox="1"/>
          <p:nvPr/>
        </p:nvSpPr>
        <p:spPr>
          <a:xfrm>
            <a:off x="777240" y="5029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 PORTAL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whole network at a glance</a:t>
            </a:r>
            <a:endParaRPr lang="en-US" sz="3000" dirty="0"/>
          </a:p>
        </p:txBody>
      </p:sp>
      <p:pic>
        <p:nvPicPr>
          <p:cNvPr id="5" name="Portal overview" descr="Company portal overview: KPI tiles, India map by district, top states and live fe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951577" cy="47091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E3D3A">
                <a:alpha val="18000"/>
              </a:srgbClr>
            </a:outerShdw>
          </a:effectLst>
        </p:spPr>
      </p:pic>
      <p:sp>
        <p:nvSpPr>
          <p:cNvPr id="6" name="Text"/>
          <p:cNvSpPr txBox="1"/>
          <p:nvPr/>
        </p:nvSpPr>
        <p:spPr>
          <a:xfrm>
            <a:off x="7140297" y="1508760"/>
            <a:ext cx="4271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1,48,174</a:t>
            </a:r>
            <a:endParaRPr lang="en-US" sz="3200" dirty="0"/>
          </a:p>
        </p:txBody>
      </p:sp>
      <p:sp>
        <p:nvSpPr>
          <p:cNvPr id="7" name="Text"/>
          <p:cNvSpPr txBox="1"/>
          <p:nvPr/>
        </p:nvSpPr>
        <p:spPr>
          <a:xfrm>
            <a:off x="7140297" y="2075688"/>
            <a:ext cx="427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bikes on the registry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7140297" y="2377440"/>
            <a:ext cx="4271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All time, across every state and union territory.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7140297" y="2926080"/>
            <a:ext cx="4271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52%</a:t>
            </a:r>
            <a:endParaRPr lang="en-US" sz="3200" dirty="0"/>
          </a:p>
        </p:txBody>
      </p:sp>
      <p:sp>
        <p:nvSpPr>
          <p:cNvPr id="10" name="Text"/>
          <p:cNvSpPr txBox="1"/>
          <p:nvPr/>
        </p:nvSpPr>
        <p:spPr>
          <a:xfrm>
            <a:off x="7140297" y="3493008"/>
            <a:ext cx="427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sit in just five states</a:t>
            </a:r>
            <a:endParaRPr lang="en-US" sz="1500" dirty="0"/>
          </a:p>
        </p:txBody>
      </p:sp>
      <p:sp>
        <p:nvSpPr>
          <p:cNvPr id="11" name="Text"/>
          <p:cNvSpPr txBox="1"/>
          <p:nvPr/>
        </p:nvSpPr>
        <p:spPr>
          <a:xfrm>
            <a:off x="7140297" y="3794760"/>
            <a:ext cx="4271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Uttar Pradesh, Gujarat, Maharashtra, Tamil Nadu and Madhya Pradesh.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7140297" y="4343400"/>
            <a:ext cx="4271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38</a:t>
            </a:r>
            <a:endParaRPr lang="en-US" sz="3200" dirty="0"/>
          </a:p>
        </p:txBody>
      </p:sp>
      <p:sp>
        <p:nvSpPr>
          <p:cNvPr id="13" name="Text"/>
          <p:cNvSpPr txBox="1"/>
          <p:nvPr/>
        </p:nvSpPr>
        <p:spPr>
          <a:xfrm>
            <a:off x="7140297" y="4910328"/>
            <a:ext cx="427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warranties end within 60 days</a:t>
            </a:r>
            <a:endParaRPr lang="en-US" sz="1500" dirty="0"/>
          </a:p>
        </p:txBody>
      </p:sp>
      <p:sp>
        <p:nvSpPr>
          <p:cNvPr id="14" name="Text"/>
          <p:cNvSpPr txBox="1"/>
          <p:nvPr/>
        </p:nvSpPr>
        <p:spPr>
          <a:xfrm>
            <a:off x="7140297" y="5212080"/>
            <a:ext cx="4271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 the 540 most recent registrations.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67335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 portal"/>
          <p:cNvSpPr txBox="1"/>
          <p:nvPr/>
        </p:nvSpPr>
        <p:spPr>
          <a:xfrm>
            <a:off x="777240" y="5029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 PORTAL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Click a state, see its districts</a:t>
            </a:r>
            <a:endParaRPr lang="en-US" sz="3000" dirty="0"/>
          </a:p>
        </p:txBody>
      </p:sp>
      <p:pic>
        <p:nvPicPr>
          <p:cNvPr id="5" name="State drill-down" descr="Uttar Pradesh zoomed in with its districts as circles and a ranked list of top distri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951577" cy="47091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E3D3A">
                <a:alpha val="18000"/>
              </a:srgbClr>
            </a:outerShdw>
          </a:effectLst>
        </p:spPr>
      </p:pic>
      <p:sp>
        <p:nvSpPr>
          <p:cNvPr id="6" name="Text"/>
          <p:cNvSpPr txBox="1"/>
          <p:nvPr/>
        </p:nvSpPr>
        <p:spPr>
          <a:xfrm>
            <a:off x="7140297" y="1508760"/>
            <a:ext cx="4271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27,529</a:t>
            </a:r>
            <a:endParaRPr lang="en-US" sz="3200" dirty="0"/>
          </a:p>
        </p:txBody>
      </p:sp>
      <p:sp>
        <p:nvSpPr>
          <p:cNvPr id="7" name="Text"/>
          <p:cNvSpPr txBox="1"/>
          <p:nvPr/>
        </p:nvSpPr>
        <p:spPr>
          <a:xfrm>
            <a:off x="7140297" y="2075688"/>
            <a:ext cx="427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 in Uttar Pradesh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7140297" y="2377440"/>
            <a:ext cx="4271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largest state, ahead of Gujarat on 15,077.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7140297" y="2926080"/>
            <a:ext cx="4271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2,316</a:t>
            </a:r>
            <a:endParaRPr lang="en-US" sz="3200" dirty="0"/>
          </a:p>
        </p:txBody>
      </p:sp>
      <p:sp>
        <p:nvSpPr>
          <p:cNvPr id="10" name="Text"/>
          <p:cNvSpPr txBox="1"/>
          <p:nvPr/>
        </p:nvSpPr>
        <p:spPr>
          <a:xfrm>
            <a:off x="7140297" y="3493008"/>
            <a:ext cx="427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 Gautam Buddha Nagar</a:t>
            </a:r>
            <a:endParaRPr lang="en-US" sz="1500" dirty="0"/>
          </a:p>
        </p:txBody>
      </p:sp>
      <p:sp>
        <p:nvSpPr>
          <p:cNvPr id="11" name="Text"/>
          <p:cNvSpPr txBox="1"/>
          <p:nvPr/>
        </p:nvSpPr>
        <p:spPr>
          <a:xfrm>
            <a:off x="7140297" y="3794760"/>
            <a:ext cx="4271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busiest district, then Ghaziabad (1,987) and Kanpur Nagar (1,848).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7140297" y="4343400"/>
            <a:ext cx="4271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 click</a:t>
            </a:r>
            <a:endParaRPr lang="en-US" sz="3200" dirty="0"/>
          </a:p>
        </p:txBody>
      </p:sp>
      <p:sp>
        <p:nvSpPr>
          <p:cNvPr id="13" name="Text"/>
          <p:cNvSpPr txBox="1"/>
          <p:nvPr/>
        </p:nvSpPr>
        <p:spPr>
          <a:xfrm>
            <a:off x="7140297" y="4910328"/>
            <a:ext cx="427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zoom and re-rank</a:t>
            </a:r>
            <a:endParaRPr lang="en-US" sz="1500" dirty="0"/>
          </a:p>
        </p:txBody>
      </p:sp>
      <p:sp>
        <p:nvSpPr>
          <p:cNvPr id="14" name="Text"/>
          <p:cNvSpPr txBox="1"/>
          <p:nvPr/>
        </p:nvSpPr>
        <p:spPr>
          <a:xfrm>
            <a:off x="7140297" y="5212080"/>
            <a:ext cx="4271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side list switches from states to the busiest districts.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257800" y="502920"/>
            <a:ext cx="167335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 portal"/>
          <p:cNvSpPr txBox="1"/>
          <p:nvPr/>
        </p:nvSpPr>
        <p:spPr>
          <a:xfrm>
            <a:off x="5257800" y="5029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 PORTAL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Today's sales, in light or dark</a:t>
            </a:r>
            <a:endParaRPr lang="en-US" sz="3000" dirty="0"/>
          </a:p>
        </p:txBody>
      </p:sp>
      <p:pic>
        <p:nvPicPr>
          <p:cNvPr id="5" name="Today view" descr="Map switched to today's regist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18" y="1783080"/>
            <a:ext cx="4969278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E3D3A">
                <a:alpha val="18000"/>
              </a:srgbClr>
            </a:outerShdw>
          </a:effectLst>
        </p:spPr>
      </p:pic>
      <p:pic>
        <p:nvPicPr>
          <p:cNvPr id="6" name="Dark theme" descr="The same portal in dark the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1783080"/>
            <a:ext cx="4969278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E3D3A">
                <a:alpha val="18000"/>
              </a:srgbClr>
            </a:outerShdw>
          </a:effectLst>
        </p:spPr>
      </p:pic>
      <p:sp>
        <p:nvSpPr>
          <p:cNvPr id="7" name="Text"/>
          <p:cNvSpPr txBox="1"/>
          <p:nvPr/>
        </p:nvSpPr>
        <p:spPr>
          <a:xfrm>
            <a:off x="942318" y="5852160"/>
            <a:ext cx="4969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Today view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942318" y="6126480"/>
            <a:ext cx="4969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Switch the map to today's registrations to see where bikes are selling right now.</a:t>
            </a:r>
            <a:endParaRPr lang="en-US" sz="1200" dirty="0"/>
          </a:p>
        </p:txBody>
      </p:sp>
      <p:sp>
        <p:nvSpPr>
          <p:cNvPr id="9" name="Text"/>
          <p:cNvSpPr txBox="1"/>
          <p:nvPr/>
        </p:nvSpPr>
        <p:spPr>
          <a:xfrm>
            <a:off x="6277356" y="5852160"/>
            <a:ext cx="4969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Dark theme</a:t>
            </a:r>
            <a:endParaRPr lang="en-US" sz="1500" dirty="0"/>
          </a:p>
        </p:txBody>
      </p:sp>
      <p:sp>
        <p:nvSpPr>
          <p:cNvPr id="10" name="Text"/>
          <p:cNvSpPr txBox="1"/>
          <p:nvPr/>
        </p:nvSpPr>
        <p:spPr>
          <a:xfrm>
            <a:off x="6277356" y="6126480"/>
            <a:ext cx="4969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Stronger colour means more registrations in both themes.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67335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 portal"/>
          <p:cNvSpPr txBox="1"/>
          <p:nvPr/>
        </p:nvSpPr>
        <p:spPr>
          <a:xfrm>
            <a:off x="777240" y="5029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 PORTAL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Area report with district breakdown</a:t>
            </a:r>
            <a:endParaRPr lang="en-US" sz="3000" dirty="0"/>
          </a:p>
        </p:txBody>
      </p:sp>
      <p:pic>
        <p:nvPicPr>
          <p:cNvPr id="5" name="Area report" descr="Area-wise report with two states expanded into their distri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594482" cy="47091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E3D3A">
                <a:alpha val="18000"/>
              </a:srgbClr>
            </a:outerShdw>
          </a:effectLst>
        </p:spPr>
      </p:pic>
      <p:sp>
        <p:nvSpPr>
          <p:cNvPr id="6" name="Text"/>
          <p:cNvSpPr txBox="1"/>
          <p:nvPr/>
        </p:nvSpPr>
        <p:spPr>
          <a:xfrm>
            <a:off x="6783202" y="1508760"/>
            <a:ext cx="4628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36</a:t>
            </a:r>
            <a:endParaRPr lang="en-US" sz="3200" dirty="0"/>
          </a:p>
        </p:txBody>
      </p:sp>
      <p:sp>
        <p:nvSpPr>
          <p:cNvPr id="7" name="Text"/>
          <p:cNvSpPr txBox="1"/>
          <p:nvPr/>
        </p:nvSpPr>
        <p:spPr>
          <a:xfrm>
            <a:off x="6783202" y="2075688"/>
            <a:ext cx="4628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states and union territories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6783202" y="2377440"/>
            <a:ext cx="46285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by registered, today or name, or search a state.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6783202" y="2926080"/>
            <a:ext cx="4628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Share</a:t>
            </a:r>
            <a:endParaRPr lang="en-US" sz="3200" dirty="0"/>
          </a:p>
        </p:txBody>
      </p:sp>
      <p:sp>
        <p:nvSpPr>
          <p:cNvPr id="10" name="Text"/>
          <p:cNvSpPr txBox="1"/>
          <p:nvPr/>
        </p:nvSpPr>
        <p:spPr>
          <a:xfrm>
            <a:off x="6783202" y="3493008"/>
            <a:ext cx="4628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 each state and district</a:t>
            </a:r>
            <a:endParaRPr lang="en-US" sz="1500" dirty="0"/>
          </a:p>
        </p:txBody>
      </p:sp>
      <p:sp>
        <p:nvSpPr>
          <p:cNvPr id="11" name="Text"/>
          <p:cNvSpPr txBox="1"/>
          <p:nvPr/>
        </p:nvSpPr>
        <p:spPr>
          <a:xfrm>
            <a:off x="6783202" y="3794760"/>
            <a:ext cx="46285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row shows its percentage of the total or of its state.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6783202" y="4343400"/>
            <a:ext cx="4628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</a:t>
            </a:r>
            <a:endParaRPr lang="en-US" sz="3200" dirty="0"/>
          </a:p>
        </p:txBody>
      </p:sp>
      <p:sp>
        <p:nvSpPr>
          <p:cNvPr id="13" name="Text"/>
          <p:cNvSpPr txBox="1"/>
          <p:nvPr/>
        </p:nvSpPr>
        <p:spPr>
          <a:xfrm>
            <a:off x="6783202" y="4910328"/>
            <a:ext cx="4628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totals</a:t>
            </a:r>
            <a:endParaRPr lang="en-US" sz="1500" dirty="0"/>
          </a:p>
        </p:txBody>
      </p:sp>
      <p:sp>
        <p:nvSpPr>
          <p:cNvPr id="14" name="Text"/>
          <p:cNvSpPr txBox="1"/>
          <p:nvPr/>
        </p:nvSpPr>
        <p:spPr>
          <a:xfrm>
            <a:off x="6783202" y="5212080"/>
            <a:ext cx="46285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Numbers move as dealers register bikes.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67335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 portal"/>
          <p:cNvSpPr txBox="1"/>
          <p:nvPr/>
        </p:nvSpPr>
        <p:spPr>
          <a:xfrm>
            <a:off x="777240" y="5029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 PORTAL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Warranties ending soon, by part</a:t>
            </a:r>
            <a:endParaRPr lang="en-US" sz="3000" dirty="0"/>
          </a:p>
        </p:txBody>
      </p:sp>
      <p:pic>
        <p:nvPicPr>
          <p:cNvPr id="5" name="Warranty register" descr="Warranty register filtered to expiring soon, with status counts and part break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594482" cy="47091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E3D3A">
                <a:alpha val="18000"/>
              </a:srgbClr>
            </a:outerShdw>
          </a:effectLst>
        </p:spPr>
      </p:pic>
      <p:sp>
        <p:nvSpPr>
          <p:cNvPr id="6" name="Text"/>
          <p:cNvSpPr txBox="1"/>
          <p:nvPr/>
        </p:nvSpPr>
        <p:spPr>
          <a:xfrm>
            <a:off x="6783202" y="1508760"/>
            <a:ext cx="4628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38 of 540</a:t>
            </a:r>
            <a:endParaRPr lang="en-US" sz="3200" dirty="0"/>
          </a:p>
        </p:txBody>
      </p:sp>
      <p:sp>
        <p:nvSpPr>
          <p:cNvPr id="7" name="Text"/>
          <p:cNvSpPr txBox="1"/>
          <p:nvPr/>
        </p:nvSpPr>
        <p:spPr>
          <a:xfrm>
            <a:off x="6783202" y="2075688"/>
            <a:ext cx="4628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end within 60 days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6783202" y="2377440"/>
            <a:ext cx="46285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click on Expiring soon lists them, with the time left on each part.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6783202" y="2926080"/>
            <a:ext cx="4628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83%</a:t>
            </a:r>
            <a:endParaRPr lang="en-US" sz="3200" dirty="0"/>
          </a:p>
        </p:txBody>
      </p:sp>
      <p:sp>
        <p:nvSpPr>
          <p:cNvPr id="10" name="Text"/>
          <p:cNvSpPr txBox="1"/>
          <p:nvPr/>
        </p:nvSpPr>
        <p:spPr>
          <a:xfrm>
            <a:off x="6783202" y="3493008"/>
            <a:ext cx="4628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 controllers still active</a:t>
            </a:r>
            <a:endParaRPr lang="en-US" sz="1500" dirty="0"/>
          </a:p>
        </p:txBody>
      </p:sp>
      <p:sp>
        <p:nvSpPr>
          <p:cNvPr id="11" name="Text"/>
          <p:cNvSpPr txBox="1"/>
          <p:nvPr/>
        </p:nvSpPr>
        <p:spPr>
          <a:xfrm>
            <a:off x="6783202" y="3794760"/>
            <a:ext cx="46285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Batteries 84%, motors 96%. Controllers and batteries run out first.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6783202" y="4343400"/>
            <a:ext cx="4628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17</a:t>
            </a:r>
            <a:endParaRPr lang="en-US" sz="3200" dirty="0"/>
          </a:p>
        </p:txBody>
      </p:sp>
      <p:sp>
        <p:nvSpPr>
          <p:cNvPr id="13" name="Text"/>
          <p:cNvSpPr txBox="1"/>
          <p:nvPr/>
        </p:nvSpPr>
        <p:spPr>
          <a:xfrm>
            <a:off x="6783202" y="4910328"/>
            <a:ext cx="4628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already expired</a:t>
            </a:r>
            <a:endParaRPr lang="en-US" sz="1500" dirty="0"/>
          </a:p>
        </p:txBody>
      </p:sp>
      <p:sp>
        <p:nvSpPr>
          <p:cNvPr id="14" name="Text"/>
          <p:cNvSpPr txBox="1"/>
          <p:nvPr/>
        </p:nvSpPr>
        <p:spPr>
          <a:xfrm>
            <a:off x="6783202" y="5212080"/>
            <a:ext cx="46285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Search by registration, owner, serial or district.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15214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Insights"/>
          <p:cNvSpPr txBox="1"/>
          <p:nvPr/>
        </p:nvSpPr>
        <p:spPr>
          <a:xfrm>
            <a:off x="777240" y="5029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INSIGHTS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Where the bikes are, and how covered they are</a:t>
            </a:r>
            <a:endParaRPr lang="en-US" sz="3000" dirty="0"/>
          </a:p>
        </p:txBody>
      </p:sp>
      <p:pic>
        <p:nvPicPr>
          <p:cNvPr id="5" name="India map dark" descr="India map in dark theme, one circle per distri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3662940" cy="448056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489738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TOP FIVE STATES</a:t>
            </a:r>
            <a:endParaRPr lang="en-US" sz="1000" dirty="0"/>
          </a:p>
        </p:txBody>
      </p:sp>
      <p:sp>
        <p:nvSpPr>
          <p:cNvPr id="7" name="Text"/>
          <p:cNvSpPr txBox="1"/>
          <p:nvPr/>
        </p:nvSpPr>
        <p:spPr>
          <a:xfrm>
            <a:off x="489738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Uttar Pradesh</a:t>
            </a:r>
            <a:endParaRPr lang="en-US" sz="1400" dirty="0"/>
          </a:p>
        </p:txBody>
      </p:sp>
      <p:sp>
        <p:nvSpPr>
          <p:cNvPr id="8" name="Text"/>
          <p:cNvSpPr txBox="1"/>
          <p:nvPr/>
        </p:nvSpPr>
        <p:spPr>
          <a:xfrm>
            <a:off x="709194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27,529</a:t>
            </a:r>
            <a:endParaRPr lang="en-US" sz="1400" dirty="0"/>
          </a:p>
        </p:txBody>
      </p:sp>
      <p:sp>
        <p:nvSpPr>
          <p:cNvPr id="9" name="Track Uttar Pradesh"/>
          <p:cNvSpPr/>
          <p:nvPr/>
        </p:nvSpPr>
        <p:spPr>
          <a:xfrm>
            <a:off x="4897380" y="2432304"/>
            <a:ext cx="3474720" cy="12801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0" name="Bar Uttar Pradesh"/>
          <p:cNvSpPr/>
          <p:nvPr/>
        </p:nvSpPr>
        <p:spPr>
          <a:xfrm>
            <a:off x="4897380" y="2432304"/>
            <a:ext cx="347472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"/>
          <p:cNvSpPr txBox="1"/>
          <p:nvPr/>
        </p:nvSpPr>
        <p:spPr>
          <a:xfrm>
            <a:off x="489738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Gujarat</a:t>
            </a:r>
            <a:endParaRPr lang="en-US" sz="1400" dirty="0"/>
          </a:p>
        </p:txBody>
      </p:sp>
      <p:sp>
        <p:nvSpPr>
          <p:cNvPr id="12" name="Text"/>
          <p:cNvSpPr txBox="1"/>
          <p:nvPr/>
        </p:nvSpPr>
        <p:spPr>
          <a:xfrm>
            <a:off x="7091940" y="2816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15,077</a:t>
            </a:r>
            <a:endParaRPr lang="en-US" sz="1400" dirty="0"/>
          </a:p>
        </p:txBody>
      </p:sp>
      <p:sp>
        <p:nvSpPr>
          <p:cNvPr id="13" name="Track Gujarat"/>
          <p:cNvSpPr/>
          <p:nvPr/>
        </p:nvSpPr>
        <p:spPr>
          <a:xfrm>
            <a:off x="4897380" y="3145536"/>
            <a:ext cx="3474720" cy="12801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4" name="Bar Gujarat"/>
          <p:cNvSpPr/>
          <p:nvPr/>
        </p:nvSpPr>
        <p:spPr>
          <a:xfrm>
            <a:off x="4897380" y="3145536"/>
            <a:ext cx="1903024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4897380" y="3529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Maharashtra</a:t>
            </a:r>
            <a:endParaRPr lang="en-US" sz="1400" dirty="0"/>
          </a:p>
        </p:txBody>
      </p:sp>
      <p:sp>
        <p:nvSpPr>
          <p:cNvPr id="16" name="Text"/>
          <p:cNvSpPr txBox="1"/>
          <p:nvPr/>
        </p:nvSpPr>
        <p:spPr>
          <a:xfrm>
            <a:off x="7091940" y="35295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13,260</a:t>
            </a:r>
            <a:endParaRPr lang="en-US" sz="1400" dirty="0"/>
          </a:p>
        </p:txBody>
      </p:sp>
      <p:sp>
        <p:nvSpPr>
          <p:cNvPr id="17" name="Track Maharashtra"/>
          <p:cNvSpPr/>
          <p:nvPr/>
        </p:nvSpPr>
        <p:spPr>
          <a:xfrm>
            <a:off x="4897380" y="3858768"/>
            <a:ext cx="3474720" cy="12801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Bar Maharashtra"/>
          <p:cNvSpPr/>
          <p:nvPr/>
        </p:nvSpPr>
        <p:spPr>
          <a:xfrm>
            <a:off x="4897380" y="3858768"/>
            <a:ext cx="1673682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Text"/>
          <p:cNvSpPr txBox="1"/>
          <p:nvPr/>
        </p:nvSpPr>
        <p:spPr>
          <a:xfrm>
            <a:off x="4897380" y="4242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Tamil Nadu</a:t>
            </a:r>
            <a:endParaRPr lang="en-US" sz="1400" dirty="0"/>
          </a:p>
        </p:txBody>
      </p:sp>
      <p:sp>
        <p:nvSpPr>
          <p:cNvPr id="20" name="Text"/>
          <p:cNvSpPr txBox="1"/>
          <p:nvPr/>
        </p:nvSpPr>
        <p:spPr>
          <a:xfrm>
            <a:off x="7091940" y="4242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11,331</a:t>
            </a:r>
            <a:endParaRPr lang="en-US" sz="1400" dirty="0"/>
          </a:p>
        </p:txBody>
      </p:sp>
      <p:sp>
        <p:nvSpPr>
          <p:cNvPr id="21" name="Track Tamil Nadu"/>
          <p:cNvSpPr/>
          <p:nvPr/>
        </p:nvSpPr>
        <p:spPr>
          <a:xfrm>
            <a:off x="4897380" y="4572000"/>
            <a:ext cx="3474720" cy="12801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2" name="Bar Tamil Nadu"/>
          <p:cNvSpPr/>
          <p:nvPr/>
        </p:nvSpPr>
        <p:spPr>
          <a:xfrm>
            <a:off x="4897380" y="4572000"/>
            <a:ext cx="1430203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Text"/>
          <p:cNvSpPr txBox="1"/>
          <p:nvPr/>
        </p:nvSpPr>
        <p:spPr>
          <a:xfrm>
            <a:off x="4897380" y="4956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Madhya Pradesh</a:t>
            </a:r>
            <a:endParaRPr lang="en-US" sz="1400" dirty="0"/>
          </a:p>
        </p:txBody>
      </p:sp>
      <p:sp>
        <p:nvSpPr>
          <p:cNvPr id="24" name="Text"/>
          <p:cNvSpPr txBox="1"/>
          <p:nvPr/>
        </p:nvSpPr>
        <p:spPr>
          <a:xfrm>
            <a:off x="7091940" y="4956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9,336</a:t>
            </a:r>
            <a:endParaRPr lang="en-US" sz="1400" dirty="0"/>
          </a:p>
        </p:txBody>
      </p:sp>
      <p:sp>
        <p:nvSpPr>
          <p:cNvPr id="25" name="Track Madhya Pradesh"/>
          <p:cNvSpPr/>
          <p:nvPr/>
        </p:nvSpPr>
        <p:spPr>
          <a:xfrm>
            <a:off x="4897380" y="5285232"/>
            <a:ext cx="3474720" cy="12801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6" name="Bar Madhya Pradesh"/>
          <p:cNvSpPr/>
          <p:nvPr/>
        </p:nvSpPr>
        <p:spPr>
          <a:xfrm>
            <a:off x="4897380" y="5285232"/>
            <a:ext cx="1178393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Text"/>
          <p:cNvSpPr txBox="1"/>
          <p:nvPr/>
        </p:nvSpPr>
        <p:spPr>
          <a:xfrm>
            <a:off x="882930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STATUS</a:t>
            </a:r>
            <a:endParaRPr lang="en-US" sz="1000" dirty="0"/>
          </a:p>
        </p:txBody>
      </p:sp>
      <p:pic>
        <p:nvPicPr>
          <p:cNvPr id="28" name="Warranty donut" descr="Donut chart: 485 active, 38 expiring soon, 17 expi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620" y="2011680"/>
            <a:ext cx="2103120" cy="210312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910362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540</a:t>
            </a:r>
            <a:endParaRPr lang="en-US" sz="2600" dirty="0"/>
          </a:p>
        </p:txBody>
      </p:sp>
      <p:sp>
        <p:nvSpPr>
          <p:cNvPr id="30" name="Text"/>
          <p:cNvSpPr txBox="1"/>
          <p:nvPr/>
        </p:nvSpPr>
        <p:spPr>
          <a:xfrm>
            <a:off x="9103620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recent bikes</a:t>
            </a:r>
            <a:endParaRPr lang="en-US" sz="1100" dirty="0"/>
          </a:p>
        </p:txBody>
      </p:sp>
      <p:sp>
        <p:nvSpPr>
          <p:cNvPr id="31" name="Legend dot Active"/>
          <p:cNvSpPr/>
          <p:nvPr/>
        </p:nvSpPr>
        <p:spPr>
          <a:xfrm>
            <a:off x="9012180" y="4361688"/>
            <a:ext cx="164592" cy="164592"/>
          </a:xfrm>
          <a:prstGeom prst="ellipse">
            <a:avLst/>
          </a:prstGeom>
          <a:solidFill>
            <a:srgbClr val="8BE07F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92865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</a:t>
            </a:r>
            <a:endParaRPr lang="en-US" sz="1300" dirty="0"/>
          </a:p>
        </p:txBody>
      </p:sp>
      <p:sp>
        <p:nvSpPr>
          <p:cNvPr id="33" name="Text"/>
          <p:cNvSpPr txBox="1"/>
          <p:nvPr/>
        </p:nvSpPr>
        <p:spPr>
          <a:xfrm>
            <a:off x="10658100" y="4297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485</a:t>
            </a:r>
            <a:endParaRPr lang="en-US" sz="1300" dirty="0"/>
          </a:p>
        </p:txBody>
      </p:sp>
      <p:sp>
        <p:nvSpPr>
          <p:cNvPr id="34" name="Legend dot Expiring soon"/>
          <p:cNvSpPr/>
          <p:nvPr/>
        </p:nvSpPr>
        <p:spPr>
          <a:xfrm>
            <a:off x="9012180" y="4690872"/>
            <a:ext cx="164592" cy="164592"/>
          </a:xfrm>
          <a:prstGeom prst="ellipse">
            <a:avLst/>
          </a:prstGeom>
          <a:solidFill>
            <a:srgbClr val="F4C766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9286500" y="4626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Expiring soon</a:t>
            </a:r>
            <a:endParaRPr lang="en-US" sz="1300" dirty="0"/>
          </a:p>
        </p:txBody>
      </p:sp>
      <p:sp>
        <p:nvSpPr>
          <p:cNvPr id="36" name="Text"/>
          <p:cNvSpPr txBox="1"/>
          <p:nvPr/>
        </p:nvSpPr>
        <p:spPr>
          <a:xfrm>
            <a:off x="10658100" y="4626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38</a:t>
            </a:r>
            <a:endParaRPr lang="en-US" sz="1300" dirty="0"/>
          </a:p>
        </p:txBody>
      </p:sp>
      <p:sp>
        <p:nvSpPr>
          <p:cNvPr id="37" name="Legend dot Expired"/>
          <p:cNvSpPr/>
          <p:nvPr/>
        </p:nvSpPr>
        <p:spPr>
          <a:xfrm>
            <a:off x="9012180" y="5020056"/>
            <a:ext cx="164592" cy="164592"/>
          </a:xfrm>
          <a:prstGeom prst="ellipse">
            <a:avLst/>
          </a:prstGeom>
          <a:solidFill>
            <a:srgbClr val="F4A3A3"/>
          </a:solidFill>
          <a:ln/>
        </p:spPr>
      </p:sp>
      <p:sp>
        <p:nvSpPr>
          <p:cNvPr id="38" name="Text"/>
          <p:cNvSpPr txBox="1"/>
          <p:nvPr/>
        </p:nvSpPr>
        <p:spPr>
          <a:xfrm>
            <a:off x="9286500" y="4956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Expired</a:t>
            </a:r>
            <a:endParaRPr lang="en-US" sz="1300" dirty="0"/>
          </a:p>
        </p:txBody>
      </p:sp>
      <p:sp>
        <p:nvSpPr>
          <p:cNvPr id="39" name="Text"/>
          <p:cNvSpPr txBox="1"/>
          <p:nvPr/>
        </p:nvSpPr>
        <p:spPr>
          <a:xfrm>
            <a:off x="10658100" y="4956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17</a:t>
            </a:r>
            <a:endParaRPr lang="en-US" sz="1300" dirty="0"/>
          </a:p>
        </p:txBody>
      </p:sp>
      <p:sp>
        <p:nvSpPr>
          <p:cNvPr id="40" name="Insight callout"/>
          <p:cNvSpPr/>
          <p:nvPr/>
        </p:nvSpPr>
        <p:spPr>
          <a:xfrm>
            <a:off x="4897380" y="5623560"/>
            <a:ext cx="6675120" cy="530352"/>
          </a:xfrm>
          <a:prstGeom prst="roundRect">
            <a:avLst>
              <a:gd name="adj" fmla="val 24138"/>
            </a:avLst>
          </a:prstGeom>
          <a:solidFill>
            <a:schemeClr val="accent4"/>
          </a:solidFill>
          <a:ln/>
        </p:spPr>
      </p:sp>
      <p:sp>
        <p:nvSpPr>
          <p:cNvPr id="41" name="Text"/>
          <p:cNvSpPr txBox="1"/>
          <p:nvPr/>
        </p:nvSpPr>
        <p:spPr>
          <a:xfrm>
            <a:off x="5125980" y="562356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Five states hold 52% of registrations. 90% of recent bikes are fully covered; 7% need attention within 60 days.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67335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 portal"/>
          <p:cNvSpPr txBox="1"/>
          <p:nvPr/>
        </p:nvSpPr>
        <p:spPr>
          <a:xfrm>
            <a:off x="777240" y="5029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 PORTAL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 any bike for its full record</a:t>
            </a:r>
            <a:endParaRPr lang="en-US" sz="3000" dirty="0"/>
          </a:p>
        </p:txBody>
      </p:sp>
      <p:pic>
        <p:nvPicPr>
          <p:cNvPr id="5" name="Vehicle record" descr="Vehicle record opened from the company portal: plate, registration, parts and warran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594482" cy="47091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E3D3A">
                <a:alpha val="18000"/>
              </a:srgbClr>
            </a:outerShdw>
          </a:effectLst>
        </p:spPr>
      </p:pic>
      <p:sp>
        <p:nvSpPr>
          <p:cNvPr id="6" name="Text"/>
          <p:cNvSpPr txBox="1"/>
          <p:nvPr/>
        </p:nvSpPr>
        <p:spPr>
          <a:xfrm>
            <a:off x="6783202" y="1508760"/>
            <a:ext cx="4628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Plate</a:t>
            </a:r>
            <a:endParaRPr lang="en-US" sz="3200" dirty="0"/>
          </a:p>
        </p:txBody>
      </p:sp>
      <p:sp>
        <p:nvSpPr>
          <p:cNvPr id="7" name="Text"/>
          <p:cNvSpPr txBox="1"/>
          <p:nvPr/>
        </p:nvSpPr>
        <p:spPr>
          <a:xfrm>
            <a:off x="6783202" y="2075688"/>
            <a:ext cx="4628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and registration period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6783202" y="2377440"/>
            <a:ext cx="46285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 and valid-till dates, chassis, location and the selling dealer.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6783202" y="2926080"/>
            <a:ext cx="4628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parts</a:t>
            </a:r>
            <a:endParaRPr lang="en-US" sz="3200" dirty="0"/>
          </a:p>
        </p:txBody>
      </p:sp>
      <p:sp>
        <p:nvSpPr>
          <p:cNvPr id="10" name="Text"/>
          <p:cNvSpPr txBox="1"/>
          <p:nvPr/>
        </p:nvSpPr>
        <p:spPr>
          <a:xfrm>
            <a:off x="6783202" y="3493008"/>
            <a:ext cx="4628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each with its own warranty</a:t>
            </a:r>
            <a:endParaRPr lang="en-US" sz="1500" dirty="0"/>
          </a:p>
        </p:txBody>
      </p:sp>
      <p:sp>
        <p:nvSpPr>
          <p:cNvPr id="11" name="Text"/>
          <p:cNvSpPr txBox="1"/>
          <p:nvPr/>
        </p:nvSpPr>
        <p:spPr>
          <a:xfrm>
            <a:off x="6783202" y="3794760"/>
            <a:ext cx="46285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 number, controller and battery serials with the time left.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6783202" y="4343400"/>
            <a:ext cx="4628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History</a:t>
            </a:r>
            <a:endParaRPr lang="en-US" sz="3200" dirty="0"/>
          </a:p>
        </p:txBody>
      </p:sp>
      <p:sp>
        <p:nvSpPr>
          <p:cNvPr id="13" name="Text"/>
          <p:cNvSpPr txBox="1"/>
          <p:nvPr/>
        </p:nvSpPr>
        <p:spPr>
          <a:xfrm>
            <a:off x="6783202" y="4910328"/>
            <a:ext cx="4628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 every replacement</a:t>
            </a:r>
            <a:endParaRPr lang="en-US" sz="1500" dirty="0"/>
          </a:p>
        </p:txBody>
      </p:sp>
      <p:sp>
        <p:nvSpPr>
          <p:cNvPr id="14" name="Text"/>
          <p:cNvSpPr txBox="1"/>
          <p:nvPr/>
        </p:nvSpPr>
        <p:spPr>
          <a:xfrm>
            <a:off x="6783202" y="5212080"/>
            <a:ext cx="46285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Old and new serial for each part swap.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648706" y="502920"/>
            <a:ext cx="8915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Parts"/>
          <p:cNvSpPr txBox="1"/>
          <p:nvPr/>
        </p:nvSpPr>
        <p:spPr>
          <a:xfrm>
            <a:off x="5648706" y="502920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parts, each with its own warranty</a:t>
            </a:r>
            <a:endParaRPr lang="en-US" sz="3000" dirty="0"/>
          </a:p>
        </p:txBody>
      </p:sp>
      <p:sp>
        <p:nvSpPr>
          <p:cNvPr id="5" name="Part card Motor"/>
          <p:cNvSpPr/>
          <p:nvPr/>
        </p:nvSpPr>
        <p:spPr>
          <a:xfrm>
            <a:off x="1088136" y="1965960"/>
            <a:ext cx="3154680" cy="3566160"/>
          </a:xfrm>
          <a:prstGeom prst="roundRect">
            <a:avLst>
              <a:gd name="adj" fmla="val 637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1088136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</a:t>
            </a:r>
            <a:endParaRPr lang="en-US" sz="1100" dirty="0"/>
          </a:p>
        </p:txBody>
      </p:sp>
      <p:sp>
        <p:nvSpPr>
          <p:cNvPr id="7" name="Term pill Motor"/>
          <p:cNvSpPr/>
          <p:nvPr/>
        </p:nvSpPr>
        <p:spPr>
          <a:xfrm>
            <a:off x="1499616" y="269748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1499616" y="2697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24-36 months</a:t>
            </a:r>
            <a:endParaRPr lang="en-US" sz="2200" dirty="0"/>
          </a:p>
        </p:txBody>
      </p:sp>
      <p:sp>
        <p:nvSpPr>
          <p:cNvPr id="9" name="Text"/>
          <p:cNvSpPr txBox="1"/>
          <p:nvPr/>
        </p:nvSpPr>
        <p:spPr>
          <a:xfrm>
            <a:off x="1362456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motor number</a:t>
            </a:r>
            <a:endParaRPr lang="en-US" sz="1400" dirty="0"/>
          </a:p>
        </p:txBody>
      </p:sp>
      <p:sp>
        <p:nvSpPr>
          <p:cNvPr id="10" name="Text"/>
          <p:cNvSpPr txBox="1"/>
          <p:nvPr/>
        </p:nvSpPr>
        <p:spPr>
          <a:xfrm>
            <a:off x="1362456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MTR-250-8695278</a:t>
            </a:r>
            <a:endParaRPr lang="en-US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362456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12" name="Part card Controller"/>
          <p:cNvSpPr/>
          <p:nvPr/>
        </p:nvSpPr>
        <p:spPr>
          <a:xfrm>
            <a:off x="4517136" y="1783080"/>
            <a:ext cx="3154680" cy="3931920"/>
          </a:xfrm>
          <a:prstGeom prst="roundRect">
            <a:avLst>
              <a:gd name="adj" fmla="val 6377"/>
            </a:avLst>
          </a:prstGeom>
          <a:solidFill>
            <a:schemeClr val="tx2"/>
          </a:solidFill>
          <a:ln/>
        </p:spPr>
      </p:sp>
      <p:sp>
        <p:nvSpPr>
          <p:cNvPr id="13" name="Text"/>
          <p:cNvSpPr txBox="1"/>
          <p:nvPr/>
        </p:nvSpPr>
        <p:spPr>
          <a:xfrm>
            <a:off x="4517136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4" name="Term pill Controller"/>
          <p:cNvSpPr/>
          <p:nvPr/>
        </p:nvSpPr>
        <p:spPr>
          <a:xfrm>
            <a:off x="4928616" y="251460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4928616" y="2514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24 months</a:t>
            </a:r>
            <a:endParaRPr lang="en-US" sz="2200" dirty="0"/>
          </a:p>
        </p:txBody>
      </p:sp>
      <p:sp>
        <p:nvSpPr>
          <p:cNvPr id="16" name="Text"/>
          <p:cNvSpPr txBox="1"/>
          <p:nvPr/>
        </p:nvSpPr>
        <p:spPr>
          <a:xfrm>
            <a:off x="4791456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controller serial</a:t>
            </a:r>
            <a:endParaRPr lang="en-US" sz="1400" dirty="0"/>
          </a:p>
        </p:txBody>
      </p:sp>
      <p:sp>
        <p:nvSpPr>
          <p:cNvPr id="17" name="Text"/>
          <p:cNvSpPr txBox="1"/>
          <p:nvPr/>
        </p:nvSpPr>
        <p:spPr>
          <a:xfrm>
            <a:off x="4791456" y="3977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CTL-48V-725741</a:t>
            </a:r>
            <a:endParaRPr lang="en-US" sz="1300" dirty="0"/>
          </a:p>
        </p:txBody>
      </p:sp>
      <p:sp>
        <p:nvSpPr>
          <p:cNvPr id="18" name="Text"/>
          <p:cNvSpPr txBox="1"/>
          <p:nvPr/>
        </p:nvSpPr>
        <p:spPr>
          <a:xfrm>
            <a:off x="4791456" y="4480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19" name="Part card Battery"/>
          <p:cNvSpPr/>
          <p:nvPr/>
        </p:nvSpPr>
        <p:spPr>
          <a:xfrm>
            <a:off x="7946136" y="1965960"/>
            <a:ext cx="3154680" cy="3566160"/>
          </a:xfrm>
          <a:prstGeom prst="roundRect">
            <a:avLst>
              <a:gd name="adj" fmla="val 637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7946136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BATTERY</a:t>
            </a:r>
            <a:endParaRPr lang="en-US" sz="1100" dirty="0"/>
          </a:p>
        </p:txBody>
      </p:sp>
      <p:sp>
        <p:nvSpPr>
          <p:cNvPr id="21" name="Term pill Battery"/>
          <p:cNvSpPr/>
          <p:nvPr/>
        </p:nvSpPr>
        <p:spPr>
          <a:xfrm>
            <a:off x="8357616" y="269748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2" name="Text"/>
          <p:cNvSpPr txBox="1"/>
          <p:nvPr/>
        </p:nvSpPr>
        <p:spPr>
          <a:xfrm>
            <a:off x="8357616" y="2697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18-30 months</a:t>
            </a:r>
            <a:endParaRPr lang="en-US" sz="2200" dirty="0"/>
          </a:p>
        </p:txBody>
      </p:sp>
      <p:sp>
        <p:nvSpPr>
          <p:cNvPr id="23" name="Text"/>
          <p:cNvSpPr txBox="1"/>
          <p:nvPr/>
        </p:nvSpPr>
        <p:spPr>
          <a:xfrm>
            <a:off x="8220456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battery serial</a:t>
            </a:r>
            <a:endParaRPr lang="en-US" sz="1400" dirty="0"/>
          </a:p>
        </p:txBody>
      </p:sp>
      <p:sp>
        <p:nvSpPr>
          <p:cNvPr id="24" name="Text"/>
          <p:cNvSpPr txBox="1"/>
          <p:nvPr/>
        </p:nvSpPr>
        <p:spPr>
          <a:xfrm>
            <a:off x="8220456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BAT-48V20-7257410</a:t>
            </a:r>
            <a:endParaRPr lang="en-US" sz="1300" dirty="0"/>
          </a:p>
        </p:txBody>
      </p:sp>
      <p:sp>
        <p:nvSpPr>
          <p:cNvPr id="25" name="Text"/>
          <p:cNvSpPr txBox="1"/>
          <p:nvPr/>
        </p:nvSpPr>
        <p:spPr>
          <a:xfrm>
            <a:off x="8220456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26" name="Text"/>
          <p:cNvSpPr txBox="1"/>
          <p:nvPr/>
        </p:nvSpPr>
        <p:spPr>
          <a:xfrm>
            <a:off x="777240" y="5897880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Terms vary by model. Shown from the demo's model list.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44668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On the phone"/>
          <p:cNvSpPr txBox="1"/>
          <p:nvPr/>
        </p:nvSpPr>
        <p:spPr>
          <a:xfrm>
            <a:off x="5344668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THE PHONE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for the shop counter and the owner's pocket</a:t>
            </a:r>
            <a:endParaRPr lang="en-US" sz="3000" dirty="0"/>
          </a:p>
        </p:txBody>
      </p:sp>
      <p:sp>
        <p:nvSpPr>
          <p:cNvPr id="5" name="Header Dealers"/>
          <p:cNvSpPr/>
          <p:nvPr/>
        </p:nvSpPr>
        <p:spPr>
          <a:xfrm>
            <a:off x="745236" y="1783080"/>
            <a:ext cx="5212080" cy="411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6" name="Text"/>
          <p:cNvSpPr txBox="1"/>
          <p:nvPr/>
        </p:nvSpPr>
        <p:spPr>
          <a:xfrm>
            <a:off x="745236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Dealers</a:t>
            </a:r>
            <a:endParaRPr lang="en-US" sz="1400" dirty="0"/>
          </a:p>
        </p:txBody>
      </p:sp>
      <p:sp>
        <p:nvSpPr>
          <p:cNvPr id="7" name="Dealers: Register in one form frame"/>
          <p:cNvSpPr/>
          <p:nvPr/>
        </p:nvSpPr>
        <p:spPr>
          <a:xfrm>
            <a:off x="123141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8" name="Dealers: Register in one form" descr="Dealers: Register in one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137" y="2423160"/>
            <a:ext cx="1542237" cy="333756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85953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 in one form</a:t>
            </a:r>
            <a:endParaRPr lang="en-US" sz="1200" dirty="0"/>
          </a:p>
        </p:txBody>
      </p:sp>
      <p:sp>
        <p:nvSpPr>
          <p:cNvPr id="10" name="Dealers: Scan the plate QR frame"/>
          <p:cNvSpPr/>
          <p:nvPr/>
        </p:nvSpPr>
        <p:spPr>
          <a:xfrm>
            <a:off x="383745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1" name="Dealers: Scan the plate QR" descr="Dealers: Scan the plate 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177" y="2423160"/>
            <a:ext cx="1542237" cy="3337560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346557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the plate QR</a:t>
            </a:r>
            <a:endParaRPr lang="en-US" sz="1200" dirty="0"/>
          </a:p>
        </p:txBody>
      </p:sp>
      <p:sp>
        <p:nvSpPr>
          <p:cNvPr id="13" name="Header Vehicle owners"/>
          <p:cNvSpPr/>
          <p:nvPr/>
        </p:nvSpPr>
        <p:spPr>
          <a:xfrm>
            <a:off x="6231636" y="1783080"/>
            <a:ext cx="5212080" cy="411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6231636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 owners</a:t>
            </a:r>
            <a:endParaRPr lang="en-US" sz="1400" dirty="0"/>
          </a:p>
        </p:txBody>
      </p:sp>
      <p:sp>
        <p:nvSpPr>
          <p:cNvPr id="15" name="Vehicle owners: Registration and QR frame"/>
          <p:cNvSpPr/>
          <p:nvPr/>
        </p:nvSpPr>
        <p:spPr>
          <a:xfrm>
            <a:off x="671781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6" name="Vehicle owners: Registration and QR" descr="Vehicle owners: Registration and 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537" y="2423160"/>
            <a:ext cx="1542237" cy="333756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634593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and QR</a:t>
            </a:r>
            <a:endParaRPr lang="en-US" sz="1200" dirty="0"/>
          </a:p>
        </p:txBody>
      </p:sp>
      <p:sp>
        <p:nvSpPr>
          <p:cNvPr id="18" name="Vehicle owners: Warranty per part frame"/>
          <p:cNvSpPr/>
          <p:nvPr/>
        </p:nvSpPr>
        <p:spPr>
          <a:xfrm>
            <a:off x="932385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9" name="Vehicle owners: Warranty per part" descr="Vehicle owners: Warranty per p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577" y="2423160"/>
            <a:ext cx="1542237" cy="333756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895197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per part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474970" y="502920"/>
            <a:ext cx="123901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Sample UI"/>
          <p:cNvSpPr txBox="1"/>
          <p:nvPr/>
        </p:nvSpPr>
        <p:spPr>
          <a:xfrm>
            <a:off x="5474970" y="502920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UI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Start screen: pick a role</a:t>
            </a:r>
            <a:endParaRPr lang="en-US" sz="3000" dirty="0"/>
          </a:p>
        </p:txBody>
      </p:sp>
      <p:pic>
        <p:nvPicPr>
          <p:cNvPr id="5" name="Start screen desktop" descr="Start screen on a computer with three role ca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180" y="1691640"/>
            <a:ext cx="6437376" cy="40233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E3D3A">
                <a:alpha val="18000"/>
              </a:srgbClr>
            </a:outerShdw>
          </a:effectLst>
        </p:spPr>
      </p:pic>
      <p:sp>
        <p:nvSpPr>
          <p:cNvPr id="6" name="Start screen on a phone frame"/>
          <p:cNvSpPr/>
          <p:nvPr/>
        </p:nvSpPr>
        <p:spPr>
          <a:xfrm>
            <a:off x="8648772" y="1636776"/>
            <a:ext cx="1968864" cy="4133088"/>
          </a:xfrm>
          <a:prstGeom prst="roundRect">
            <a:avLst>
              <a:gd name="adj" fmla="val 102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7" name="Start screen on a phone" descr="Start screen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636" y="1691640"/>
            <a:ext cx="1859136" cy="402336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777240" y="5897880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Company, dealer or vehicle owner, on a computer or a phone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474970" y="502920"/>
            <a:ext cx="123901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Sample UI"/>
          <p:cNvSpPr txBox="1"/>
          <p:nvPr/>
        </p:nvSpPr>
        <p:spPr>
          <a:xfrm>
            <a:off x="5474970" y="502920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UI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Dealer: register a bike in three steps</a:t>
            </a:r>
            <a:endParaRPr lang="en-US" sz="3000" dirty="0"/>
          </a:p>
        </p:txBody>
      </p:sp>
      <p:sp>
        <p:nvSpPr>
          <p:cNvPr id="5" name="1. Vehicle and parts frame"/>
          <p:cNvSpPr/>
          <p:nvPr/>
        </p:nvSpPr>
        <p:spPr>
          <a:xfrm>
            <a:off x="2350539" y="1591056"/>
            <a:ext cx="1989990" cy="4178808"/>
          </a:xfrm>
          <a:prstGeom prst="roundRect">
            <a:avLst>
              <a:gd name="adj" fmla="val 101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6" name="1. Vehicle and parts" descr="1. Vehicle and p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5403" y="1645920"/>
            <a:ext cx="1880262" cy="406908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993923" y="583387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Vehicle and parts</a:t>
            </a:r>
            <a:endParaRPr lang="en-US" sz="1400" dirty="0"/>
          </a:p>
        </p:txBody>
      </p:sp>
      <p:sp>
        <p:nvSpPr>
          <p:cNvPr id="8" name="Text"/>
          <p:cNvSpPr txBox="1"/>
          <p:nvPr/>
        </p:nvSpPr>
        <p:spPr>
          <a:xfrm>
            <a:off x="1993923" y="610819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Chassis, motor, controller, battery</a:t>
            </a:r>
            <a:endParaRPr lang="en-US" sz="1100" dirty="0"/>
          </a:p>
        </p:txBody>
      </p:sp>
      <p:sp>
        <p:nvSpPr>
          <p:cNvPr id="9" name="2. Owner and area frame"/>
          <p:cNvSpPr/>
          <p:nvPr/>
        </p:nvSpPr>
        <p:spPr>
          <a:xfrm>
            <a:off x="5099481" y="1591056"/>
            <a:ext cx="1989990" cy="4178808"/>
          </a:xfrm>
          <a:prstGeom prst="roundRect">
            <a:avLst>
              <a:gd name="adj" fmla="val 101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0" name="2. Owner and area" descr="2. Owner and ar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345" y="1645920"/>
            <a:ext cx="1880262" cy="406908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4742865" y="583387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Owner and area</a:t>
            </a:r>
            <a:endParaRPr lang="en-US" sz="1400" dirty="0"/>
          </a:p>
        </p:txBody>
      </p:sp>
      <p:sp>
        <p:nvSpPr>
          <p:cNvPr id="12" name="Text"/>
          <p:cNvSpPr txBox="1"/>
          <p:nvPr/>
        </p:nvSpPr>
        <p:spPr>
          <a:xfrm>
            <a:off x="4742865" y="610819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Name, mobile, state and district</a:t>
            </a:r>
            <a:endParaRPr lang="en-US" sz="1100" dirty="0"/>
          </a:p>
        </p:txBody>
      </p:sp>
      <p:sp>
        <p:nvSpPr>
          <p:cNvPr id="13" name="3. Plate and QR frame"/>
          <p:cNvSpPr/>
          <p:nvPr/>
        </p:nvSpPr>
        <p:spPr>
          <a:xfrm>
            <a:off x="7848423" y="1591056"/>
            <a:ext cx="1989990" cy="4178808"/>
          </a:xfrm>
          <a:prstGeom prst="roundRect">
            <a:avLst>
              <a:gd name="adj" fmla="val 101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4" name="3. Plate and QR" descr="3. Plate and 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287" y="1645920"/>
            <a:ext cx="1880262" cy="4069080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7491807" y="583387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Plate and QR</a:t>
            </a:r>
            <a:endParaRPr lang="en-US" sz="1400" dirty="0"/>
          </a:p>
        </p:txBody>
      </p:sp>
      <p:sp>
        <p:nvSpPr>
          <p:cNvPr id="16" name="Text"/>
          <p:cNvSpPr txBox="1"/>
          <p:nvPr/>
        </p:nvSpPr>
        <p:spPr>
          <a:xfrm>
            <a:off x="7491807" y="610819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Ready to fit before delivery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474970" y="502920"/>
            <a:ext cx="123901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Sample UI"/>
          <p:cNvSpPr txBox="1"/>
          <p:nvPr/>
        </p:nvSpPr>
        <p:spPr>
          <a:xfrm>
            <a:off x="5474970" y="502920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UI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Dealer: open a bike and replace a part</a:t>
            </a:r>
            <a:endParaRPr lang="en-US" sz="3000" dirty="0"/>
          </a:p>
        </p:txBody>
      </p:sp>
      <p:sp>
        <p:nvSpPr>
          <p:cNvPr id="5" name="Full record frame"/>
          <p:cNvSpPr/>
          <p:nvPr/>
        </p:nvSpPr>
        <p:spPr>
          <a:xfrm>
            <a:off x="2350539" y="1591056"/>
            <a:ext cx="1989990" cy="4178808"/>
          </a:xfrm>
          <a:prstGeom prst="roundRect">
            <a:avLst>
              <a:gd name="adj" fmla="val 101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6" name="Full record" descr="Full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5403" y="1645920"/>
            <a:ext cx="1880262" cy="406908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993923" y="583387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Full record</a:t>
            </a:r>
            <a:endParaRPr lang="en-US" sz="1400" dirty="0"/>
          </a:p>
        </p:txBody>
      </p:sp>
      <p:sp>
        <p:nvSpPr>
          <p:cNvPr id="8" name="Text"/>
          <p:cNvSpPr txBox="1"/>
          <p:nvPr/>
        </p:nvSpPr>
        <p:spPr>
          <a:xfrm>
            <a:off x="1993923" y="610819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Plate, registration and owner</a:t>
            </a:r>
            <a:endParaRPr lang="en-US" sz="1100" dirty="0"/>
          </a:p>
        </p:txBody>
      </p:sp>
      <p:sp>
        <p:nvSpPr>
          <p:cNvPr id="9" name="Replace a part frame"/>
          <p:cNvSpPr/>
          <p:nvPr/>
        </p:nvSpPr>
        <p:spPr>
          <a:xfrm>
            <a:off x="5099481" y="1591056"/>
            <a:ext cx="1989990" cy="4178808"/>
          </a:xfrm>
          <a:prstGeom prst="roundRect">
            <a:avLst>
              <a:gd name="adj" fmla="val 101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0" name="Replace a part" descr="Replace a p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345" y="1645920"/>
            <a:ext cx="1880262" cy="406908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4742865" y="583387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Replace a part</a:t>
            </a:r>
            <a:endParaRPr lang="en-US" sz="1400" dirty="0"/>
          </a:p>
        </p:txBody>
      </p:sp>
      <p:sp>
        <p:nvSpPr>
          <p:cNvPr id="12" name="Text"/>
          <p:cNvSpPr txBox="1"/>
          <p:nvPr/>
        </p:nvSpPr>
        <p:spPr>
          <a:xfrm>
            <a:off x="4742865" y="610819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New serial and a reason</a:t>
            </a:r>
            <a:endParaRPr lang="en-US" sz="1100" dirty="0"/>
          </a:p>
        </p:txBody>
      </p:sp>
      <p:sp>
        <p:nvSpPr>
          <p:cNvPr id="13" name="Logged in history frame"/>
          <p:cNvSpPr/>
          <p:nvPr/>
        </p:nvSpPr>
        <p:spPr>
          <a:xfrm>
            <a:off x="7848423" y="1591056"/>
            <a:ext cx="1989990" cy="4178808"/>
          </a:xfrm>
          <a:prstGeom prst="roundRect">
            <a:avLst>
              <a:gd name="adj" fmla="val 101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4" name="Logged in history" descr="Logged in 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287" y="1645920"/>
            <a:ext cx="1880262" cy="4069080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7491807" y="583387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Logged in history</a:t>
            </a:r>
            <a:endParaRPr lang="en-US" sz="1400" dirty="0"/>
          </a:p>
        </p:txBody>
      </p:sp>
      <p:sp>
        <p:nvSpPr>
          <p:cNvPr id="16" name="Text"/>
          <p:cNvSpPr txBox="1"/>
          <p:nvPr/>
        </p:nvSpPr>
        <p:spPr>
          <a:xfrm>
            <a:off x="7491807" y="610819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Old and new serial, new warranty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474970" y="502920"/>
            <a:ext cx="123901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Sample UI"/>
          <p:cNvSpPr txBox="1"/>
          <p:nvPr/>
        </p:nvSpPr>
        <p:spPr>
          <a:xfrm>
            <a:off x="5474970" y="502920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UI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vehicles, and the owner's view</a:t>
            </a:r>
            <a:endParaRPr lang="en-US" sz="3000" dirty="0"/>
          </a:p>
        </p:txBody>
      </p:sp>
      <p:sp>
        <p:nvSpPr>
          <p:cNvPr id="5" name="Dealer: your vehicles frame"/>
          <p:cNvSpPr/>
          <p:nvPr/>
        </p:nvSpPr>
        <p:spPr>
          <a:xfrm>
            <a:off x="2350539" y="1591056"/>
            <a:ext cx="1989990" cy="4178808"/>
          </a:xfrm>
          <a:prstGeom prst="roundRect">
            <a:avLst>
              <a:gd name="adj" fmla="val 101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6" name="Dealer: your vehicles" descr="Dealer: your vehic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5403" y="1645920"/>
            <a:ext cx="1880262" cy="406908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993923" y="583387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Dealer: your vehicles</a:t>
            </a:r>
            <a:endParaRPr lang="en-US" sz="1400" dirty="0"/>
          </a:p>
        </p:txBody>
      </p:sp>
      <p:sp>
        <p:nvSpPr>
          <p:cNvPr id="8" name="Text"/>
          <p:cNvSpPr txBox="1"/>
          <p:nvPr/>
        </p:nvSpPr>
        <p:spPr>
          <a:xfrm>
            <a:off x="1993923" y="610819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Search by owner, number or chassis</a:t>
            </a:r>
            <a:endParaRPr lang="en-US" sz="1100" dirty="0"/>
          </a:p>
        </p:txBody>
      </p:sp>
      <p:sp>
        <p:nvSpPr>
          <p:cNvPr id="9" name="Dealer: warranty by part frame"/>
          <p:cNvSpPr/>
          <p:nvPr/>
        </p:nvSpPr>
        <p:spPr>
          <a:xfrm>
            <a:off x="5099481" y="1591056"/>
            <a:ext cx="1989990" cy="4178808"/>
          </a:xfrm>
          <a:prstGeom prst="roundRect">
            <a:avLst>
              <a:gd name="adj" fmla="val 101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0" name="Dealer: warranty by part" descr="Dealer: warranty by p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345" y="1645920"/>
            <a:ext cx="1880262" cy="406908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4742865" y="583387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Dealer: warranty by part</a:t>
            </a:r>
            <a:endParaRPr lang="en-US" sz="1400" dirty="0"/>
          </a:p>
        </p:txBody>
      </p:sp>
      <p:sp>
        <p:nvSpPr>
          <p:cNvPr id="12" name="Text"/>
          <p:cNvSpPr txBox="1"/>
          <p:nvPr/>
        </p:nvSpPr>
        <p:spPr>
          <a:xfrm>
            <a:off x="4742865" y="610819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Replace a part from the card</a:t>
            </a:r>
            <a:endParaRPr lang="en-US" sz="1100" dirty="0"/>
          </a:p>
        </p:txBody>
      </p:sp>
      <p:sp>
        <p:nvSpPr>
          <p:cNvPr id="13" name="Owner: registration frame"/>
          <p:cNvSpPr/>
          <p:nvPr/>
        </p:nvSpPr>
        <p:spPr>
          <a:xfrm>
            <a:off x="7848423" y="1591056"/>
            <a:ext cx="1989990" cy="4178808"/>
          </a:xfrm>
          <a:prstGeom prst="roundRect">
            <a:avLst>
              <a:gd name="adj" fmla="val 101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4" name="Owner: registration" descr="Owner: regist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287" y="1645920"/>
            <a:ext cx="1880262" cy="4069080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7491807" y="583387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Owner: registration</a:t>
            </a:r>
            <a:endParaRPr lang="en-US" sz="1400" dirty="0"/>
          </a:p>
        </p:txBody>
      </p:sp>
      <p:sp>
        <p:nvSpPr>
          <p:cNvPr id="16" name="Text"/>
          <p:cNvSpPr txBox="1"/>
          <p:nvPr/>
        </p:nvSpPr>
        <p:spPr>
          <a:xfrm>
            <a:off x="7491807" y="6108192"/>
            <a:ext cx="2703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Valid-till date and selling dealer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474970" y="502920"/>
            <a:ext cx="123901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Sample UI"/>
          <p:cNvSpPr txBox="1"/>
          <p:nvPr/>
        </p:nvSpPr>
        <p:spPr>
          <a:xfrm>
            <a:off x="5474970" y="502920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UI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Works on tablets too</a:t>
            </a:r>
            <a:endParaRPr lang="en-US" sz="3000" dirty="0"/>
          </a:p>
        </p:txBody>
      </p:sp>
      <p:sp>
        <p:nvSpPr>
          <p:cNvPr id="5" name="Company portal on a tablet frame"/>
          <p:cNvSpPr/>
          <p:nvPr/>
        </p:nvSpPr>
        <p:spPr>
          <a:xfrm>
            <a:off x="2389493" y="1591056"/>
            <a:ext cx="3211207" cy="4270248"/>
          </a:xfrm>
          <a:prstGeom prst="roundRect">
            <a:avLst>
              <a:gd name="adj" fmla="val 626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6" name="Company portal on a tablet" descr="Company portal on a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4357" y="1645920"/>
            <a:ext cx="3101479" cy="4160520"/>
          </a:xfrm>
          <a:prstGeom prst="rect">
            <a:avLst/>
          </a:prstGeom>
        </p:spPr>
      </p:pic>
      <p:sp>
        <p:nvSpPr>
          <p:cNvPr id="7" name="Dealer home on a tablet frame"/>
          <p:cNvSpPr/>
          <p:nvPr/>
        </p:nvSpPr>
        <p:spPr>
          <a:xfrm>
            <a:off x="6588252" y="1591056"/>
            <a:ext cx="3211207" cy="4270248"/>
          </a:xfrm>
          <a:prstGeom prst="roundRect">
            <a:avLst>
              <a:gd name="adj" fmla="val 626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8" name="Dealer home on a tablet" descr="Dealer home on a tabl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645920"/>
            <a:ext cx="3101479" cy="416052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2078597" y="5897880"/>
            <a:ext cx="3832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 portal</a:t>
            </a:r>
            <a:endParaRPr lang="en-US" sz="1400" dirty="0"/>
          </a:p>
        </p:txBody>
      </p:sp>
      <p:sp>
        <p:nvSpPr>
          <p:cNvPr id="10" name="Text"/>
          <p:cNvSpPr txBox="1"/>
          <p:nvPr/>
        </p:nvSpPr>
        <p:spPr>
          <a:xfrm>
            <a:off x="6277356" y="5897880"/>
            <a:ext cx="3832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 home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84708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Before and after"/>
          <p:cNvSpPr txBox="1"/>
          <p:nvPr/>
        </p:nvSpPr>
        <p:spPr>
          <a:xfrm>
            <a:off x="777240" y="5029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BEFORE AND AFTER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scattered paper to one registry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changes for a small e-bike once it has a plate that opens a record.</a:t>
            </a:r>
            <a:endParaRPr lang="en-US" sz="1500" dirty="0"/>
          </a:p>
        </p:txBody>
      </p:sp>
      <p:graphicFrame>
        <p:nvGraphicFramePr>
          <p:cNvPr id="2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783080"/>
          <a:ext cx="63093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463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Feature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Paper and memory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Zelio portal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Central record of every bike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Warranty visible to the owner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Part replacement history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Live area-wise numbers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Plate that opens the record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120640" y="5486400"/>
            <a:ext cx="630936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5120640" y="54864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record that company, dealer and owner can all read.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panel" descr="Zelio plate and sca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8640"/>
            <a:ext cx="4937760" cy="5760720"/>
          </a:xfrm>
          <a:prstGeom prst="rect">
            <a:avLst/>
          </a:prstGeom>
        </p:spPr>
      </p:pic>
      <p:sp>
        <p:nvSpPr>
          <p:cNvPr id="3" name="Tag pill"/>
          <p:cNvSpPr/>
          <p:nvPr/>
        </p:nvSpPr>
        <p:spPr>
          <a:xfrm>
            <a:off x="6309360" y="1097280"/>
            <a:ext cx="97840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ag: Try it"/>
          <p:cNvSpPr txBox="1"/>
          <p:nvPr/>
        </p:nvSpPr>
        <p:spPr>
          <a:xfrm>
            <a:off x="6309360" y="109728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TRY IT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309360" y="15544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QR plate.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registry.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Zelio.</a:t>
            </a:r>
            <a:endParaRPr lang="en-US" sz="4000" dirty="0"/>
          </a:p>
        </p:txBody>
      </p:sp>
      <p:pic>
        <p:nvPicPr>
          <p:cNvPr id="6" name="Icon 1" descr="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178808"/>
            <a:ext cx="256032" cy="256032"/>
          </a:xfrm>
          <a:prstGeom prst="rect">
            <a:avLst/>
          </a:prstGeom>
        </p:spPr>
      </p:pic>
      <p:sp>
        <p:nvSpPr>
          <p:cNvPr id="7" name="Contact 1">
            <a:hlinkClick r:id="rId3" tooltip="Open the demo"/>
          </p:cNvPr>
          <p:cNvSpPr txBox="1"/>
          <p:nvPr/>
        </p:nvSpPr>
        <p:spPr>
          <a:xfrm>
            <a:off x="672084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  <a:hlinkClick r:id="rId3" invalidUrl="" action="" tgtFrame="" tooltip="Open th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live demo</a:t>
            </a:r>
            <a:endParaRPr lang="en-US" sz="1300" dirty="0"/>
          </a:p>
        </p:txBody>
      </p:sp>
      <p:pic>
        <p:nvPicPr>
          <p:cNvPr id="8" name="Icon 2" descr="Icon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636008"/>
            <a:ext cx="256032" cy="256032"/>
          </a:xfrm>
          <a:prstGeom prst="rect">
            <a:avLst/>
          </a:prstGeom>
        </p:spPr>
      </p:pic>
      <p:sp>
        <p:nvSpPr>
          <p:cNvPr id="9" name="Contact 2"/>
          <p:cNvSpPr txBox="1"/>
          <p:nvPr/>
        </p:nvSpPr>
        <p:spPr>
          <a:xfrm>
            <a:off x="6720840" y="4617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Code: ev-registry/ in the fans-app repo</a:t>
            </a:r>
            <a:endParaRPr lang="en-US" sz="1300" dirty="0"/>
          </a:p>
        </p:txBody>
      </p:sp>
      <p:pic>
        <p:nvPicPr>
          <p:cNvPr id="10" name="Icon 3" descr="Icon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093208"/>
            <a:ext cx="256032" cy="256032"/>
          </a:xfrm>
          <a:prstGeom prst="rect">
            <a:avLst/>
          </a:prstGeom>
        </p:spPr>
      </p:pic>
      <p:sp>
        <p:nvSpPr>
          <p:cNvPr id="11" name="Contact 3"/>
          <p:cNvSpPr txBox="1"/>
          <p:nvPr/>
        </p:nvSpPr>
        <p:spPr>
          <a:xfrm>
            <a:off x="6720840" y="5074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All data shown is sample 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elio Mint">
  <a:themeElements>
    <a:clrScheme name="Zelio Mint">
      <a:dk1>
        <a:srgbClr val="0E3D3A"/>
      </a:dk1>
      <a:lt1>
        <a:srgbClr val="FFFFFF"/>
      </a:lt1>
      <a:dk2>
        <a:srgbClr val="0E3D3A"/>
      </a:dk2>
      <a:lt2>
        <a:srgbClr val="F2FBEE"/>
      </a:lt2>
      <a:accent1>
        <a:srgbClr val="8BE07F"/>
      </a:accent1>
      <a:accent2>
        <a:srgbClr val="2F9E57"/>
      </a:accent2>
      <a:accent3>
        <a:srgbClr val="DAF5D3"/>
      </a:accent3>
      <a:accent4>
        <a:srgbClr val="1F5C57"/>
      </a:accent4>
      <a:accent5>
        <a:srgbClr val="B7EEA9"/>
      </a:accent5>
      <a:accent6>
        <a:srgbClr val="5C7A76"/>
      </a:accent6>
      <a:hlink>
        <a:srgbClr val="2F9E57"/>
      </a:hlink>
      <a:folHlink>
        <a:srgbClr val="5C7A76"/>
      </a:folHlink>
    </a:clrScheme>
    <a:fontScheme name="Zelio Mint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syfr.live</dc:title>
  <dc:subject>PptxGenJS Presentation</dc:subject>
  <dc:creator>syfr.live</dc:creator>
  <cp:lastModifiedBy>syfr.live</cp:lastModifiedBy>
  <cp:revision>1</cp:revision>
  <dcterms:created xsi:type="dcterms:W3CDTF">2026-10-18T05:25:20Z</dcterms:created>
  <dcterms:modified xsi:type="dcterms:W3CDTF">2026-10-18T05:25:20Z</dcterms:modified>
</cp:coreProperties>
</file>