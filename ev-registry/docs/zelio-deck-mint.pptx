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out" id="{9f0d5124-32bc-1d4c-b9e4-aab26ff650be}">
          <p14:sldIdLst>
            <p14:sldId id="256"/>
            <p14:sldId id="257"/>
            <p14:sldId id="258"/>
            <p14:sldId id="259"/>
          </p14:sldIdLst>
        </p14:section>
        <p14:section name="Company portal" id="{d5513fef-5339-2106-37b8-436ea4fdcd47}">
          <p14:sldIdLst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Dealer and owner" id="{0bdfe278-1f43-6844-7458-1f10a29b847b}">
          <p14:sldIdLst>
            <p14:sldId id="267"/>
            <p14:sldId id="268"/>
          </p14:sldIdLst>
        </p14:section>
        <p14:section name="Next" id="{3fbaf1bd-aff6-b6e0-3f35-8e9f24a60428}">
          <p14:sldIdLst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Registered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FFF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AF5D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7EEA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BE07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FB9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Uttar Pradesh</c:v>
                  </c:pt>
                  <c:pt idx="1">
                    <c:v>Gujarat</c:v>
                  </c:pt>
                  <c:pt idx="2">
                    <c:v>Maharashtra</c:v>
                  </c:pt>
                  <c:pt idx="3">
                    <c:v>Tamil Nadu</c:v>
                  </c:pt>
                  <c:pt idx="4">
                    <c:v>Madhya Pradesh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27529</c:v>
                </c:pt>
                <c:pt idx="1">
                  <c:v>15077</c:v>
                </c:pt>
                <c:pt idx="2">
                  <c:v>13260</c:v>
                </c:pt>
                <c:pt idx="3">
                  <c:v>11331</c:v>
                </c:pt>
                <c:pt idx="4">
                  <c:v>9336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DAF5D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Warranty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8BE07F"/>
              </a:solidFill>
              <a:ln w="25400" cap="flat">
                <a:solidFill>
                  <a:srgbClr val="0E3D3A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F4C766"/>
              </a:solidFill>
              <a:ln w="25400" cap="flat">
                <a:solidFill>
                  <a:srgbClr val="0E3D3A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F4A3A3"/>
              </a:solidFill>
              <a:ln w="25400" cap="flat">
                <a:solidFill>
                  <a:srgbClr val="0E3D3A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Active</c:v>
                </c:pt>
                <c:pt idx="1">
                  <c:v>Expiring soon</c:v>
                </c:pt>
                <c:pt idx="2">
                  <c:v>Expired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485</c:v>
                </c:pt>
                <c:pt idx="1">
                  <c:v>38</c:v>
                </c:pt>
                <c:pt idx="2">
                  <c:v>17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Zelio vehicle registry portal. The Zelio wordmark used here is a placeholder drawn for the demo, not the official logo. Everything is shown with sample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Low-speed e-bikes do not go through the RTO, so there is no government registry to lean on. The portal fills that gap for the manufacturer and its dealer network.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plate links the physical bike to its record. Scanning it opens registration, warranty per part and the parts history.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Sample data. 52% = the five largest states (76,533) over the 1,48,174 total. The 38 comes from the 540 most recent registrations in the warranty register.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Sample data. Districts use real boundaries; the counts are made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Sample data: 540 recent registrations, 485 active, 38 expiring soon, 17 expired. Per-part active shares are from the By part bars.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Sample data. 76,533 of 1,48,174 registrations are in the five states shown (52%). Of 540 recent bikes: 485 active (90%), 38 expiring soon (7%), 17 expired (3%).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link works once GitHub Pages is switched on for the gh-pages branch (Settings, Pages). The Zelio logo is a placeholder wordmark.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MI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77240" y="2331720"/>
            <a:ext cx="65836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77240" y="3931920"/>
            <a:ext cx="56692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INT_LEF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77240" y="868680"/>
            <a:ext cx="106070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pic>
        <p:nvPicPr>
          <p:cNvPr id="3" name="Image 0" descr="/tmp/claude-0/-home-user-fans-app/34dcd851-4012-5285-8b19-5836f8a3c053/scratchpad/deck/img/z_mark_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382512"/>
            <a:ext cx="274320" cy="274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3072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  <a:latin typeface="Outfit"/>
                <a:ea typeface="Outfit"/>
                <a:cs typeface="Outfit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INT_CENTER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77240" y="868680"/>
            <a:ext cx="106344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00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defRPr>
            </a:lvl1pPr>
          </a:lstStyle>
          <a:p>
            <a:pPr algn="ctr" indent="0" marL="0">
              <a:buNone/>
            </a:pPr>
            <a:endParaRPr lang="en-US" sz="3000" dirty="0"/>
          </a:p>
        </p:txBody>
      </p:sp>
      <p:pic>
        <p:nvPicPr>
          <p:cNvPr id="3" name="Image 0" descr="/tmp/claude-0/-home-user-fans-app/34dcd851-4012-5285-8b19-5836f8a3c053/scratchpad/deck/img/z_mark_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382512"/>
            <a:ext cx="274320" cy="274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3072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  <a:latin typeface="Outfit"/>
                <a:ea typeface="Outfit"/>
                <a:cs typeface="Outfit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LEFT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77240" y="868680"/>
            <a:ext cx="106070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bg1"/>
                </a:solidFill>
                <a:latin typeface="Outfit" pitchFamily="34" charset="0"/>
                <a:ea typeface="Outfit" pitchFamily="34" charset="-122"/>
                <a:cs typeface="Outfit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pic>
        <p:nvPicPr>
          <p:cNvPr id="3" name="Image 0" descr="/tmp/claude-0/-home-user-fans-app/34dcd851-4012-5285-8b19-5836f8a3c053/scratchpad/deck/img/z_mark_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382512"/>
            <a:ext cx="274320" cy="274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3072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  <a:latin typeface="Outfit"/>
                <a:ea typeface="Outfit"/>
                <a:cs typeface="Outfit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MI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309360" y="1554480"/>
            <a:ext cx="512064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3072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  <a:latin typeface="Outfit"/>
                <a:ea typeface="Outfit"/>
                <a:cs typeface="Outfit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aakashvats2910.github.io/fans-app/" TargetMode="External"/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4" Type="http://schemas.openxmlformats.org/officeDocument/2006/relationships/image" Target="../media/image-16-3.png"/><Relationship Id="rId5" Type="http://schemas.openxmlformats.org/officeDocument/2006/relationships/image" Target="../media/image-16-4.png"/><Relationship Id="rId6" Type="http://schemas.openxmlformats.org/officeDocument/2006/relationships/slideLayout" Target="../slideLayouts/slideLayout6.xml"/><Relationship Id="rId7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Zelio logo" descr="Zelio logo (placeholder wordmark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57200"/>
            <a:ext cx="1737360" cy="96795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77240" y="23317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One registry for every non-RTO e-bike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77240" y="393192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Registration, warranty and parts history, from the factory to the dealer to the owner.</a:t>
            </a:r>
            <a:endParaRPr lang="en-US" sz="1600" dirty="0"/>
          </a:p>
        </p:txBody>
      </p:sp>
      <p:pic>
        <p:nvPicPr>
          <p:cNvPr id="5" name="Hero panel" descr="Owner phone screen with the Zelio number pla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502920"/>
            <a:ext cx="3200400" cy="5852160"/>
          </a:xfrm>
          <a:prstGeom prst="rect">
            <a:avLst/>
          </a:prstGeom>
        </p:spPr>
      </p:pic>
      <p:sp>
        <p:nvSpPr>
          <p:cNvPr id="6" name="Text"/>
          <p:cNvSpPr txBox="1"/>
          <p:nvPr/>
        </p:nvSpPr>
        <p:spPr>
          <a:xfrm>
            <a:off x="777240" y="56692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COMPANY</a:t>
            </a:r>
            <a:endParaRPr lang="en-US" sz="1000" dirty="0"/>
          </a:p>
        </p:txBody>
      </p:sp>
      <p:sp>
        <p:nvSpPr>
          <p:cNvPr id="7" name="Text"/>
          <p:cNvSpPr txBox="1"/>
          <p:nvPr/>
        </p:nvSpPr>
        <p:spPr>
          <a:xfrm>
            <a:off x="777240" y="59161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Zelio</a:t>
            </a:r>
            <a:endParaRPr lang="en-US" sz="1300" dirty="0"/>
          </a:p>
        </p:txBody>
      </p:sp>
      <p:sp>
        <p:nvSpPr>
          <p:cNvPr id="8" name="Text"/>
          <p:cNvSpPr txBox="1"/>
          <p:nvPr/>
        </p:nvSpPr>
        <p:spPr>
          <a:xfrm>
            <a:off x="2971800" y="56692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PRODUCT</a:t>
            </a:r>
            <a:endParaRPr lang="en-US" sz="1000" dirty="0"/>
          </a:p>
        </p:txBody>
      </p:sp>
      <p:sp>
        <p:nvSpPr>
          <p:cNvPr id="9" name="Text"/>
          <p:cNvSpPr txBox="1"/>
          <p:nvPr/>
        </p:nvSpPr>
        <p:spPr>
          <a:xfrm>
            <a:off x="2971800" y="59161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Vehicle registry portal</a:t>
            </a:r>
            <a:endParaRPr lang="en-US" sz="1300" dirty="0"/>
          </a:p>
        </p:txBody>
      </p:sp>
      <p:sp>
        <p:nvSpPr>
          <p:cNvPr id="10" name="Text"/>
          <p:cNvSpPr txBox="1"/>
          <p:nvPr/>
        </p:nvSpPr>
        <p:spPr>
          <a:xfrm>
            <a:off x="5349240" y="56692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DATA</a:t>
            </a:r>
            <a:endParaRPr lang="en-US" sz="1000" dirty="0"/>
          </a:p>
        </p:txBody>
      </p:sp>
      <p:sp>
        <p:nvSpPr>
          <p:cNvPr id="11" name="Text"/>
          <p:cNvSpPr txBox="1"/>
          <p:nvPr/>
        </p:nvSpPr>
        <p:spPr>
          <a:xfrm>
            <a:off x="5349240" y="59161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Sample data only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 pill"/>
          <p:cNvSpPr/>
          <p:nvPr/>
        </p:nvSpPr>
        <p:spPr>
          <a:xfrm>
            <a:off x="777240" y="502920"/>
            <a:ext cx="1065276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" name="Tag: The gap"/>
          <p:cNvSpPr txBox="1"/>
          <p:nvPr/>
        </p:nvSpPr>
        <p:spPr>
          <a:xfrm>
            <a:off x="777240" y="502920"/>
            <a:ext cx="10652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GAP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77240" y="8686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Non-RTO e-bikes leave no record behind</a:t>
            </a:r>
            <a:endParaRPr lang="en-US" sz="3000" dirty="0"/>
          </a:p>
        </p:txBody>
      </p:sp>
      <p:sp>
        <p:nvSpPr>
          <p:cNvPr id="5" name="Left tile"/>
          <p:cNvSpPr/>
          <p:nvPr/>
        </p:nvSpPr>
        <p:spPr>
          <a:xfrm>
            <a:off x="777240" y="1783080"/>
            <a:ext cx="3154680" cy="3429000"/>
          </a:xfrm>
          <a:prstGeom prst="roundRect">
            <a:avLst>
              <a:gd name="adj" fmla="val 5797"/>
            </a:avLst>
          </a:prstGeom>
          <a:solidFill>
            <a:schemeClr val="accent3"/>
          </a:solidFill>
          <a:ln/>
        </p:spPr>
      </p:sp>
      <p:pic>
        <p:nvPicPr>
          <p:cNvPr id="6" name="Icon: no central record" descr="Icon: no central reco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2240280"/>
            <a:ext cx="822960" cy="822960"/>
          </a:xfrm>
          <a:prstGeom prst="rect">
            <a:avLst/>
          </a:prstGeom>
        </p:spPr>
      </p:pic>
      <p:sp>
        <p:nvSpPr>
          <p:cNvPr id="7" name="Text"/>
          <p:cNvSpPr txBox="1"/>
          <p:nvPr/>
        </p:nvSpPr>
        <p:spPr>
          <a:xfrm>
            <a:off x="1188720" y="34290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 central record</a:t>
            </a:r>
            <a:endParaRPr lang="en-US" sz="1900" dirty="0"/>
          </a:p>
        </p:txBody>
      </p:sp>
      <p:sp>
        <p:nvSpPr>
          <p:cNvPr id="8" name="Text"/>
          <p:cNvSpPr txBox="1"/>
          <p:nvPr/>
        </p:nvSpPr>
        <p:spPr>
          <a:xfrm>
            <a:off x="1188720" y="3886200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Nobody can say how many bikes are on the road, who owns them or where they were sold.</a:t>
            </a:r>
            <a:endParaRPr lang="en-US" sz="1400" dirty="0"/>
          </a:p>
        </p:txBody>
      </p:sp>
      <p:sp>
        <p:nvSpPr>
          <p:cNvPr id="9" name="Center card"/>
          <p:cNvSpPr/>
          <p:nvPr/>
        </p:nvSpPr>
        <p:spPr>
          <a:xfrm>
            <a:off x="4114800" y="1783080"/>
            <a:ext cx="4114800" cy="3429000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/>
        </p:spPr>
      </p:sp>
      <p:pic>
        <p:nvPicPr>
          <p:cNvPr id="10" name="Icon: paper warranty" descr="Icon: paper warrant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240280"/>
            <a:ext cx="640080" cy="640080"/>
          </a:xfrm>
          <a:prstGeom prst="rect">
            <a:avLst/>
          </a:prstGeom>
        </p:spPr>
      </p:pic>
      <p:sp>
        <p:nvSpPr>
          <p:cNvPr id="11" name="Text"/>
          <p:cNvSpPr txBox="1"/>
          <p:nvPr/>
        </p:nvSpPr>
        <p:spPr>
          <a:xfrm>
            <a:off x="5394960" y="22860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Paper warranty</a:t>
            </a:r>
            <a:endParaRPr lang="en-US" sz="2200" dirty="0"/>
          </a:p>
        </p:txBody>
      </p:sp>
      <p:pic>
        <p:nvPicPr>
          <p:cNvPr id="12" name="Check 1" descr="Check 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3291840"/>
            <a:ext cx="274320" cy="274320"/>
          </a:xfrm>
          <a:prstGeom prst="rect">
            <a:avLst/>
          </a:prstGeom>
        </p:spPr>
      </p:pic>
      <p:sp>
        <p:nvSpPr>
          <p:cNvPr id="13" name="Text"/>
          <p:cNvSpPr txBox="1"/>
          <p:nvPr/>
        </p:nvSpPr>
        <p:spPr>
          <a:xfrm>
            <a:off x="5029200" y="326440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claim depends on a bill the owner may have lost</a:t>
            </a:r>
            <a:endParaRPr lang="en-US" sz="1400" dirty="0"/>
          </a:p>
        </p:txBody>
      </p:sp>
      <p:pic>
        <p:nvPicPr>
          <p:cNvPr id="14" name="Check 2" descr="Check 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3913632"/>
            <a:ext cx="274320" cy="274320"/>
          </a:xfrm>
          <a:prstGeom prst="rect">
            <a:avLst/>
          </a:prstGeom>
        </p:spPr>
      </p:pic>
      <p:sp>
        <p:nvSpPr>
          <p:cNvPr id="15" name="Text"/>
          <p:cNvSpPr txBox="1"/>
          <p:nvPr/>
        </p:nvSpPr>
        <p:spPr>
          <a:xfrm>
            <a:off x="5029200" y="38862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Dealers rely on their memory of the sale</a:t>
            </a:r>
            <a:endParaRPr lang="en-US" sz="1400" dirty="0"/>
          </a:p>
        </p:txBody>
      </p:sp>
      <p:pic>
        <p:nvPicPr>
          <p:cNvPr id="16" name="Check 3" descr="Check 3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535424"/>
            <a:ext cx="274320" cy="274320"/>
          </a:xfrm>
          <a:prstGeom prst="rect">
            <a:avLst/>
          </a:prstGeom>
        </p:spPr>
      </p:pic>
      <p:sp>
        <p:nvSpPr>
          <p:cNvPr id="17" name="Text"/>
          <p:cNvSpPr txBox="1"/>
          <p:nvPr/>
        </p:nvSpPr>
        <p:spPr>
          <a:xfrm>
            <a:off x="5029200" y="450799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Nobody can check which part carries which warranty</a:t>
            </a:r>
            <a:endParaRPr lang="en-US" sz="1400" dirty="0"/>
          </a:p>
        </p:txBody>
      </p:sp>
      <p:sp>
        <p:nvSpPr>
          <p:cNvPr id="18" name="Right tile"/>
          <p:cNvSpPr/>
          <p:nvPr/>
        </p:nvSpPr>
        <p:spPr>
          <a:xfrm>
            <a:off x="8412480" y="1783080"/>
            <a:ext cx="3154680" cy="3429000"/>
          </a:xfrm>
          <a:prstGeom prst="roundRect">
            <a:avLst>
              <a:gd name="adj" fmla="val 5797"/>
            </a:avLst>
          </a:prstGeom>
          <a:solidFill>
            <a:schemeClr val="accent3"/>
          </a:solidFill>
          <a:ln/>
        </p:spPr>
      </p:sp>
      <p:pic>
        <p:nvPicPr>
          <p:cNvPr id="19" name="Icon: unseen part swaps" descr="Icon: unseen part swap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3960" y="2240280"/>
            <a:ext cx="822960" cy="822960"/>
          </a:xfrm>
          <a:prstGeom prst="rect">
            <a:avLst/>
          </a:prstGeom>
        </p:spPr>
      </p:pic>
      <p:sp>
        <p:nvSpPr>
          <p:cNvPr id="20" name="Text"/>
          <p:cNvSpPr txBox="1"/>
          <p:nvPr/>
        </p:nvSpPr>
        <p:spPr>
          <a:xfrm>
            <a:off x="8823960" y="34290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Unseen part swaps</a:t>
            </a:r>
            <a:endParaRPr lang="en-US" sz="1900" dirty="0"/>
          </a:p>
        </p:txBody>
      </p:sp>
      <p:sp>
        <p:nvSpPr>
          <p:cNvPr id="21" name="Text"/>
          <p:cNvSpPr txBox="1"/>
          <p:nvPr/>
        </p:nvSpPr>
        <p:spPr>
          <a:xfrm>
            <a:off x="8823960" y="3886200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new motor, controller or battery is fitted and what was replaced, and when, is lost.</a:t>
            </a:r>
            <a:endParaRPr lang="en-US" sz="1400" dirty="0"/>
          </a:p>
        </p:txBody>
      </p:sp>
      <p:sp>
        <p:nvSpPr>
          <p:cNvPr id="22" name="Text"/>
          <p:cNvSpPr txBox="1"/>
          <p:nvPr/>
        </p:nvSpPr>
        <p:spPr>
          <a:xfrm>
            <a:off x="777240" y="5486400"/>
            <a:ext cx="10634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Zelio portal gives each bike a QR plate and one record that company, dealer and owner can all read.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3072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  <a:latin typeface="Outfit"/>
                <a:ea typeface="Outfit"/>
                <a:cs typeface="Outfit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 pill"/>
          <p:cNvSpPr/>
          <p:nvPr/>
        </p:nvSpPr>
        <p:spPr>
          <a:xfrm>
            <a:off x="777240" y="502920"/>
            <a:ext cx="1499616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" name="Tag: The solution"/>
          <p:cNvSpPr txBox="1"/>
          <p:nvPr/>
        </p:nvSpPr>
        <p:spPr>
          <a:xfrm>
            <a:off x="777240" y="502920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SOLUTION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77240" y="8686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One QR plate. One record for everyone</a:t>
            </a:r>
            <a:endParaRPr lang="en-US" sz="3000" dirty="0"/>
          </a:p>
        </p:txBody>
      </p:sp>
      <p:pic>
        <p:nvPicPr>
          <p:cNvPr id="5" name="Check 1" descr="Check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011680"/>
            <a:ext cx="365760" cy="365760"/>
          </a:xfrm>
          <a:prstGeom prst="rect">
            <a:avLst/>
          </a:prstGeom>
        </p:spPr>
      </p:pic>
      <p:sp>
        <p:nvSpPr>
          <p:cNvPr id="6" name="Text"/>
          <p:cNvSpPr txBox="1"/>
          <p:nvPr/>
        </p:nvSpPr>
        <p:spPr>
          <a:xfrm>
            <a:off x="1371600" y="196596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dealer registers the bike before it is sold</a:t>
            </a:r>
            <a:endParaRPr lang="en-US" sz="1600" dirty="0"/>
          </a:p>
        </p:txBody>
      </p:sp>
      <p:pic>
        <p:nvPicPr>
          <p:cNvPr id="7" name="Check 2" descr="Check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063240"/>
            <a:ext cx="365760" cy="365760"/>
          </a:xfrm>
          <a:prstGeom prst="rect">
            <a:avLst/>
          </a:prstGeom>
        </p:spPr>
      </p:pic>
      <p:sp>
        <p:nvSpPr>
          <p:cNvPr id="8" name="Text"/>
          <p:cNvSpPr txBox="1"/>
          <p:nvPr/>
        </p:nvSpPr>
        <p:spPr>
          <a:xfrm>
            <a:off x="1371600" y="301752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plate carries the Zelio logo and a QR code</a:t>
            </a:r>
            <a:endParaRPr lang="en-US" sz="1600" dirty="0"/>
          </a:p>
        </p:txBody>
      </p:sp>
      <p:pic>
        <p:nvPicPr>
          <p:cNvPr id="9" name="Check 3" descr="Check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114800"/>
            <a:ext cx="365760" cy="365760"/>
          </a:xfrm>
          <a:prstGeom prst="rect">
            <a:avLst/>
          </a:prstGeom>
        </p:spPr>
      </p:pic>
      <p:sp>
        <p:nvSpPr>
          <p:cNvPr id="10" name="Text"/>
          <p:cNvSpPr txBox="1"/>
          <p:nvPr/>
        </p:nvSpPr>
        <p:spPr>
          <a:xfrm>
            <a:off x="1371600" y="406908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Owner, dealer and company read the same record</a:t>
            </a:r>
            <a:endParaRPr lang="en-US" sz="1600" dirty="0"/>
          </a:p>
        </p:txBody>
      </p:sp>
      <p:pic>
        <p:nvPicPr>
          <p:cNvPr id="11" name="Plate tile" descr="Number plate with the Zelio logo and QR cod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1783080"/>
            <a:ext cx="2651760" cy="3108960"/>
          </a:xfrm>
          <a:prstGeom prst="rect">
            <a:avLst/>
          </a:prstGeom>
        </p:spPr>
      </p:pic>
      <p:pic>
        <p:nvPicPr>
          <p:cNvPr id="12" name="Phone tile" descr="Owner warranty scree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23960" y="1783080"/>
            <a:ext cx="2651760" cy="3108960"/>
          </a:xfrm>
          <a:prstGeom prst="rect">
            <a:avLst/>
          </a:prstGeom>
        </p:spPr>
      </p:pic>
      <p:sp>
        <p:nvSpPr>
          <p:cNvPr id="13" name="Callout"/>
          <p:cNvSpPr/>
          <p:nvPr/>
        </p:nvSpPr>
        <p:spPr>
          <a:xfrm>
            <a:off x="5989320" y="5120640"/>
            <a:ext cx="5486400" cy="548640"/>
          </a:xfrm>
          <a:prstGeom prst="roundRect">
            <a:avLst>
              <a:gd name="adj" fmla="val 33333"/>
            </a:avLst>
          </a:prstGeom>
          <a:solidFill>
            <a:schemeClr val="accent3"/>
          </a:solidFill>
          <a:ln/>
        </p:spPr>
      </p:sp>
      <p:sp>
        <p:nvSpPr>
          <p:cNvPr id="14" name="Text"/>
          <p:cNvSpPr txBox="1"/>
          <p:nvPr/>
        </p:nvSpPr>
        <p:spPr>
          <a:xfrm>
            <a:off x="5989320" y="512064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Scan the plate, see the whole bike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3072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  <a:latin typeface="Outfit"/>
                <a:ea typeface="Outfit"/>
                <a:cs typeface="Outfit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 pill"/>
          <p:cNvSpPr/>
          <p:nvPr/>
        </p:nvSpPr>
        <p:spPr>
          <a:xfrm>
            <a:off x="5344668" y="502920"/>
            <a:ext cx="1499616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" name="Tag: Who it&amp;apos;s for"/>
          <p:cNvSpPr txBox="1"/>
          <p:nvPr/>
        </p:nvSpPr>
        <p:spPr>
          <a:xfrm>
            <a:off x="5344668" y="502920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WHO IT'S FOR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77240" y="868680"/>
            <a:ext cx="106344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Three users, one registry</a:t>
            </a:r>
            <a:endParaRPr lang="en-US" sz="3000" dirty="0"/>
          </a:p>
        </p:txBody>
      </p:sp>
      <p:sp>
        <p:nvSpPr>
          <p:cNvPr id="5" name="User card Company"/>
          <p:cNvSpPr/>
          <p:nvPr/>
        </p:nvSpPr>
        <p:spPr>
          <a:xfrm>
            <a:off x="950976" y="2011680"/>
            <a:ext cx="3246120" cy="2651760"/>
          </a:xfrm>
          <a:prstGeom prst="roundRect">
            <a:avLst>
              <a:gd name="adj" fmla="val 6897"/>
            </a:avLst>
          </a:prstGeom>
          <a:solidFill>
            <a:schemeClr val="accent3"/>
          </a:solidFill>
          <a:ln/>
        </p:spPr>
      </p:sp>
      <p:sp>
        <p:nvSpPr>
          <p:cNvPr id="6" name="Icon disc Company"/>
          <p:cNvSpPr/>
          <p:nvPr/>
        </p:nvSpPr>
        <p:spPr>
          <a:xfrm>
            <a:off x="2208276" y="22860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con: Company" descr="Icon: Compan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2868" y="2450592"/>
            <a:ext cx="402336" cy="402336"/>
          </a:xfrm>
          <a:prstGeom prst="rect">
            <a:avLst/>
          </a:prstGeom>
        </p:spPr>
      </p:pic>
      <p:sp>
        <p:nvSpPr>
          <p:cNvPr id="8" name="Text"/>
          <p:cNvSpPr txBox="1"/>
          <p:nvPr/>
        </p:nvSpPr>
        <p:spPr>
          <a:xfrm>
            <a:off x="1225296" y="32004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Company</a:t>
            </a:r>
            <a:endParaRPr lang="en-US" sz="1800" dirty="0"/>
          </a:p>
        </p:txBody>
      </p:sp>
      <p:sp>
        <p:nvSpPr>
          <p:cNvPr id="9" name="Text"/>
          <p:cNvSpPr txBox="1"/>
          <p:nvPr/>
        </p:nvSpPr>
        <p:spPr>
          <a:xfrm>
            <a:off x="1271016" y="361188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Live map, area report and every warranty on record. Desktop first.</a:t>
            </a:r>
            <a:endParaRPr lang="en-US" sz="1300" dirty="0"/>
          </a:p>
        </p:txBody>
      </p:sp>
      <p:sp>
        <p:nvSpPr>
          <p:cNvPr id="10" name="User card Dealer"/>
          <p:cNvSpPr/>
          <p:nvPr/>
        </p:nvSpPr>
        <p:spPr>
          <a:xfrm>
            <a:off x="4471416" y="2011680"/>
            <a:ext cx="3246120" cy="2651760"/>
          </a:xfrm>
          <a:prstGeom prst="roundRect">
            <a:avLst>
              <a:gd name="adj" fmla="val 6897"/>
            </a:avLst>
          </a:prstGeom>
          <a:solidFill>
            <a:schemeClr val="accent3"/>
          </a:solidFill>
          <a:ln/>
        </p:spPr>
      </p:sp>
      <p:sp>
        <p:nvSpPr>
          <p:cNvPr id="11" name="Icon disc Dealer"/>
          <p:cNvSpPr/>
          <p:nvPr/>
        </p:nvSpPr>
        <p:spPr>
          <a:xfrm>
            <a:off x="5728716" y="22860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con: Dealer" descr="Icon: Deal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3308" y="2450592"/>
            <a:ext cx="402336" cy="402336"/>
          </a:xfrm>
          <a:prstGeom prst="rect">
            <a:avLst/>
          </a:prstGeom>
        </p:spPr>
      </p:pic>
      <p:sp>
        <p:nvSpPr>
          <p:cNvPr id="13" name="Text"/>
          <p:cNvSpPr txBox="1"/>
          <p:nvPr/>
        </p:nvSpPr>
        <p:spPr>
          <a:xfrm>
            <a:off x="4745736" y="32004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Dealer</a:t>
            </a:r>
            <a:endParaRPr lang="en-US" sz="1800" dirty="0"/>
          </a:p>
        </p:txBody>
      </p:sp>
      <p:sp>
        <p:nvSpPr>
          <p:cNvPr id="14" name="Text"/>
          <p:cNvSpPr txBox="1"/>
          <p:nvPr/>
        </p:nvSpPr>
        <p:spPr>
          <a:xfrm>
            <a:off x="4791456" y="361188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Register before selling, scan the plate, log part swaps. Phone and tablet.</a:t>
            </a:r>
            <a:endParaRPr lang="en-US" sz="1300" dirty="0"/>
          </a:p>
        </p:txBody>
      </p:sp>
      <p:sp>
        <p:nvSpPr>
          <p:cNvPr id="15" name="User card Vehicle owner"/>
          <p:cNvSpPr/>
          <p:nvPr/>
        </p:nvSpPr>
        <p:spPr>
          <a:xfrm>
            <a:off x="7991856" y="2011680"/>
            <a:ext cx="3246120" cy="2651760"/>
          </a:xfrm>
          <a:prstGeom prst="roundRect">
            <a:avLst>
              <a:gd name="adj" fmla="val 6897"/>
            </a:avLst>
          </a:prstGeom>
          <a:solidFill>
            <a:schemeClr val="accent3"/>
          </a:solidFill>
          <a:ln/>
        </p:spPr>
      </p:sp>
      <p:sp>
        <p:nvSpPr>
          <p:cNvPr id="16" name="Icon disc Vehicle owner"/>
          <p:cNvSpPr/>
          <p:nvPr/>
        </p:nvSpPr>
        <p:spPr>
          <a:xfrm>
            <a:off x="9249156" y="22860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con: Vehicle owner" descr="Icon: Vehicle own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3748" y="2450592"/>
            <a:ext cx="402336" cy="402336"/>
          </a:xfrm>
          <a:prstGeom prst="rect">
            <a:avLst/>
          </a:prstGeom>
        </p:spPr>
      </p:pic>
      <p:sp>
        <p:nvSpPr>
          <p:cNvPr id="18" name="Text"/>
          <p:cNvSpPr txBox="1"/>
          <p:nvPr/>
        </p:nvSpPr>
        <p:spPr>
          <a:xfrm>
            <a:off x="8266176" y="32004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Vehicle owner</a:t>
            </a:r>
            <a:endParaRPr lang="en-US" sz="1800" dirty="0"/>
          </a:p>
        </p:txBody>
      </p:sp>
      <p:sp>
        <p:nvSpPr>
          <p:cNvPr id="19" name="Text"/>
          <p:cNvSpPr txBox="1"/>
          <p:nvPr/>
        </p:nvSpPr>
        <p:spPr>
          <a:xfrm>
            <a:off x="8311896" y="361188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Registration period, warranty per part and parts history. On the phone.</a:t>
            </a:r>
            <a:endParaRPr lang="en-US" sz="1300" dirty="0"/>
          </a:p>
        </p:txBody>
      </p:sp>
      <p:sp>
        <p:nvSpPr>
          <p:cNvPr id="20" name="Text"/>
          <p:cNvSpPr txBox="1"/>
          <p:nvPr/>
        </p:nvSpPr>
        <p:spPr>
          <a:xfrm>
            <a:off x="777240" y="5120640"/>
            <a:ext cx="10634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Built for the control room, the shop counter and the owner's pocket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3072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  <a:latin typeface="Outfit"/>
                <a:ea typeface="Outfit"/>
                <a:cs typeface="Outfit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 pill"/>
          <p:cNvSpPr/>
          <p:nvPr/>
        </p:nvSpPr>
        <p:spPr>
          <a:xfrm>
            <a:off x="777240" y="502920"/>
            <a:ext cx="1673352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" name="Tag: Company portal"/>
          <p:cNvSpPr txBox="1"/>
          <p:nvPr/>
        </p:nvSpPr>
        <p:spPr>
          <a:xfrm>
            <a:off x="777240" y="502920"/>
            <a:ext cx="1673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COMPANY PORTAL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77240" y="8686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whole network at a glance</a:t>
            </a:r>
            <a:endParaRPr lang="en-US" sz="3000" dirty="0"/>
          </a:p>
        </p:txBody>
      </p:sp>
      <p:pic>
        <p:nvPicPr>
          <p:cNvPr id="5" name="Portal overview" descr="Company portal overview: KPI tiles, India map by district, top states and live fe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08760"/>
            <a:ext cx="5951577" cy="470916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E3D3A">
                <a:alpha val="18000"/>
              </a:srgbClr>
            </a:outerShdw>
          </a:effectLst>
        </p:spPr>
      </p:pic>
      <p:sp>
        <p:nvSpPr>
          <p:cNvPr id="6" name="Text"/>
          <p:cNvSpPr txBox="1"/>
          <p:nvPr/>
        </p:nvSpPr>
        <p:spPr>
          <a:xfrm>
            <a:off x="7140297" y="1508760"/>
            <a:ext cx="4271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1,48,174</a:t>
            </a:r>
            <a:endParaRPr lang="en-US" sz="3200" dirty="0"/>
          </a:p>
        </p:txBody>
      </p:sp>
      <p:sp>
        <p:nvSpPr>
          <p:cNvPr id="7" name="Text"/>
          <p:cNvSpPr txBox="1"/>
          <p:nvPr/>
        </p:nvSpPr>
        <p:spPr>
          <a:xfrm>
            <a:off x="7140297" y="2075688"/>
            <a:ext cx="4271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bikes on the registry</a:t>
            </a:r>
            <a:endParaRPr lang="en-US" sz="1500" dirty="0"/>
          </a:p>
        </p:txBody>
      </p:sp>
      <p:sp>
        <p:nvSpPr>
          <p:cNvPr id="8" name="Text"/>
          <p:cNvSpPr txBox="1"/>
          <p:nvPr/>
        </p:nvSpPr>
        <p:spPr>
          <a:xfrm>
            <a:off x="7140297" y="2377440"/>
            <a:ext cx="4271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All time, across every state and union territory.</a:t>
            </a:r>
            <a:endParaRPr lang="en-US" sz="1300" dirty="0"/>
          </a:p>
        </p:txBody>
      </p:sp>
      <p:sp>
        <p:nvSpPr>
          <p:cNvPr id="9" name="Text"/>
          <p:cNvSpPr txBox="1"/>
          <p:nvPr/>
        </p:nvSpPr>
        <p:spPr>
          <a:xfrm>
            <a:off x="7140297" y="2926080"/>
            <a:ext cx="4271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52%</a:t>
            </a:r>
            <a:endParaRPr lang="en-US" sz="3200" dirty="0"/>
          </a:p>
        </p:txBody>
      </p:sp>
      <p:sp>
        <p:nvSpPr>
          <p:cNvPr id="10" name="Text"/>
          <p:cNvSpPr txBox="1"/>
          <p:nvPr/>
        </p:nvSpPr>
        <p:spPr>
          <a:xfrm>
            <a:off x="7140297" y="3493008"/>
            <a:ext cx="4271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sit in just five states</a:t>
            </a:r>
            <a:endParaRPr lang="en-US" sz="1500" dirty="0"/>
          </a:p>
        </p:txBody>
      </p:sp>
      <p:sp>
        <p:nvSpPr>
          <p:cNvPr id="11" name="Text"/>
          <p:cNvSpPr txBox="1"/>
          <p:nvPr/>
        </p:nvSpPr>
        <p:spPr>
          <a:xfrm>
            <a:off x="7140297" y="3794760"/>
            <a:ext cx="4271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Uttar Pradesh, Gujarat, Maharashtra, Tamil Nadu and Madhya Pradesh.</a:t>
            </a:r>
            <a:endParaRPr lang="en-US" sz="1300" dirty="0"/>
          </a:p>
        </p:txBody>
      </p:sp>
      <p:sp>
        <p:nvSpPr>
          <p:cNvPr id="12" name="Text"/>
          <p:cNvSpPr txBox="1"/>
          <p:nvPr/>
        </p:nvSpPr>
        <p:spPr>
          <a:xfrm>
            <a:off x="7140297" y="4343400"/>
            <a:ext cx="4271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38</a:t>
            </a:r>
            <a:endParaRPr lang="en-US" sz="3200" dirty="0"/>
          </a:p>
        </p:txBody>
      </p:sp>
      <p:sp>
        <p:nvSpPr>
          <p:cNvPr id="13" name="Text"/>
          <p:cNvSpPr txBox="1"/>
          <p:nvPr/>
        </p:nvSpPr>
        <p:spPr>
          <a:xfrm>
            <a:off x="7140297" y="4910328"/>
            <a:ext cx="4271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warranties end within 60 days</a:t>
            </a:r>
            <a:endParaRPr lang="en-US" sz="1500" dirty="0"/>
          </a:p>
        </p:txBody>
      </p:sp>
      <p:sp>
        <p:nvSpPr>
          <p:cNvPr id="14" name="Text"/>
          <p:cNvSpPr txBox="1"/>
          <p:nvPr/>
        </p:nvSpPr>
        <p:spPr>
          <a:xfrm>
            <a:off x="7140297" y="5212080"/>
            <a:ext cx="4271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Of the 540 most recent registrations.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3072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  <a:latin typeface="Outfit"/>
                <a:ea typeface="Outfit"/>
                <a:cs typeface="Outfit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 pill"/>
          <p:cNvSpPr/>
          <p:nvPr/>
        </p:nvSpPr>
        <p:spPr>
          <a:xfrm>
            <a:off x="777240" y="502920"/>
            <a:ext cx="1673352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" name="Tag: Company portal"/>
          <p:cNvSpPr txBox="1"/>
          <p:nvPr/>
        </p:nvSpPr>
        <p:spPr>
          <a:xfrm>
            <a:off x="777240" y="502920"/>
            <a:ext cx="1673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COMPANY PORTAL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77240" y="8686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Click a state, see its districts</a:t>
            </a:r>
            <a:endParaRPr lang="en-US" sz="3000" dirty="0"/>
          </a:p>
        </p:txBody>
      </p:sp>
      <p:pic>
        <p:nvPicPr>
          <p:cNvPr id="5" name="State drill-down" descr="Uttar Pradesh zoomed in with its districts as circles and a ranked list of top distric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08760"/>
            <a:ext cx="5951577" cy="470916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E3D3A">
                <a:alpha val="18000"/>
              </a:srgbClr>
            </a:outerShdw>
          </a:effectLst>
        </p:spPr>
      </p:pic>
      <p:sp>
        <p:nvSpPr>
          <p:cNvPr id="6" name="Text"/>
          <p:cNvSpPr txBox="1"/>
          <p:nvPr/>
        </p:nvSpPr>
        <p:spPr>
          <a:xfrm>
            <a:off x="7140297" y="1508760"/>
            <a:ext cx="4271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27,529</a:t>
            </a:r>
            <a:endParaRPr lang="en-US" sz="3200" dirty="0"/>
          </a:p>
        </p:txBody>
      </p:sp>
      <p:sp>
        <p:nvSpPr>
          <p:cNvPr id="7" name="Text"/>
          <p:cNvSpPr txBox="1"/>
          <p:nvPr/>
        </p:nvSpPr>
        <p:spPr>
          <a:xfrm>
            <a:off x="7140297" y="2075688"/>
            <a:ext cx="4271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registered in Uttar Pradesh</a:t>
            </a:r>
            <a:endParaRPr lang="en-US" sz="1500" dirty="0"/>
          </a:p>
        </p:txBody>
      </p:sp>
      <p:sp>
        <p:nvSpPr>
          <p:cNvPr id="8" name="Text"/>
          <p:cNvSpPr txBox="1"/>
          <p:nvPr/>
        </p:nvSpPr>
        <p:spPr>
          <a:xfrm>
            <a:off x="7140297" y="2377440"/>
            <a:ext cx="4271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largest state, ahead of Gujarat on 15,077.</a:t>
            </a:r>
            <a:endParaRPr lang="en-US" sz="1300" dirty="0"/>
          </a:p>
        </p:txBody>
      </p:sp>
      <p:sp>
        <p:nvSpPr>
          <p:cNvPr id="9" name="Text"/>
          <p:cNvSpPr txBox="1"/>
          <p:nvPr/>
        </p:nvSpPr>
        <p:spPr>
          <a:xfrm>
            <a:off x="7140297" y="2926080"/>
            <a:ext cx="4271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2,316</a:t>
            </a:r>
            <a:endParaRPr lang="en-US" sz="3200" dirty="0"/>
          </a:p>
        </p:txBody>
      </p:sp>
      <p:sp>
        <p:nvSpPr>
          <p:cNvPr id="10" name="Text"/>
          <p:cNvSpPr txBox="1"/>
          <p:nvPr/>
        </p:nvSpPr>
        <p:spPr>
          <a:xfrm>
            <a:off x="7140297" y="3493008"/>
            <a:ext cx="4271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 Gautam Buddha Nagar</a:t>
            </a:r>
            <a:endParaRPr lang="en-US" sz="1500" dirty="0"/>
          </a:p>
        </p:txBody>
      </p:sp>
      <p:sp>
        <p:nvSpPr>
          <p:cNvPr id="11" name="Text"/>
          <p:cNvSpPr txBox="1"/>
          <p:nvPr/>
        </p:nvSpPr>
        <p:spPr>
          <a:xfrm>
            <a:off x="7140297" y="3794760"/>
            <a:ext cx="4271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busiest district, then Ghaziabad (1,987) and Kanpur Nagar (1,848).</a:t>
            </a:r>
            <a:endParaRPr lang="en-US" sz="1300" dirty="0"/>
          </a:p>
        </p:txBody>
      </p:sp>
      <p:sp>
        <p:nvSpPr>
          <p:cNvPr id="12" name="Text"/>
          <p:cNvSpPr txBox="1"/>
          <p:nvPr/>
        </p:nvSpPr>
        <p:spPr>
          <a:xfrm>
            <a:off x="7140297" y="4343400"/>
            <a:ext cx="4271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 click</a:t>
            </a:r>
            <a:endParaRPr lang="en-US" sz="3200" dirty="0"/>
          </a:p>
        </p:txBody>
      </p:sp>
      <p:sp>
        <p:nvSpPr>
          <p:cNvPr id="13" name="Text"/>
          <p:cNvSpPr txBox="1"/>
          <p:nvPr/>
        </p:nvSpPr>
        <p:spPr>
          <a:xfrm>
            <a:off x="7140297" y="4910328"/>
            <a:ext cx="4271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to zoom and re-rank</a:t>
            </a:r>
            <a:endParaRPr lang="en-US" sz="1500" dirty="0"/>
          </a:p>
        </p:txBody>
      </p:sp>
      <p:sp>
        <p:nvSpPr>
          <p:cNvPr id="14" name="Text"/>
          <p:cNvSpPr txBox="1"/>
          <p:nvPr/>
        </p:nvSpPr>
        <p:spPr>
          <a:xfrm>
            <a:off x="7140297" y="5212080"/>
            <a:ext cx="4271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side list switches from states to the busiest districts.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3072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  <a:latin typeface="Outfit"/>
                <a:ea typeface="Outfit"/>
                <a:cs typeface="Outfit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 pill"/>
          <p:cNvSpPr/>
          <p:nvPr/>
        </p:nvSpPr>
        <p:spPr>
          <a:xfrm>
            <a:off x="5257800" y="502920"/>
            <a:ext cx="1673352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" name="Tag: Company portal"/>
          <p:cNvSpPr txBox="1"/>
          <p:nvPr/>
        </p:nvSpPr>
        <p:spPr>
          <a:xfrm>
            <a:off x="5257800" y="502920"/>
            <a:ext cx="1673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COMPANY PORTAL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77240" y="868680"/>
            <a:ext cx="106344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Today's sales, in light or dark</a:t>
            </a:r>
            <a:endParaRPr lang="en-US" sz="3000" dirty="0"/>
          </a:p>
        </p:txBody>
      </p:sp>
      <p:pic>
        <p:nvPicPr>
          <p:cNvPr id="5" name="Today view" descr="Map switched to today's registrati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2318" y="1783080"/>
            <a:ext cx="4969278" cy="393192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E3D3A">
                <a:alpha val="18000"/>
              </a:srgbClr>
            </a:outerShdw>
          </a:effectLst>
        </p:spPr>
      </p:pic>
      <p:pic>
        <p:nvPicPr>
          <p:cNvPr id="6" name="Dark theme" descr="The same portal in dark the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7356" y="1783080"/>
            <a:ext cx="4969278" cy="393192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E3D3A">
                <a:alpha val="18000"/>
              </a:srgbClr>
            </a:outerShdw>
          </a:effectLst>
        </p:spPr>
      </p:pic>
      <p:sp>
        <p:nvSpPr>
          <p:cNvPr id="7" name="Text"/>
          <p:cNvSpPr txBox="1"/>
          <p:nvPr/>
        </p:nvSpPr>
        <p:spPr>
          <a:xfrm>
            <a:off x="942318" y="5852160"/>
            <a:ext cx="49692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Today view</a:t>
            </a:r>
            <a:endParaRPr lang="en-US" sz="1500" dirty="0"/>
          </a:p>
        </p:txBody>
      </p:sp>
      <p:sp>
        <p:nvSpPr>
          <p:cNvPr id="8" name="Text"/>
          <p:cNvSpPr txBox="1"/>
          <p:nvPr/>
        </p:nvSpPr>
        <p:spPr>
          <a:xfrm>
            <a:off x="942318" y="6126480"/>
            <a:ext cx="49692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Switch the map to today's registrations to see where bikes are selling right now.</a:t>
            </a:r>
            <a:endParaRPr lang="en-US" sz="1200" dirty="0"/>
          </a:p>
        </p:txBody>
      </p:sp>
      <p:sp>
        <p:nvSpPr>
          <p:cNvPr id="9" name="Text"/>
          <p:cNvSpPr txBox="1"/>
          <p:nvPr/>
        </p:nvSpPr>
        <p:spPr>
          <a:xfrm>
            <a:off x="6277356" y="5852160"/>
            <a:ext cx="49692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Dark theme</a:t>
            </a:r>
            <a:endParaRPr lang="en-US" sz="1500" dirty="0"/>
          </a:p>
        </p:txBody>
      </p:sp>
      <p:sp>
        <p:nvSpPr>
          <p:cNvPr id="10" name="Text"/>
          <p:cNvSpPr txBox="1"/>
          <p:nvPr/>
        </p:nvSpPr>
        <p:spPr>
          <a:xfrm>
            <a:off x="6277356" y="6126480"/>
            <a:ext cx="49692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Stronger colour means more registrations in both themes.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3072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  <a:latin typeface="Outfit"/>
                <a:ea typeface="Outfit"/>
                <a:cs typeface="Outfit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 pill"/>
          <p:cNvSpPr/>
          <p:nvPr/>
        </p:nvSpPr>
        <p:spPr>
          <a:xfrm>
            <a:off x="777240" y="502920"/>
            <a:ext cx="1673352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" name="Tag: Company portal"/>
          <p:cNvSpPr txBox="1"/>
          <p:nvPr/>
        </p:nvSpPr>
        <p:spPr>
          <a:xfrm>
            <a:off x="777240" y="502920"/>
            <a:ext cx="1673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COMPANY PORTAL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77240" y="8686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Area report with district breakdown</a:t>
            </a:r>
            <a:endParaRPr lang="en-US" sz="3000" dirty="0"/>
          </a:p>
        </p:txBody>
      </p:sp>
      <p:pic>
        <p:nvPicPr>
          <p:cNvPr id="5" name="Area report" descr="Area-wise report with two states expanded into their distric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08760"/>
            <a:ext cx="5594482" cy="470916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E3D3A">
                <a:alpha val="18000"/>
              </a:srgbClr>
            </a:outerShdw>
          </a:effectLst>
        </p:spPr>
      </p:pic>
      <p:sp>
        <p:nvSpPr>
          <p:cNvPr id="6" name="Text"/>
          <p:cNvSpPr txBox="1"/>
          <p:nvPr/>
        </p:nvSpPr>
        <p:spPr>
          <a:xfrm>
            <a:off x="6783202" y="1508760"/>
            <a:ext cx="462851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36</a:t>
            </a:r>
            <a:endParaRPr lang="en-US" sz="3200" dirty="0"/>
          </a:p>
        </p:txBody>
      </p:sp>
      <p:sp>
        <p:nvSpPr>
          <p:cNvPr id="7" name="Text"/>
          <p:cNvSpPr txBox="1"/>
          <p:nvPr/>
        </p:nvSpPr>
        <p:spPr>
          <a:xfrm>
            <a:off x="6783202" y="2075688"/>
            <a:ext cx="4628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states and union territories</a:t>
            </a:r>
            <a:endParaRPr lang="en-US" sz="1500" dirty="0"/>
          </a:p>
        </p:txBody>
      </p:sp>
      <p:sp>
        <p:nvSpPr>
          <p:cNvPr id="8" name="Text"/>
          <p:cNvSpPr txBox="1"/>
          <p:nvPr/>
        </p:nvSpPr>
        <p:spPr>
          <a:xfrm>
            <a:off x="6783202" y="2377440"/>
            <a:ext cx="46285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by registered, today or name, or search a state.</a:t>
            </a:r>
            <a:endParaRPr lang="en-US" sz="1300" dirty="0"/>
          </a:p>
        </p:txBody>
      </p:sp>
      <p:sp>
        <p:nvSpPr>
          <p:cNvPr id="9" name="Text"/>
          <p:cNvSpPr txBox="1"/>
          <p:nvPr/>
        </p:nvSpPr>
        <p:spPr>
          <a:xfrm>
            <a:off x="6783202" y="2926080"/>
            <a:ext cx="462851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Share</a:t>
            </a:r>
            <a:endParaRPr lang="en-US" sz="3200" dirty="0"/>
          </a:p>
        </p:txBody>
      </p:sp>
      <p:sp>
        <p:nvSpPr>
          <p:cNvPr id="10" name="Text"/>
          <p:cNvSpPr txBox="1"/>
          <p:nvPr/>
        </p:nvSpPr>
        <p:spPr>
          <a:xfrm>
            <a:off x="6783202" y="3493008"/>
            <a:ext cx="4628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of each state and district</a:t>
            </a:r>
            <a:endParaRPr lang="en-US" sz="1500" dirty="0"/>
          </a:p>
        </p:txBody>
      </p:sp>
      <p:sp>
        <p:nvSpPr>
          <p:cNvPr id="11" name="Text"/>
          <p:cNvSpPr txBox="1"/>
          <p:nvPr/>
        </p:nvSpPr>
        <p:spPr>
          <a:xfrm>
            <a:off x="6783202" y="3794760"/>
            <a:ext cx="46285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Every row shows its percentage of the total or of its state.</a:t>
            </a:r>
            <a:endParaRPr lang="en-US" sz="1300" dirty="0"/>
          </a:p>
        </p:txBody>
      </p:sp>
      <p:sp>
        <p:nvSpPr>
          <p:cNvPr id="12" name="Text"/>
          <p:cNvSpPr txBox="1"/>
          <p:nvPr/>
        </p:nvSpPr>
        <p:spPr>
          <a:xfrm>
            <a:off x="6783202" y="4343400"/>
            <a:ext cx="462851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Live</a:t>
            </a:r>
            <a:endParaRPr lang="en-US" sz="3200" dirty="0"/>
          </a:p>
        </p:txBody>
      </p:sp>
      <p:sp>
        <p:nvSpPr>
          <p:cNvPr id="13" name="Text"/>
          <p:cNvSpPr txBox="1"/>
          <p:nvPr/>
        </p:nvSpPr>
        <p:spPr>
          <a:xfrm>
            <a:off x="6783202" y="4910328"/>
            <a:ext cx="4628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totals</a:t>
            </a:r>
            <a:endParaRPr lang="en-US" sz="1500" dirty="0"/>
          </a:p>
        </p:txBody>
      </p:sp>
      <p:sp>
        <p:nvSpPr>
          <p:cNvPr id="14" name="Text"/>
          <p:cNvSpPr txBox="1"/>
          <p:nvPr/>
        </p:nvSpPr>
        <p:spPr>
          <a:xfrm>
            <a:off x="6783202" y="5212080"/>
            <a:ext cx="46285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Numbers move as dealers register bikes.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3072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  <a:latin typeface="Outfit"/>
                <a:ea typeface="Outfit"/>
                <a:cs typeface="Outfit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 pill"/>
          <p:cNvSpPr/>
          <p:nvPr/>
        </p:nvSpPr>
        <p:spPr>
          <a:xfrm>
            <a:off x="777240" y="502920"/>
            <a:ext cx="1673352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" name="Tag: Company portal"/>
          <p:cNvSpPr txBox="1"/>
          <p:nvPr/>
        </p:nvSpPr>
        <p:spPr>
          <a:xfrm>
            <a:off x="777240" y="502920"/>
            <a:ext cx="1673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COMPANY PORTAL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77240" y="8686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Warranties ending soon, by part</a:t>
            </a:r>
            <a:endParaRPr lang="en-US" sz="3000" dirty="0"/>
          </a:p>
        </p:txBody>
      </p:sp>
      <p:pic>
        <p:nvPicPr>
          <p:cNvPr id="5" name="Warranty register" descr="Warranty register filtered to expiring soon, with status counts and part breakd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08760"/>
            <a:ext cx="5594482" cy="470916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E3D3A">
                <a:alpha val="18000"/>
              </a:srgbClr>
            </a:outerShdw>
          </a:effectLst>
        </p:spPr>
      </p:pic>
      <p:sp>
        <p:nvSpPr>
          <p:cNvPr id="6" name="Text"/>
          <p:cNvSpPr txBox="1"/>
          <p:nvPr/>
        </p:nvSpPr>
        <p:spPr>
          <a:xfrm>
            <a:off x="6783202" y="1508760"/>
            <a:ext cx="462851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38 of 540</a:t>
            </a:r>
            <a:endParaRPr lang="en-US" sz="3200" dirty="0"/>
          </a:p>
        </p:txBody>
      </p:sp>
      <p:sp>
        <p:nvSpPr>
          <p:cNvPr id="7" name="Text"/>
          <p:cNvSpPr txBox="1"/>
          <p:nvPr/>
        </p:nvSpPr>
        <p:spPr>
          <a:xfrm>
            <a:off x="6783202" y="2075688"/>
            <a:ext cx="4628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end within 60 days</a:t>
            </a:r>
            <a:endParaRPr lang="en-US" sz="1500" dirty="0"/>
          </a:p>
        </p:txBody>
      </p:sp>
      <p:sp>
        <p:nvSpPr>
          <p:cNvPr id="8" name="Text"/>
          <p:cNvSpPr txBox="1"/>
          <p:nvPr/>
        </p:nvSpPr>
        <p:spPr>
          <a:xfrm>
            <a:off x="6783202" y="2377440"/>
            <a:ext cx="46285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One click on Expiring soon lists them, with the time left on each part.</a:t>
            </a:r>
            <a:endParaRPr lang="en-US" sz="1300" dirty="0"/>
          </a:p>
        </p:txBody>
      </p:sp>
      <p:sp>
        <p:nvSpPr>
          <p:cNvPr id="9" name="Text"/>
          <p:cNvSpPr txBox="1"/>
          <p:nvPr/>
        </p:nvSpPr>
        <p:spPr>
          <a:xfrm>
            <a:off x="6783202" y="2926080"/>
            <a:ext cx="462851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83%</a:t>
            </a:r>
            <a:endParaRPr lang="en-US" sz="3200" dirty="0"/>
          </a:p>
        </p:txBody>
      </p:sp>
      <p:sp>
        <p:nvSpPr>
          <p:cNvPr id="10" name="Text"/>
          <p:cNvSpPr txBox="1"/>
          <p:nvPr/>
        </p:nvSpPr>
        <p:spPr>
          <a:xfrm>
            <a:off x="6783202" y="3493008"/>
            <a:ext cx="4628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of controllers still active</a:t>
            </a:r>
            <a:endParaRPr lang="en-US" sz="1500" dirty="0"/>
          </a:p>
        </p:txBody>
      </p:sp>
      <p:sp>
        <p:nvSpPr>
          <p:cNvPr id="11" name="Text"/>
          <p:cNvSpPr txBox="1"/>
          <p:nvPr/>
        </p:nvSpPr>
        <p:spPr>
          <a:xfrm>
            <a:off x="6783202" y="3794760"/>
            <a:ext cx="46285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Batteries 84%, motors 96%. Controllers and batteries run out first.</a:t>
            </a:r>
            <a:endParaRPr lang="en-US" sz="1300" dirty="0"/>
          </a:p>
        </p:txBody>
      </p:sp>
      <p:sp>
        <p:nvSpPr>
          <p:cNvPr id="12" name="Text"/>
          <p:cNvSpPr txBox="1"/>
          <p:nvPr/>
        </p:nvSpPr>
        <p:spPr>
          <a:xfrm>
            <a:off x="6783202" y="4343400"/>
            <a:ext cx="462851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17</a:t>
            </a:r>
            <a:endParaRPr lang="en-US" sz="3200" dirty="0"/>
          </a:p>
        </p:txBody>
      </p:sp>
      <p:sp>
        <p:nvSpPr>
          <p:cNvPr id="13" name="Text"/>
          <p:cNvSpPr txBox="1"/>
          <p:nvPr/>
        </p:nvSpPr>
        <p:spPr>
          <a:xfrm>
            <a:off x="6783202" y="4910328"/>
            <a:ext cx="4628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already expired</a:t>
            </a:r>
            <a:endParaRPr lang="en-US" sz="1500" dirty="0"/>
          </a:p>
        </p:txBody>
      </p:sp>
      <p:sp>
        <p:nvSpPr>
          <p:cNvPr id="14" name="Text"/>
          <p:cNvSpPr txBox="1"/>
          <p:nvPr/>
        </p:nvSpPr>
        <p:spPr>
          <a:xfrm>
            <a:off x="6783202" y="5212080"/>
            <a:ext cx="46285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Search by registration, owner, serial or district.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3072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  <a:latin typeface="Outfit"/>
                <a:ea typeface="Outfit"/>
                <a:cs typeface="Outfit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 pill"/>
          <p:cNvSpPr/>
          <p:nvPr/>
        </p:nvSpPr>
        <p:spPr>
          <a:xfrm>
            <a:off x="777240" y="502920"/>
            <a:ext cx="1152144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" name="Tag: Insights"/>
          <p:cNvSpPr txBox="1"/>
          <p:nvPr/>
        </p:nvSpPr>
        <p:spPr>
          <a:xfrm>
            <a:off x="777240" y="502920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INSIGHTS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77240" y="8686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Where the bikes are, and how covered they are</a:t>
            </a:r>
            <a:endParaRPr lang="en-US" sz="3000" dirty="0"/>
          </a:p>
        </p:txBody>
      </p:sp>
      <p:sp>
        <p:nvSpPr>
          <p:cNvPr id="5" name="Text"/>
          <p:cNvSpPr txBox="1"/>
          <p:nvPr/>
        </p:nvSpPr>
        <p:spPr>
          <a:xfrm>
            <a:off x="777240" y="17830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TOP FIVE STATES</a:t>
            </a:r>
            <a:endParaRPr lang="en-US" sz="10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85800" y="2011680"/>
          <a:ext cx="58521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"/>
          <p:cNvSpPr txBox="1"/>
          <p:nvPr/>
        </p:nvSpPr>
        <p:spPr>
          <a:xfrm>
            <a:off x="6675120" y="17830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WARRANTY STATUS, 540 RECENT BIKES</a:t>
            </a:r>
            <a:endParaRPr lang="en-US" sz="100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6492240" y="2057400"/>
          <a:ext cx="2560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Legend dot Active"/>
          <p:cNvSpPr/>
          <p:nvPr/>
        </p:nvSpPr>
        <p:spPr>
          <a:xfrm>
            <a:off x="9326880" y="2267712"/>
            <a:ext cx="182880" cy="182880"/>
          </a:xfrm>
          <a:prstGeom prst="ellipse">
            <a:avLst/>
          </a:prstGeom>
          <a:solidFill>
            <a:srgbClr val="8BE07F"/>
          </a:solidFill>
          <a:ln/>
        </p:spPr>
      </p:sp>
      <p:sp>
        <p:nvSpPr>
          <p:cNvPr id="10" name="Text"/>
          <p:cNvSpPr txBox="1"/>
          <p:nvPr/>
        </p:nvSpPr>
        <p:spPr>
          <a:xfrm>
            <a:off x="9646920" y="2194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Active</a:t>
            </a:r>
            <a:endParaRPr lang="en-US" sz="1300" dirty="0"/>
          </a:p>
        </p:txBody>
      </p:sp>
      <p:sp>
        <p:nvSpPr>
          <p:cNvPr id="11" name="Text"/>
          <p:cNvSpPr txBox="1"/>
          <p:nvPr/>
        </p:nvSpPr>
        <p:spPr>
          <a:xfrm>
            <a:off x="9646920" y="245059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485</a:t>
            </a:r>
            <a:endParaRPr lang="en-US" sz="2400" dirty="0"/>
          </a:p>
        </p:txBody>
      </p:sp>
      <p:sp>
        <p:nvSpPr>
          <p:cNvPr id="12" name="Legend dot Expiring soon"/>
          <p:cNvSpPr/>
          <p:nvPr/>
        </p:nvSpPr>
        <p:spPr>
          <a:xfrm>
            <a:off x="9326880" y="3044952"/>
            <a:ext cx="182880" cy="182880"/>
          </a:xfrm>
          <a:prstGeom prst="ellipse">
            <a:avLst/>
          </a:prstGeom>
          <a:solidFill>
            <a:srgbClr val="F4C766"/>
          </a:solidFill>
          <a:ln/>
        </p:spPr>
      </p:sp>
      <p:sp>
        <p:nvSpPr>
          <p:cNvPr id="13" name="Text"/>
          <p:cNvSpPr txBox="1"/>
          <p:nvPr/>
        </p:nvSpPr>
        <p:spPr>
          <a:xfrm>
            <a:off x="9646920" y="2971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Expiring soon</a:t>
            </a:r>
            <a:endParaRPr lang="en-US" sz="1300" dirty="0"/>
          </a:p>
        </p:txBody>
      </p:sp>
      <p:sp>
        <p:nvSpPr>
          <p:cNvPr id="14" name="Text"/>
          <p:cNvSpPr txBox="1"/>
          <p:nvPr/>
        </p:nvSpPr>
        <p:spPr>
          <a:xfrm>
            <a:off x="9646920" y="32278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38</a:t>
            </a:r>
            <a:endParaRPr lang="en-US" sz="2400" dirty="0"/>
          </a:p>
        </p:txBody>
      </p:sp>
      <p:sp>
        <p:nvSpPr>
          <p:cNvPr id="15" name="Legend dot Expired"/>
          <p:cNvSpPr/>
          <p:nvPr/>
        </p:nvSpPr>
        <p:spPr>
          <a:xfrm>
            <a:off x="9326880" y="3822192"/>
            <a:ext cx="182880" cy="182880"/>
          </a:xfrm>
          <a:prstGeom prst="ellipse">
            <a:avLst/>
          </a:prstGeom>
          <a:solidFill>
            <a:srgbClr val="F4A3A3"/>
          </a:solidFill>
          <a:ln/>
        </p:spPr>
      </p:sp>
      <p:sp>
        <p:nvSpPr>
          <p:cNvPr id="16" name="Text"/>
          <p:cNvSpPr txBox="1"/>
          <p:nvPr/>
        </p:nvSpPr>
        <p:spPr>
          <a:xfrm>
            <a:off x="9646920" y="3749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Expired</a:t>
            </a:r>
            <a:endParaRPr lang="en-US" sz="1300" dirty="0"/>
          </a:p>
        </p:txBody>
      </p:sp>
      <p:sp>
        <p:nvSpPr>
          <p:cNvPr id="17" name="Text"/>
          <p:cNvSpPr txBox="1"/>
          <p:nvPr/>
        </p:nvSpPr>
        <p:spPr>
          <a:xfrm>
            <a:off x="9646920" y="400507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17</a:t>
            </a:r>
            <a:endParaRPr lang="en-US" sz="2400" dirty="0"/>
          </a:p>
        </p:txBody>
      </p:sp>
      <p:sp>
        <p:nvSpPr>
          <p:cNvPr id="18" name="Insight callout"/>
          <p:cNvSpPr/>
          <p:nvPr/>
        </p:nvSpPr>
        <p:spPr>
          <a:xfrm>
            <a:off x="6492240" y="4892040"/>
            <a:ext cx="4937760" cy="822960"/>
          </a:xfrm>
          <a:prstGeom prst="roundRect">
            <a:avLst>
              <a:gd name="adj" fmla="val 15556"/>
            </a:avLst>
          </a:prstGeom>
          <a:solidFill>
            <a:schemeClr val="accent4"/>
          </a:solidFill>
          <a:ln/>
        </p:spPr>
      </p:sp>
      <p:sp>
        <p:nvSpPr>
          <p:cNvPr id="19" name="Text"/>
          <p:cNvSpPr txBox="1"/>
          <p:nvPr/>
        </p:nvSpPr>
        <p:spPr>
          <a:xfrm>
            <a:off x="6675120" y="4892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Five states hold 52% of registrations. 90% of recent bikes are fully covered, 7% need attention within 60 days.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3072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  <a:latin typeface="Outfit"/>
                <a:ea typeface="Outfit"/>
                <a:cs typeface="Outfit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 pill"/>
          <p:cNvSpPr/>
          <p:nvPr/>
        </p:nvSpPr>
        <p:spPr>
          <a:xfrm>
            <a:off x="777240" y="502920"/>
            <a:ext cx="1673352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" name="Tag: Company portal"/>
          <p:cNvSpPr txBox="1"/>
          <p:nvPr/>
        </p:nvSpPr>
        <p:spPr>
          <a:xfrm>
            <a:off x="777240" y="502920"/>
            <a:ext cx="1673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COMPANY PORTAL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77240" y="8686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Open any bike for its full record</a:t>
            </a:r>
            <a:endParaRPr lang="en-US" sz="3000" dirty="0"/>
          </a:p>
        </p:txBody>
      </p:sp>
      <p:pic>
        <p:nvPicPr>
          <p:cNvPr id="5" name="Vehicle record" descr="Vehicle record opened from the company portal: plate, registration, parts and warran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08760"/>
            <a:ext cx="5594482" cy="470916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E3D3A">
                <a:alpha val="18000"/>
              </a:srgbClr>
            </a:outerShdw>
          </a:effectLst>
        </p:spPr>
      </p:pic>
      <p:sp>
        <p:nvSpPr>
          <p:cNvPr id="6" name="Text"/>
          <p:cNvSpPr txBox="1"/>
          <p:nvPr/>
        </p:nvSpPr>
        <p:spPr>
          <a:xfrm>
            <a:off x="6783202" y="1508760"/>
            <a:ext cx="462851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Plate</a:t>
            </a:r>
            <a:endParaRPr lang="en-US" sz="3200" dirty="0"/>
          </a:p>
        </p:txBody>
      </p:sp>
      <p:sp>
        <p:nvSpPr>
          <p:cNvPr id="7" name="Text"/>
          <p:cNvSpPr txBox="1"/>
          <p:nvPr/>
        </p:nvSpPr>
        <p:spPr>
          <a:xfrm>
            <a:off x="6783202" y="2075688"/>
            <a:ext cx="4628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and registration period</a:t>
            </a:r>
            <a:endParaRPr lang="en-US" sz="1500" dirty="0"/>
          </a:p>
        </p:txBody>
      </p:sp>
      <p:sp>
        <p:nvSpPr>
          <p:cNvPr id="8" name="Text"/>
          <p:cNvSpPr txBox="1"/>
          <p:nvPr/>
        </p:nvSpPr>
        <p:spPr>
          <a:xfrm>
            <a:off x="6783202" y="2377440"/>
            <a:ext cx="46285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Registered and valid-till dates, chassis, location and the selling dealer.</a:t>
            </a:r>
            <a:endParaRPr lang="en-US" sz="1300" dirty="0"/>
          </a:p>
        </p:txBody>
      </p:sp>
      <p:sp>
        <p:nvSpPr>
          <p:cNvPr id="9" name="Text"/>
          <p:cNvSpPr txBox="1"/>
          <p:nvPr/>
        </p:nvSpPr>
        <p:spPr>
          <a:xfrm>
            <a:off x="6783202" y="2926080"/>
            <a:ext cx="462851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 parts</a:t>
            </a:r>
            <a:endParaRPr lang="en-US" sz="3200" dirty="0"/>
          </a:p>
        </p:txBody>
      </p:sp>
      <p:sp>
        <p:nvSpPr>
          <p:cNvPr id="10" name="Text"/>
          <p:cNvSpPr txBox="1"/>
          <p:nvPr/>
        </p:nvSpPr>
        <p:spPr>
          <a:xfrm>
            <a:off x="6783202" y="3493008"/>
            <a:ext cx="4628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each with its own warranty</a:t>
            </a:r>
            <a:endParaRPr lang="en-US" sz="1500" dirty="0"/>
          </a:p>
        </p:txBody>
      </p:sp>
      <p:sp>
        <p:nvSpPr>
          <p:cNvPr id="11" name="Text"/>
          <p:cNvSpPr txBox="1"/>
          <p:nvPr/>
        </p:nvSpPr>
        <p:spPr>
          <a:xfrm>
            <a:off x="6783202" y="3794760"/>
            <a:ext cx="46285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Motor number, controller and battery serials with the time left.</a:t>
            </a:r>
            <a:endParaRPr lang="en-US" sz="1300" dirty="0"/>
          </a:p>
        </p:txBody>
      </p:sp>
      <p:sp>
        <p:nvSpPr>
          <p:cNvPr id="12" name="Text"/>
          <p:cNvSpPr txBox="1"/>
          <p:nvPr/>
        </p:nvSpPr>
        <p:spPr>
          <a:xfrm>
            <a:off x="6783202" y="4343400"/>
            <a:ext cx="462851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History</a:t>
            </a:r>
            <a:endParaRPr lang="en-US" sz="3200" dirty="0"/>
          </a:p>
        </p:txBody>
      </p:sp>
      <p:sp>
        <p:nvSpPr>
          <p:cNvPr id="13" name="Text"/>
          <p:cNvSpPr txBox="1"/>
          <p:nvPr/>
        </p:nvSpPr>
        <p:spPr>
          <a:xfrm>
            <a:off x="6783202" y="4910328"/>
            <a:ext cx="4628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of every replacement</a:t>
            </a:r>
            <a:endParaRPr lang="en-US" sz="1500" dirty="0"/>
          </a:p>
        </p:txBody>
      </p:sp>
      <p:sp>
        <p:nvSpPr>
          <p:cNvPr id="14" name="Text"/>
          <p:cNvSpPr txBox="1"/>
          <p:nvPr/>
        </p:nvSpPr>
        <p:spPr>
          <a:xfrm>
            <a:off x="6783202" y="5212080"/>
            <a:ext cx="46285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Old and new serial for each part swap.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3072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  <a:latin typeface="Outfit"/>
                <a:ea typeface="Outfit"/>
                <a:cs typeface="Outfit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 pill"/>
          <p:cNvSpPr/>
          <p:nvPr/>
        </p:nvSpPr>
        <p:spPr>
          <a:xfrm>
            <a:off x="5648706" y="502920"/>
            <a:ext cx="89154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" name="Tag: Parts"/>
          <p:cNvSpPr txBox="1"/>
          <p:nvPr/>
        </p:nvSpPr>
        <p:spPr>
          <a:xfrm>
            <a:off x="5648706" y="502920"/>
            <a:ext cx="8915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PARTS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77240" y="868680"/>
            <a:ext cx="106344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Three parts, each with its own warranty</a:t>
            </a:r>
            <a:endParaRPr lang="en-US" sz="3000" dirty="0"/>
          </a:p>
        </p:txBody>
      </p:sp>
      <p:sp>
        <p:nvSpPr>
          <p:cNvPr id="5" name="Part card Motor"/>
          <p:cNvSpPr/>
          <p:nvPr/>
        </p:nvSpPr>
        <p:spPr>
          <a:xfrm>
            <a:off x="1088136" y="1965960"/>
            <a:ext cx="3154680" cy="3566160"/>
          </a:xfrm>
          <a:prstGeom prst="roundRect">
            <a:avLst>
              <a:gd name="adj" fmla="val 6377"/>
            </a:avLst>
          </a:prstGeom>
          <a:solidFill>
            <a:schemeClr val="bg1"/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6" name="Text"/>
          <p:cNvSpPr txBox="1"/>
          <p:nvPr/>
        </p:nvSpPr>
        <p:spPr>
          <a:xfrm>
            <a:off x="1088136" y="228600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chemeClr val="accent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MOTOR</a:t>
            </a:r>
            <a:endParaRPr lang="en-US" sz="1100" dirty="0"/>
          </a:p>
        </p:txBody>
      </p:sp>
      <p:sp>
        <p:nvSpPr>
          <p:cNvPr id="7" name="Term pill Motor"/>
          <p:cNvSpPr/>
          <p:nvPr/>
        </p:nvSpPr>
        <p:spPr>
          <a:xfrm>
            <a:off x="1499616" y="2697480"/>
            <a:ext cx="2331720" cy="7315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8" name="Text"/>
          <p:cNvSpPr txBox="1"/>
          <p:nvPr/>
        </p:nvSpPr>
        <p:spPr>
          <a:xfrm>
            <a:off x="1499616" y="26974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24-36 months</a:t>
            </a:r>
            <a:endParaRPr lang="en-US" sz="2200" dirty="0"/>
          </a:p>
        </p:txBody>
      </p:sp>
      <p:sp>
        <p:nvSpPr>
          <p:cNvPr id="9" name="Text"/>
          <p:cNvSpPr txBox="1"/>
          <p:nvPr/>
        </p:nvSpPr>
        <p:spPr>
          <a:xfrm>
            <a:off x="1362456" y="37490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Tracked by motor number</a:t>
            </a:r>
            <a:endParaRPr lang="en-US" sz="1400" dirty="0"/>
          </a:p>
        </p:txBody>
      </p:sp>
      <p:sp>
        <p:nvSpPr>
          <p:cNvPr id="10" name="Text"/>
          <p:cNvSpPr txBox="1"/>
          <p:nvPr/>
        </p:nvSpPr>
        <p:spPr>
          <a:xfrm>
            <a:off x="1362456" y="4160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MTR-250-8695278</a:t>
            </a:r>
            <a:endParaRPr lang="en-US" sz="1300" dirty="0"/>
          </a:p>
        </p:txBody>
      </p:sp>
      <p:sp>
        <p:nvSpPr>
          <p:cNvPr id="11" name="Text"/>
          <p:cNvSpPr txBox="1"/>
          <p:nvPr/>
        </p:nvSpPr>
        <p:spPr>
          <a:xfrm>
            <a:off x="1362456" y="46634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replacement starts a new warranty</a:t>
            </a:r>
            <a:endParaRPr lang="en-US" sz="1300" dirty="0"/>
          </a:p>
        </p:txBody>
      </p:sp>
      <p:sp>
        <p:nvSpPr>
          <p:cNvPr id="12" name="Part card Controller"/>
          <p:cNvSpPr/>
          <p:nvPr/>
        </p:nvSpPr>
        <p:spPr>
          <a:xfrm>
            <a:off x="4517136" y="1783080"/>
            <a:ext cx="3154680" cy="3931920"/>
          </a:xfrm>
          <a:prstGeom prst="roundRect">
            <a:avLst>
              <a:gd name="adj" fmla="val 6377"/>
            </a:avLst>
          </a:prstGeom>
          <a:solidFill>
            <a:schemeClr val="tx2"/>
          </a:solidFill>
          <a:ln/>
        </p:spPr>
      </p:sp>
      <p:sp>
        <p:nvSpPr>
          <p:cNvPr id="13" name="Text"/>
          <p:cNvSpPr txBox="1"/>
          <p:nvPr/>
        </p:nvSpPr>
        <p:spPr>
          <a:xfrm>
            <a:off x="4517136" y="21031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CONTROLLER</a:t>
            </a:r>
            <a:endParaRPr lang="en-US" sz="1100" dirty="0"/>
          </a:p>
        </p:txBody>
      </p:sp>
      <p:sp>
        <p:nvSpPr>
          <p:cNvPr id="14" name="Term pill Controller"/>
          <p:cNvSpPr/>
          <p:nvPr/>
        </p:nvSpPr>
        <p:spPr>
          <a:xfrm>
            <a:off x="4928616" y="2514600"/>
            <a:ext cx="2331720" cy="7315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15" name="Text"/>
          <p:cNvSpPr txBox="1"/>
          <p:nvPr/>
        </p:nvSpPr>
        <p:spPr>
          <a:xfrm>
            <a:off x="4928616" y="251460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24 months</a:t>
            </a:r>
            <a:endParaRPr lang="en-US" sz="2200" dirty="0"/>
          </a:p>
        </p:txBody>
      </p:sp>
      <p:sp>
        <p:nvSpPr>
          <p:cNvPr id="16" name="Text"/>
          <p:cNvSpPr txBox="1"/>
          <p:nvPr/>
        </p:nvSpPr>
        <p:spPr>
          <a:xfrm>
            <a:off x="4791456" y="356616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Tracked by controller serial</a:t>
            </a:r>
            <a:endParaRPr lang="en-US" sz="1400" dirty="0"/>
          </a:p>
        </p:txBody>
      </p:sp>
      <p:sp>
        <p:nvSpPr>
          <p:cNvPr id="17" name="Text"/>
          <p:cNvSpPr txBox="1"/>
          <p:nvPr/>
        </p:nvSpPr>
        <p:spPr>
          <a:xfrm>
            <a:off x="4791456" y="39776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CTL-48V-725741</a:t>
            </a:r>
            <a:endParaRPr lang="en-US" sz="1300" dirty="0"/>
          </a:p>
        </p:txBody>
      </p:sp>
      <p:sp>
        <p:nvSpPr>
          <p:cNvPr id="18" name="Text"/>
          <p:cNvSpPr txBox="1"/>
          <p:nvPr/>
        </p:nvSpPr>
        <p:spPr>
          <a:xfrm>
            <a:off x="4791456" y="448056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replacement starts a new warranty</a:t>
            </a:r>
            <a:endParaRPr lang="en-US" sz="1300" dirty="0"/>
          </a:p>
        </p:txBody>
      </p:sp>
      <p:sp>
        <p:nvSpPr>
          <p:cNvPr id="19" name="Part card Battery"/>
          <p:cNvSpPr/>
          <p:nvPr/>
        </p:nvSpPr>
        <p:spPr>
          <a:xfrm>
            <a:off x="7946136" y="1965960"/>
            <a:ext cx="3154680" cy="3566160"/>
          </a:xfrm>
          <a:prstGeom prst="roundRect">
            <a:avLst>
              <a:gd name="adj" fmla="val 6377"/>
            </a:avLst>
          </a:prstGeom>
          <a:solidFill>
            <a:schemeClr val="bg1"/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20" name="Text"/>
          <p:cNvSpPr txBox="1"/>
          <p:nvPr/>
        </p:nvSpPr>
        <p:spPr>
          <a:xfrm>
            <a:off x="7946136" y="228600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chemeClr val="accent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BATTERY</a:t>
            </a:r>
            <a:endParaRPr lang="en-US" sz="1100" dirty="0"/>
          </a:p>
        </p:txBody>
      </p:sp>
      <p:sp>
        <p:nvSpPr>
          <p:cNvPr id="21" name="Term pill Battery"/>
          <p:cNvSpPr/>
          <p:nvPr/>
        </p:nvSpPr>
        <p:spPr>
          <a:xfrm>
            <a:off x="8357616" y="2697480"/>
            <a:ext cx="2331720" cy="7315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22" name="Text"/>
          <p:cNvSpPr txBox="1"/>
          <p:nvPr/>
        </p:nvSpPr>
        <p:spPr>
          <a:xfrm>
            <a:off x="8357616" y="26974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18-30 months</a:t>
            </a:r>
            <a:endParaRPr lang="en-US" sz="2200" dirty="0"/>
          </a:p>
        </p:txBody>
      </p:sp>
      <p:sp>
        <p:nvSpPr>
          <p:cNvPr id="23" name="Text"/>
          <p:cNvSpPr txBox="1"/>
          <p:nvPr/>
        </p:nvSpPr>
        <p:spPr>
          <a:xfrm>
            <a:off x="8220456" y="37490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Tracked by battery serial</a:t>
            </a:r>
            <a:endParaRPr lang="en-US" sz="1400" dirty="0"/>
          </a:p>
        </p:txBody>
      </p:sp>
      <p:sp>
        <p:nvSpPr>
          <p:cNvPr id="24" name="Text"/>
          <p:cNvSpPr txBox="1"/>
          <p:nvPr/>
        </p:nvSpPr>
        <p:spPr>
          <a:xfrm>
            <a:off x="8220456" y="4160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BAT-48V20-7257410</a:t>
            </a:r>
            <a:endParaRPr lang="en-US" sz="1300" dirty="0"/>
          </a:p>
        </p:txBody>
      </p:sp>
      <p:sp>
        <p:nvSpPr>
          <p:cNvPr id="25" name="Text"/>
          <p:cNvSpPr txBox="1"/>
          <p:nvPr/>
        </p:nvSpPr>
        <p:spPr>
          <a:xfrm>
            <a:off x="8220456" y="46634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replacement starts a new warranty</a:t>
            </a:r>
            <a:endParaRPr lang="en-US" sz="1300" dirty="0"/>
          </a:p>
        </p:txBody>
      </p:sp>
      <p:sp>
        <p:nvSpPr>
          <p:cNvPr id="26" name="Text"/>
          <p:cNvSpPr txBox="1"/>
          <p:nvPr/>
        </p:nvSpPr>
        <p:spPr>
          <a:xfrm>
            <a:off x="777240" y="5897880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Terms vary by model. Shown from the demo's model list.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3072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  <a:latin typeface="Outfit"/>
                <a:ea typeface="Outfit"/>
                <a:cs typeface="Outfit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 pill"/>
          <p:cNvSpPr/>
          <p:nvPr/>
        </p:nvSpPr>
        <p:spPr>
          <a:xfrm>
            <a:off x="5344668" y="502920"/>
            <a:ext cx="1499616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" name="Tag: On the phone"/>
          <p:cNvSpPr txBox="1"/>
          <p:nvPr/>
        </p:nvSpPr>
        <p:spPr>
          <a:xfrm>
            <a:off x="5344668" y="502920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ON THE PHONE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77240" y="868680"/>
            <a:ext cx="106344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Built for the shop counter and the owner's pocket</a:t>
            </a:r>
            <a:endParaRPr lang="en-US" sz="3000" dirty="0"/>
          </a:p>
        </p:txBody>
      </p:sp>
      <p:sp>
        <p:nvSpPr>
          <p:cNvPr id="5" name="Header Dealers"/>
          <p:cNvSpPr/>
          <p:nvPr/>
        </p:nvSpPr>
        <p:spPr>
          <a:xfrm>
            <a:off x="745236" y="1783080"/>
            <a:ext cx="5212080" cy="411480"/>
          </a:xfrm>
          <a:prstGeom prst="roundRect">
            <a:avLst>
              <a:gd name="adj" fmla="val 22222"/>
            </a:avLst>
          </a:prstGeom>
          <a:solidFill>
            <a:schemeClr val="accent3"/>
          </a:solidFill>
          <a:ln/>
        </p:spPr>
      </p:sp>
      <p:sp>
        <p:nvSpPr>
          <p:cNvPr id="6" name="Text"/>
          <p:cNvSpPr txBox="1"/>
          <p:nvPr/>
        </p:nvSpPr>
        <p:spPr>
          <a:xfrm>
            <a:off x="745236" y="178308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Dealers</a:t>
            </a:r>
            <a:endParaRPr lang="en-US" sz="1400" dirty="0"/>
          </a:p>
        </p:txBody>
      </p:sp>
      <p:sp>
        <p:nvSpPr>
          <p:cNvPr id="7" name="Dealers: Register in one form frame"/>
          <p:cNvSpPr/>
          <p:nvPr/>
        </p:nvSpPr>
        <p:spPr>
          <a:xfrm>
            <a:off x="1231417" y="2377440"/>
            <a:ext cx="1633677" cy="3429000"/>
          </a:xfrm>
          <a:prstGeom prst="roundRect">
            <a:avLst>
              <a:gd name="adj" fmla="val 12314"/>
            </a:avLst>
          </a:prstGeom>
          <a:solidFill>
            <a:schemeClr val="tx1"/>
          </a:solidFill>
          <a:ln/>
          <a:effectLst>
            <a:outerShdw sx="100000" sy="100000" kx="0" ky="0" algn="bl" rotWithShape="0" blurRad="152400" dist="38100" dir="5400000">
              <a:srgbClr val="0E3D3A">
                <a:alpha val="12000"/>
              </a:srgbClr>
            </a:outerShdw>
          </a:effectLst>
        </p:spPr>
      </p:sp>
      <p:pic>
        <p:nvPicPr>
          <p:cNvPr id="8" name="Dealers: Register in one form" descr="Dealers: Register in one for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7137" y="2423160"/>
            <a:ext cx="1542237" cy="3337560"/>
          </a:xfrm>
          <a:prstGeom prst="rect">
            <a:avLst/>
          </a:prstGeom>
        </p:spPr>
      </p:pic>
      <p:sp>
        <p:nvSpPr>
          <p:cNvPr id="9" name="Text"/>
          <p:cNvSpPr txBox="1"/>
          <p:nvPr/>
        </p:nvSpPr>
        <p:spPr>
          <a:xfrm>
            <a:off x="859536" y="5943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Register in one form</a:t>
            </a:r>
            <a:endParaRPr lang="en-US" sz="1200" dirty="0"/>
          </a:p>
        </p:txBody>
      </p:sp>
      <p:sp>
        <p:nvSpPr>
          <p:cNvPr id="10" name="Dealers: Scan the plate QR frame"/>
          <p:cNvSpPr/>
          <p:nvPr/>
        </p:nvSpPr>
        <p:spPr>
          <a:xfrm>
            <a:off x="3837457" y="2377440"/>
            <a:ext cx="1633677" cy="3429000"/>
          </a:xfrm>
          <a:prstGeom prst="roundRect">
            <a:avLst>
              <a:gd name="adj" fmla="val 12314"/>
            </a:avLst>
          </a:prstGeom>
          <a:solidFill>
            <a:schemeClr val="tx1"/>
          </a:solidFill>
          <a:ln/>
          <a:effectLst>
            <a:outerShdw sx="100000" sy="100000" kx="0" ky="0" algn="bl" rotWithShape="0" blurRad="152400" dist="38100" dir="5400000">
              <a:srgbClr val="0E3D3A">
                <a:alpha val="12000"/>
              </a:srgbClr>
            </a:outerShdw>
          </a:effectLst>
        </p:spPr>
      </p:sp>
      <p:pic>
        <p:nvPicPr>
          <p:cNvPr id="11" name="Dealers: Scan the plate QR" descr="Dealers: Scan the plate Q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3177" y="2423160"/>
            <a:ext cx="1542237" cy="3337560"/>
          </a:xfrm>
          <a:prstGeom prst="rect">
            <a:avLst/>
          </a:prstGeom>
        </p:spPr>
      </p:pic>
      <p:sp>
        <p:nvSpPr>
          <p:cNvPr id="12" name="Text"/>
          <p:cNvSpPr txBox="1"/>
          <p:nvPr/>
        </p:nvSpPr>
        <p:spPr>
          <a:xfrm>
            <a:off x="3465576" y="5943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Scan the plate QR</a:t>
            </a:r>
            <a:endParaRPr lang="en-US" sz="1200" dirty="0"/>
          </a:p>
        </p:txBody>
      </p:sp>
      <p:sp>
        <p:nvSpPr>
          <p:cNvPr id="13" name="Header Vehicle owners"/>
          <p:cNvSpPr/>
          <p:nvPr/>
        </p:nvSpPr>
        <p:spPr>
          <a:xfrm>
            <a:off x="6231636" y="1783080"/>
            <a:ext cx="5212080" cy="411480"/>
          </a:xfrm>
          <a:prstGeom prst="roundRect">
            <a:avLst>
              <a:gd name="adj" fmla="val 22222"/>
            </a:avLst>
          </a:prstGeom>
          <a:solidFill>
            <a:schemeClr val="accent3"/>
          </a:solidFill>
          <a:ln/>
        </p:spPr>
      </p:sp>
      <p:sp>
        <p:nvSpPr>
          <p:cNvPr id="14" name="Text"/>
          <p:cNvSpPr txBox="1"/>
          <p:nvPr/>
        </p:nvSpPr>
        <p:spPr>
          <a:xfrm>
            <a:off x="6231636" y="178308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Vehicle owners</a:t>
            </a:r>
            <a:endParaRPr lang="en-US" sz="1400" dirty="0"/>
          </a:p>
        </p:txBody>
      </p:sp>
      <p:sp>
        <p:nvSpPr>
          <p:cNvPr id="15" name="Vehicle owners: Registration and QR frame"/>
          <p:cNvSpPr/>
          <p:nvPr/>
        </p:nvSpPr>
        <p:spPr>
          <a:xfrm>
            <a:off x="6717817" y="2377440"/>
            <a:ext cx="1633677" cy="3429000"/>
          </a:xfrm>
          <a:prstGeom prst="roundRect">
            <a:avLst>
              <a:gd name="adj" fmla="val 12314"/>
            </a:avLst>
          </a:prstGeom>
          <a:solidFill>
            <a:schemeClr val="tx1"/>
          </a:solidFill>
          <a:ln/>
          <a:effectLst>
            <a:outerShdw sx="100000" sy="100000" kx="0" ky="0" algn="bl" rotWithShape="0" blurRad="152400" dist="38100" dir="5400000">
              <a:srgbClr val="0E3D3A">
                <a:alpha val="12000"/>
              </a:srgbClr>
            </a:outerShdw>
          </a:effectLst>
        </p:spPr>
      </p:sp>
      <p:pic>
        <p:nvPicPr>
          <p:cNvPr id="16" name="Vehicle owners: Registration and QR" descr="Vehicle owners: Registration and Q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3537" y="2423160"/>
            <a:ext cx="1542237" cy="3337560"/>
          </a:xfrm>
          <a:prstGeom prst="rect">
            <a:avLst/>
          </a:prstGeom>
        </p:spPr>
      </p:pic>
      <p:sp>
        <p:nvSpPr>
          <p:cNvPr id="17" name="Text"/>
          <p:cNvSpPr txBox="1"/>
          <p:nvPr/>
        </p:nvSpPr>
        <p:spPr>
          <a:xfrm>
            <a:off x="6345936" y="5943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Registration and QR</a:t>
            </a:r>
            <a:endParaRPr lang="en-US" sz="1200" dirty="0"/>
          </a:p>
        </p:txBody>
      </p:sp>
      <p:sp>
        <p:nvSpPr>
          <p:cNvPr id="18" name="Vehicle owners: Warranty per part frame"/>
          <p:cNvSpPr/>
          <p:nvPr/>
        </p:nvSpPr>
        <p:spPr>
          <a:xfrm>
            <a:off x="9323857" y="2377440"/>
            <a:ext cx="1633677" cy="3429000"/>
          </a:xfrm>
          <a:prstGeom prst="roundRect">
            <a:avLst>
              <a:gd name="adj" fmla="val 12314"/>
            </a:avLst>
          </a:prstGeom>
          <a:solidFill>
            <a:schemeClr val="tx1"/>
          </a:solidFill>
          <a:ln/>
          <a:effectLst>
            <a:outerShdw sx="100000" sy="100000" kx="0" ky="0" algn="bl" rotWithShape="0" blurRad="152400" dist="38100" dir="5400000">
              <a:srgbClr val="0E3D3A">
                <a:alpha val="12000"/>
              </a:srgbClr>
            </a:outerShdw>
          </a:effectLst>
        </p:spPr>
      </p:sp>
      <p:pic>
        <p:nvPicPr>
          <p:cNvPr id="19" name="Vehicle owners: Warranty per part" descr="Vehicle owners: Warranty per par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69577" y="2423160"/>
            <a:ext cx="1542237" cy="3337560"/>
          </a:xfrm>
          <a:prstGeom prst="rect">
            <a:avLst/>
          </a:prstGeom>
        </p:spPr>
      </p:pic>
      <p:sp>
        <p:nvSpPr>
          <p:cNvPr id="20" name="Text"/>
          <p:cNvSpPr txBox="1"/>
          <p:nvPr/>
        </p:nvSpPr>
        <p:spPr>
          <a:xfrm>
            <a:off x="8951976" y="5943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Warranty per part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3072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  <a:latin typeface="Outfit"/>
                <a:ea typeface="Outfit"/>
                <a:cs typeface="Outfit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 pill"/>
          <p:cNvSpPr/>
          <p:nvPr/>
        </p:nvSpPr>
        <p:spPr>
          <a:xfrm>
            <a:off x="777240" y="502920"/>
            <a:ext cx="1847088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" name="Tag: Before and after"/>
          <p:cNvSpPr txBox="1"/>
          <p:nvPr/>
        </p:nvSpPr>
        <p:spPr>
          <a:xfrm>
            <a:off x="777240" y="502920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BEFORE AND AFTER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77240" y="8686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From scattered paper to one registry</a:t>
            </a:r>
            <a:endParaRPr lang="en-US" sz="3000" dirty="0"/>
          </a:p>
        </p:txBody>
      </p:sp>
      <p:sp>
        <p:nvSpPr>
          <p:cNvPr id="5" name="Text"/>
          <p:cNvSpPr txBox="1"/>
          <p:nvPr/>
        </p:nvSpPr>
        <p:spPr>
          <a:xfrm>
            <a:off x="777240" y="192024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What changes for a small e-bike once it has a plate that opens a record.</a:t>
            </a:r>
            <a:endParaRPr lang="en-US" sz="1500" dirty="0"/>
          </a:p>
        </p:txBody>
      </p:sp>
      <p:graphicFrame>
        <p:nvGraphicFramePr>
          <p:cNvPr id="15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0" y="1783080"/>
          <a:ext cx="63093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463040"/>
                <a:gridCol w="146304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E3D3A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Feature</a:t>
                      </a:r>
                      <a:endParaRPr lang="en-US" sz="13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5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3D3A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Paper and memory</a:t>
                      </a:r>
                      <a:endParaRPr lang="en-US" sz="13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5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3D3A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Zelio portal</a:t>
                      </a:r>
                      <a:endParaRPr lang="en-US" sz="13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5D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Central record of every bike</a:t>
                      </a:r>
                      <a:endParaRPr lang="en-US" sz="14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4A3A3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No</a:t>
                      </a:r>
                      <a:endParaRPr lang="en-US" sz="14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BE07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Yes</a:t>
                      </a:r>
                      <a:endParaRPr lang="en-US" sz="14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D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Warranty visible to the owner</a:t>
                      </a:r>
                      <a:endParaRPr lang="en-US" sz="14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4A3A3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No</a:t>
                      </a:r>
                      <a:endParaRPr lang="en-US" sz="14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BE07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Yes</a:t>
                      </a:r>
                      <a:endParaRPr lang="en-US" sz="14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D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Part replacement history</a:t>
                      </a:r>
                      <a:endParaRPr lang="en-US" sz="14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4A3A3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No</a:t>
                      </a:r>
                      <a:endParaRPr lang="en-US" sz="14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BE07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Yes</a:t>
                      </a:r>
                      <a:endParaRPr lang="en-US" sz="14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D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Live area-wise numbers</a:t>
                      </a:r>
                      <a:endParaRPr lang="en-US" sz="14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4A3A3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No</a:t>
                      </a:r>
                      <a:endParaRPr lang="en-US" sz="14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BE07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Yes</a:t>
                      </a:r>
                      <a:endParaRPr lang="en-US" sz="14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D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Plate that opens the record</a:t>
                      </a:r>
                      <a:endParaRPr lang="en-US" sz="14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4A3A3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No</a:t>
                      </a:r>
                      <a:endParaRPr lang="en-US" sz="14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BE07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Yes</a:t>
                      </a:r>
                      <a:endParaRPr lang="en-US" sz="14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D3A"/>
                    </a:solidFill>
                  </a:tcPr>
                </a:tc>
              </a:tr>
            </a:tbl>
          </a:graphicData>
        </a:graphic>
      </p:graphicFrame>
      <p:sp>
        <p:nvSpPr>
          <p:cNvPr id="7" name="Callout"/>
          <p:cNvSpPr/>
          <p:nvPr/>
        </p:nvSpPr>
        <p:spPr>
          <a:xfrm>
            <a:off x="5120640" y="5486400"/>
            <a:ext cx="6309360" cy="548640"/>
          </a:xfrm>
          <a:prstGeom prst="roundRect">
            <a:avLst>
              <a:gd name="adj" fmla="val 20000"/>
            </a:avLst>
          </a:prstGeom>
          <a:solidFill>
            <a:schemeClr val="accent4"/>
          </a:solidFill>
          <a:ln/>
        </p:spPr>
      </p:sp>
      <p:sp>
        <p:nvSpPr>
          <p:cNvPr id="8" name="Text"/>
          <p:cNvSpPr txBox="1"/>
          <p:nvPr/>
        </p:nvSpPr>
        <p:spPr>
          <a:xfrm>
            <a:off x="5120640" y="548640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One record that company, dealer and owner can all read.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3072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  <a:latin typeface="Outfit"/>
                <a:ea typeface="Outfit"/>
                <a:cs typeface="Outfit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 pill"/>
          <p:cNvSpPr/>
          <p:nvPr/>
        </p:nvSpPr>
        <p:spPr>
          <a:xfrm>
            <a:off x="5561838" y="502920"/>
            <a:ext cx="1065276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" name="Tag: Roadmap"/>
          <p:cNvSpPr txBox="1"/>
          <p:nvPr/>
        </p:nvSpPr>
        <p:spPr>
          <a:xfrm>
            <a:off x="5561838" y="502920"/>
            <a:ext cx="10652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ROADMAP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77240" y="868680"/>
            <a:ext cx="106344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What is built, and what comes next</a:t>
            </a:r>
            <a:endParaRPr lang="en-US" sz="3000" dirty="0"/>
          </a:p>
        </p:txBody>
      </p:sp>
      <p:sp>
        <p:nvSpPr>
          <p:cNvPr id="5" name="Timeline line"/>
          <p:cNvSpPr/>
          <p:nvPr/>
        </p:nvSpPr>
        <p:spPr>
          <a:xfrm>
            <a:off x="1663446" y="3291840"/>
            <a:ext cx="886206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6" name="Text"/>
          <p:cNvSpPr txBox="1"/>
          <p:nvPr/>
        </p:nvSpPr>
        <p:spPr>
          <a:xfrm>
            <a:off x="777240" y="2240280"/>
            <a:ext cx="17724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BUILT</a:t>
            </a:r>
            <a:endParaRPr lang="en-US" sz="1000" dirty="0"/>
          </a:p>
        </p:txBody>
      </p:sp>
      <p:sp>
        <p:nvSpPr>
          <p:cNvPr id="7" name="Node 1"/>
          <p:cNvSpPr/>
          <p:nvPr/>
        </p:nvSpPr>
        <p:spPr>
          <a:xfrm>
            <a:off x="1389126" y="3017520"/>
            <a:ext cx="548640" cy="54864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accent1"/>
            </a:solidFill>
            <a:prstDash val="solid"/>
          </a:ln>
        </p:spPr>
      </p:sp>
      <p:pic>
        <p:nvPicPr>
          <p:cNvPr id="8" name="Done 1" descr="Don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17142" y="3145536"/>
            <a:ext cx="292608" cy="292608"/>
          </a:xfrm>
          <a:prstGeom prst="rect">
            <a:avLst/>
          </a:prstGeom>
        </p:spPr>
      </p:pic>
      <p:sp>
        <p:nvSpPr>
          <p:cNvPr id="9" name="Text"/>
          <p:cNvSpPr txBox="1"/>
          <p:nvPr/>
        </p:nvSpPr>
        <p:spPr>
          <a:xfrm>
            <a:off x="850392" y="3840480"/>
            <a:ext cx="16261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Demo UI</a:t>
            </a:r>
            <a:endParaRPr lang="en-US" sz="1400" dirty="0"/>
          </a:p>
        </p:txBody>
      </p:sp>
      <p:sp>
        <p:nvSpPr>
          <p:cNvPr id="10" name="Text"/>
          <p:cNvSpPr txBox="1"/>
          <p:nvPr/>
        </p:nvSpPr>
        <p:spPr>
          <a:xfrm>
            <a:off x="868680" y="4434840"/>
            <a:ext cx="15895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Three role views with sample data</a:t>
            </a:r>
            <a:endParaRPr lang="en-US" sz="1200" dirty="0"/>
          </a:p>
        </p:txBody>
      </p:sp>
      <p:sp>
        <p:nvSpPr>
          <p:cNvPr id="11" name="Text"/>
          <p:cNvSpPr txBox="1"/>
          <p:nvPr/>
        </p:nvSpPr>
        <p:spPr>
          <a:xfrm>
            <a:off x="2549652" y="2240280"/>
            <a:ext cx="17724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BUILT</a:t>
            </a:r>
            <a:endParaRPr lang="en-US" sz="1000" dirty="0"/>
          </a:p>
        </p:txBody>
      </p:sp>
      <p:sp>
        <p:nvSpPr>
          <p:cNvPr id="12" name="Node 2"/>
          <p:cNvSpPr/>
          <p:nvPr/>
        </p:nvSpPr>
        <p:spPr>
          <a:xfrm>
            <a:off x="3161538" y="3017520"/>
            <a:ext cx="548640" cy="54864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accent1"/>
            </a:solidFill>
            <a:prstDash val="solid"/>
          </a:ln>
        </p:spPr>
      </p:sp>
      <p:pic>
        <p:nvPicPr>
          <p:cNvPr id="13" name="Done 2" descr="Done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9554" y="3145536"/>
            <a:ext cx="292608" cy="292608"/>
          </a:xfrm>
          <a:prstGeom prst="rect">
            <a:avLst/>
          </a:prstGeom>
        </p:spPr>
      </p:pic>
      <p:sp>
        <p:nvSpPr>
          <p:cNvPr id="14" name="Text"/>
          <p:cNvSpPr txBox="1"/>
          <p:nvPr/>
        </p:nvSpPr>
        <p:spPr>
          <a:xfrm>
            <a:off x="2622804" y="3840480"/>
            <a:ext cx="16261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QR plate and scan</a:t>
            </a:r>
            <a:endParaRPr lang="en-US" sz="1400" dirty="0"/>
          </a:p>
        </p:txBody>
      </p:sp>
      <p:sp>
        <p:nvSpPr>
          <p:cNvPr id="15" name="Text"/>
          <p:cNvSpPr txBox="1"/>
          <p:nvPr/>
        </p:nvSpPr>
        <p:spPr>
          <a:xfrm>
            <a:off x="2641092" y="4434840"/>
            <a:ext cx="15895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Logo and QR on the plate, camera or photo scan</a:t>
            </a:r>
            <a:endParaRPr lang="en-US" sz="1200" dirty="0"/>
          </a:p>
        </p:txBody>
      </p:sp>
      <p:sp>
        <p:nvSpPr>
          <p:cNvPr id="16" name="Text"/>
          <p:cNvSpPr txBox="1"/>
          <p:nvPr/>
        </p:nvSpPr>
        <p:spPr>
          <a:xfrm>
            <a:off x="4322064" y="2240280"/>
            <a:ext cx="17724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PROPOSED</a:t>
            </a:r>
            <a:endParaRPr lang="en-US" sz="1000" dirty="0"/>
          </a:p>
        </p:txBody>
      </p:sp>
      <p:sp>
        <p:nvSpPr>
          <p:cNvPr id="17" name="Node 3"/>
          <p:cNvSpPr/>
          <p:nvPr/>
        </p:nvSpPr>
        <p:spPr>
          <a:xfrm>
            <a:off x="4933950" y="3017520"/>
            <a:ext cx="548640" cy="548640"/>
          </a:xfrm>
          <a:prstGeom prst="ellipse">
            <a:avLst/>
          </a:prstGeom>
          <a:solidFill>
            <a:schemeClr val="bg2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18" name="Text"/>
          <p:cNvSpPr txBox="1"/>
          <p:nvPr/>
        </p:nvSpPr>
        <p:spPr>
          <a:xfrm>
            <a:off x="4933950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"/>
          <p:cNvSpPr txBox="1"/>
          <p:nvPr/>
        </p:nvSpPr>
        <p:spPr>
          <a:xfrm>
            <a:off x="4395216" y="3840480"/>
            <a:ext cx="16261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Backend</a:t>
            </a:r>
            <a:endParaRPr lang="en-US" sz="1400" dirty="0"/>
          </a:p>
        </p:txBody>
      </p:sp>
      <p:sp>
        <p:nvSpPr>
          <p:cNvPr id="20" name="Text"/>
          <p:cNvSpPr txBox="1"/>
          <p:nvPr/>
        </p:nvSpPr>
        <p:spPr>
          <a:xfrm>
            <a:off x="4413504" y="4434840"/>
            <a:ext cx="15895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Real database and API behind the screens</a:t>
            </a:r>
            <a:endParaRPr lang="en-US" sz="1200" dirty="0"/>
          </a:p>
        </p:txBody>
      </p:sp>
      <p:sp>
        <p:nvSpPr>
          <p:cNvPr id="21" name="Text"/>
          <p:cNvSpPr txBox="1"/>
          <p:nvPr/>
        </p:nvSpPr>
        <p:spPr>
          <a:xfrm>
            <a:off x="6094476" y="2240280"/>
            <a:ext cx="17724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PROPOSED</a:t>
            </a:r>
            <a:endParaRPr lang="en-US" sz="1000" dirty="0"/>
          </a:p>
        </p:txBody>
      </p:sp>
      <p:sp>
        <p:nvSpPr>
          <p:cNvPr id="22" name="Node 4"/>
          <p:cNvSpPr/>
          <p:nvPr/>
        </p:nvSpPr>
        <p:spPr>
          <a:xfrm>
            <a:off x="6706362" y="3017520"/>
            <a:ext cx="548640" cy="548640"/>
          </a:xfrm>
          <a:prstGeom prst="ellipse">
            <a:avLst/>
          </a:prstGeom>
          <a:solidFill>
            <a:schemeClr val="bg2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23" name="Text"/>
          <p:cNvSpPr txBox="1"/>
          <p:nvPr/>
        </p:nvSpPr>
        <p:spPr>
          <a:xfrm>
            <a:off x="6706362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"/>
          <p:cNvSpPr txBox="1"/>
          <p:nvPr/>
        </p:nvSpPr>
        <p:spPr>
          <a:xfrm>
            <a:off x="6167628" y="3840480"/>
            <a:ext cx="16261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Sign-in</a:t>
            </a:r>
            <a:endParaRPr lang="en-US" sz="1400" dirty="0"/>
          </a:p>
        </p:txBody>
      </p:sp>
      <p:sp>
        <p:nvSpPr>
          <p:cNvPr id="25" name="Text"/>
          <p:cNvSpPr txBox="1"/>
          <p:nvPr/>
        </p:nvSpPr>
        <p:spPr>
          <a:xfrm>
            <a:off x="6185916" y="4434840"/>
            <a:ext cx="15895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Role login, with OTP for owners</a:t>
            </a:r>
            <a:endParaRPr lang="en-US" sz="1200" dirty="0"/>
          </a:p>
        </p:txBody>
      </p:sp>
      <p:sp>
        <p:nvSpPr>
          <p:cNvPr id="26" name="Text"/>
          <p:cNvSpPr txBox="1"/>
          <p:nvPr/>
        </p:nvSpPr>
        <p:spPr>
          <a:xfrm>
            <a:off x="7866888" y="2240280"/>
            <a:ext cx="17724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PROPOSED</a:t>
            </a:r>
            <a:endParaRPr lang="en-US" sz="1000" dirty="0"/>
          </a:p>
        </p:txBody>
      </p:sp>
      <p:sp>
        <p:nvSpPr>
          <p:cNvPr id="27" name="Node 5"/>
          <p:cNvSpPr/>
          <p:nvPr/>
        </p:nvSpPr>
        <p:spPr>
          <a:xfrm>
            <a:off x="8478774" y="3017520"/>
            <a:ext cx="548640" cy="548640"/>
          </a:xfrm>
          <a:prstGeom prst="ellipse">
            <a:avLst/>
          </a:prstGeom>
          <a:solidFill>
            <a:schemeClr val="bg2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28" name="Text"/>
          <p:cNvSpPr txBox="1"/>
          <p:nvPr/>
        </p:nvSpPr>
        <p:spPr>
          <a:xfrm>
            <a:off x="8478774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"/>
          <p:cNvSpPr txBox="1"/>
          <p:nvPr/>
        </p:nvSpPr>
        <p:spPr>
          <a:xfrm>
            <a:off x="7940040" y="3840480"/>
            <a:ext cx="16261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Dealer rollout</a:t>
            </a:r>
            <a:endParaRPr lang="en-US" sz="1400" dirty="0"/>
          </a:p>
        </p:txBody>
      </p:sp>
      <p:sp>
        <p:nvSpPr>
          <p:cNvPr id="30" name="Text"/>
          <p:cNvSpPr txBox="1"/>
          <p:nvPr/>
        </p:nvSpPr>
        <p:spPr>
          <a:xfrm>
            <a:off x="7958328" y="4434840"/>
            <a:ext cx="15895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Onboarding and bulk QR plate printing</a:t>
            </a:r>
            <a:endParaRPr lang="en-US" sz="1200" dirty="0"/>
          </a:p>
        </p:txBody>
      </p:sp>
      <p:sp>
        <p:nvSpPr>
          <p:cNvPr id="31" name="Text"/>
          <p:cNvSpPr txBox="1"/>
          <p:nvPr/>
        </p:nvSpPr>
        <p:spPr>
          <a:xfrm>
            <a:off x="9639300" y="2240280"/>
            <a:ext cx="17724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PROPOSED</a:t>
            </a:r>
            <a:endParaRPr lang="en-US" sz="1000" dirty="0"/>
          </a:p>
        </p:txBody>
      </p:sp>
      <p:sp>
        <p:nvSpPr>
          <p:cNvPr id="32" name="Node 6"/>
          <p:cNvSpPr/>
          <p:nvPr/>
        </p:nvSpPr>
        <p:spPr>
          <a:xfrm>
            <a:off x="10251186" y="3017520"/>
            <a:ext cx="548640" cy="548640"/>
          </a:xfrm>
          <a:prstGeom prst="ellipse">
            <a:avLst/>
          </a:prstGeom>
          <a:solidFill>
            <a:schemeClr val="bg2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33" name="Text"/>
          <p:cNvSpPr txBox="1"/>
          <p:nvPr/>
        </p:nvSpPr>
        <p:spPr>
          <a:xfrm>
            <a:off x="10251186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1400" dirty="0"/>
          </a:p>
        </p:txBody>
      </p:sp>
      <p:sp>
        <p:nvSpPr>
          <p:cNvPr id="34" name="Text"/>
          <p:cNvSpPr txBox="1"/>
          <p:nvPr/>
        </p:nvSpPr>
        <p:spPr>
          <a:xfrm>
            <a:off x="9712452" y="3840480"/>
            <a:ext cx="16261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Reminders and claims</a:t>
            </a:r>
            <a:endParaRPr lang="en-US" sz="1400" dirty="0"/>
          </a:p>
        </p:txBody>
      </p:sp>
      <p:sp>
        <p:nvSpPr>
          <p:cNvPr id="35" name="Text"/>
          <p:cNvSpPr txBox="1"/>
          <p:nvPr/>
        </p:nvSpPr>
        <p:spPr>
          <a:xfrm>
            <a:off x="9730740" y="4434840"/>
            <a:ext cx="15895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SMS or WhatsApp alerts, claim workflow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3072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  <a:latin typeface="Outfit"/>
                <a:ea typeface="Outfit"/>
                <a:cs typeface="Outfit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losing panel" descr="Zelio plate and scan scre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48640"/>
            <a:ext cx="4937760" cy="5760720"/>
          </a:xfrm>
          <a:prstGeom prst="rect">
            <a:avLst/>
          </a:prstGeom>
        </p:spPr>
      </p:pic>
      <p:sp>
        <p:nvSpPr>
          <p:cNvPr id="3" name="Tag pill"/>
          <p:cNvSpPr/>
          <p:nvPr/>
        </p:nvSpPr>
        <p:spPr>
          <a:xfrm>
            <a:off x="6309360" y="1097280"/>
            <a:ext cx="978408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ag: Try it"/>
          <p:cNvSpPr txBox="1"/>
          <p:nvPr/>
        </p:nvSpPr>
        <p:spPr>
          <a:xfrm>
            <a:off x="6309360" y="1097280"/>
            <a:ext cx="978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TRY IT</a:t>
            </a:r>
            <a:endParaRPr lang="en-US" sz="1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6309360" y="1554480"/>
            <a:ext cx="5120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One QR plate.</a:t>
            </a:r>
            <a:endParaRPr lang="en-US" sz="4000" dirty="0"/>
          </a:p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One registry.</a:t>
            </a:r>
            <a:endParaRPr lang="en-US" sz="4000" dirty="0"/>
          </a:p>
          <a:p>
            <a:pPr algn="l" indent="0" marL="0">
              <a:buNone/>
            </a:pPr>
            <a:r>
              <a:rPr lang="en-US" sz="4000" dirty="0">
                <a:solidFill>
                  <a:schemeClr val="accent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Zelio.</a:t>
            </a:r>
            <a:endParaRPr lang="en-US" sz="4000" dirty="0"/>
          </a:p>
        </p:txBody>
      </p:sp>
      <p:pic>
        <p:nvPicPr>
          <p:cNvPr id="6" name="Icon 1" descr="Icon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4178808"/>
            <a:ext cx="256032" cy="256032"/>
          </a:xfrm>
          <a:prstGeom prst="rect">
            <a:avLst/>
          </a:prstGeom>
        </p:spPr>
      </p:pic>
      <p:sp>
        <p:nvSpPr>
          <p:cNvPr id="7" name="Contact 1">
            <a:hlinkClick r:id="rId3" tooltip="Open the demo"/>
          </p:cNvPr>
          <p:cNvSpPr txBox="1"/>
          <p:nvPr/>
        </p:nvSpPr>
        <p:spPr>
          <a:xfrm>
            <a:off x="6720840" y="416052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  <a:hlinkClick r:id="rId3" invalidUrl="" action="" tgtFrame="" tooltip="Open the dem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See the live demo</a:t>
            </a:r>
            <a:endParaRPr lang="en-US" sz="1300" dirty="0"/>
          </a:p>
        </p:txBody>
      </p:sp>
      <p:pic>
        <p:nvPicPr>
          <p:cNvPr id="8" name="Icon 2" descr="Icon 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4636008"/>
            <a:ext cx="256032" cy="256032"/>
          </a:xfrm>
          <a:prstGeom prst="rect">
            <a:avLst/>
          </a:prstGeom>
        </p:spPr>
      </p:pic>
      <p:sp>
        <p:nvSpPr>
          <p:cNvPr id="9" name="Contact 2"/>
          <p:cNvSpPr txBox="1"/>
          <p:nvPr/>
        </p:nvSpPr>
        <p:spPr>
          <a:xfrm>
            <a:off x="6720840" y="461772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Code: ev-registry/ in the fans-app repo</a:t>
            </a:r>
            <a:endParaRPr lang="en-US" sz="1300" dirty="0"/>
          </a:p>
        </p:txBody>
      </p:sp>
      <p:pic>
        <p:nvPicPr>
          <p:cNvPr id="10" name="Icon 3" descr="Icon 3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5093208"/>
            <a:ext cx="256032" cy="256032"/>
          </a:xfrm>
          <a:prstGeom prst="rect">
            <a:avLst/>
          </a:prstGeom>
        </p:spPr>
      </p:pic>
      <p:sp>
        <p:nvSpPr>
          <p:cNvPr id="11" name="Contact 3"/>
          <p:cNvSpPr txBox="1"/>
          <p:nvPr/>
        </p:nvSpPr>
        <p:spPr>
          <a:xfrm>
            <a:off x="6720840" y="507492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All data shown is sample data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Zelio Mint">
  <a:themeElements>
    <a:clrScheme name="Zelio Mint">
      <a:dk1>
        <a:srgbClr val="0E3D3A"/>
      </a:dk1>
      <a:lt1>
        <a:srgbClr val="FFFFFF"/>
      </a:lt1>
      <a:dk2>
        <a:srgbClr val="0E3D3A"/>
      </a:dk2>
      <a:lt2>
        <a:srgbClr val="F2FBEE"/>
      </a:lt2>
      <a:accent1>
        <a:srgbClr val="8BE07F"/>
      </a:accent1>
      <a:accent2>
        <a:srgbClr val="2F9E57"/>
      </a:accent2>
      <a:accent3>
        <a:srgbClr val="DAF5D3"/>
      </a:accent3>
      <a:accent4>
        <a:srgbClr val="1F5C57"/>
      </a:accent4>
      <a:accent5>
        <a:srgbClr val="B7EEA9"/>
      </a:accent5>
      <a:accent6>
        <a:srgbClr val="5C7A76"/>
      </a:accent6>
      <a:hlink>
        <a:srgbClr val="2F9E57"/>
      </a:hlink>
      <a:folHlink>
        <a:srgbClr val="5C7A76"/>
      </a:folHlink>
    </a:clrScheme>
    <a:fontScheme name="Zelio Mint">
      <a:majorFont>
        <a:latin typeface="Outfi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Outfi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syfr.live</dc:title>
  <dc:subject>PptxGenJS Presentation</dc:subject>
  <dc:creator>syfr.live</dc:creator>
  <cp:lastModifiedBy>syfr.live</cp:lastModifiedBy>
  <cp:revision>1</cp:revision>
  <dcterms:created xsi:type="dcterms:W3CDTF">2026-10-18T05:07:43Z</dcterms:created>
  <dcterms:modified xsi:type="dcterms:W3CDTF">2026-10-18T05:07:43Z</dcterms:modified>
</cp:coreProperties>
</file>