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b7e8886a-cdfa-7fbf-b95e-c6c6b7ff9e55}">
          <p14:sldIdLst>
            <p14:sldId id="256"/>
            <p14:sldId id="257"/>
            <p14:sldId id="258"/>
            <p14:sldId id="259"/>
          </p14:sldIdLst>
        </p14:section>
        <p14:section name="Company" id="{7b80df05-3fdb-91dc-6ff9-b452cbe2bfde}">
          <p14:sldIdLst>
            <p14:sldId id="260"/>
            <p14:sldId id="261"/>
          </p14:sldIdLst>
        </p14:section>
        <p14:section name="Dealer and owner" id="{42a76da4-461f-7d14-d5ef-f011e044cc56}">
          <p14:sldIdLst>
            <p14:sldId id="262"/>
            <p14:sldId id="263"/>
          </p14:sldIdLst>
        </p14:section>
        <p14:section name="Next" id="{034482da-b705-732b-f2e1-a1581bca94fa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syfr.live is a web portal that keeps the records of small, non-RTO electric bikes: who owns which bike, where it was sold, what warranty each part carries, and which parts have been replaced. Everything in this deck is shown with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gap: low-speed e-bikes do not go through the RTO, so there is no government registry to lean on. The portal fills that gap for the manufacturer and its dealer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role gets its own view of the same data. Company is optimised for a large screen; dealer and owner are optimised for phones and tablets.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 matters: a bike is registered before it is sold, so warranty starts on day one and the owner never has to claim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uses real district boundaries. The numbers are made up. The live feed adds a registration every few seconds so the real-time behaviour is visible in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warranty register lists the most recent registrations. Each vehicle row opens the full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Screens, left to right: dealer home, the registration form, and the plate scanner. The scanner works on any phone browser that allows the camera, and falls back to a photo upload or a typed registration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Screens, left to right: registration with the QR code, warranty per part, and the parts-replaced timeline. A replaced part starts its own new warranty.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next steps are proposals, not commitments. The first one unlocks the rest: the demo generates its data in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link is a private page; share it from its Share menu before sending it to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6309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5669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>
                    <a:alpha val="60000"/>
                  </a:schemeClr>
                </a:solidFill>
              </a:rPr>
              <a:t>syfr.live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914400"/>
            <a:ext cx="7772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76eZmTT9gninNENMKdFitt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syfr.live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One registry for every non-RTO e-bike: registration, warranty and parts history.</a:t>
            </a:r>
            <a:endParaRPr lang="en-US" sz="2000" dirty="0"/>
          </a:p>
        </p:txBody>
      </p:sp>
      <p:pic>
        <p:nvPicPr>
          <p:cNvPr id="4" name="Plate" descr="Number plate showing the syfr.live logo and a QR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343400"/>
            <a:ext cx="4206240" cy="1752600"/>
          </a:xfrm>
          <a:prstGeom prst="rect">
            <a:avLst/>
          </a:prstGeom>
        </p:spPr>
      </p:pic>
      <p:sp>
        <p:nvSpPr>
          <p:cNvPr id="5" name="Footnote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Demo with sample data</a:t>
            </a:r>
            <a:endParaRPr lang="en-US" sz="1200" dirty="0"/>
          </a:p>
        </p:txBody>
      </p:sp>
      <p:sp>
        <p:nvSpPr>
          <p:cNvPr id="6" name="Owner home screen frame"/>
          <p:cNvSpPr/>
          <p:nvPr/>
        </p:nvSpPr>
        <p:spPr>
          <a:xfrm>
            <a:off x="7754112" y="621792"/>
            <a:ext cx="2663201" cy="5614416"/>
          </a:xfrm>
          <a:prstGeom prst="roundRect">
            <a:avLst>
              <a:gd name="adj" fmla="val 103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7" name="Owner home screen" descr="Owner home 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685800"/>
            <a:ext cx="253518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Non-RTO e-bikes leave no record behind</a:t>
            </a:r>
            <a:endParaRPr lang="en-US" sz="3400" dirty="0"/>
          </a:p>
        </p:txBody>
      </p:sp>
      <p:sp>
        <p:nvSpPr>
          <p:cNvPr id="3" name="Problem card 1"/>
          <p:cNvSpPr/>
          <p:nvPr/>
        </p:nvSpPr>
        <p:spPr>
          <a:xfrm>
            <a:off x="640080" y="1737360"/>
            <a:ext cx="3392424" cy="3566160"/>
          </a:xfrm>
          <a:prstGeom prst="roundRect">
            <a:avLst>
              <a:gd name="adj" fmla="val 3235"/>
            </a:avLst>
          </a:prstGeom>
          <a:solidFill>
            <a:schemeClr val="bg2"/>
          </a:solidFill>
          <a:ln/>
        </p:spPr>
      </p:sp>
      <p:sp>
        <p:nvSpPr>
          <p:cNvPr id="4" name="Icon: No central record circle"/>
          <p:cNvSpPr/>
          <p:nvPr/>
        </p:nvSpPr>
        <p:spPr>
          <a:xfrm>
            <a:off x="1005840" y="2103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: No central record" descr="Icon: No central rec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810" y="2317090"/>
            <a:ext cx="395021" cy="395021"/>
          </a:xfrm>
          <a:prstGeom prst="rect">
            <a:avLst/>
          </a:prstGeom>
        </p:spPr>
      </p:pic>
      <p:sp>
        <p:nvSpPr>
          <p:cNvPr id="6" name="Heading: No central record"/>
          <p:cNvSpPr txBox="1"/>
          <p:nvPr/>
        </p:nvSpPr>
        <p:spPr>
          <a:xfrm>
            <a:off x="1005840" y="3200400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central record</a:t>
            </a:r>
            <a:endParaRPr lang="en-US" sz="2000" dirty="0"/>
          </a:p>
        </p:txBody>
      </p:sp>
      <p:sp>
        <p:nvSpPr>
          <p:cNvPr id="7" name="Problem text 1"/>
          <p:cNvSpPr txBox="1"/>
          <p:nvPr/>
        </p:nvSpPr>
        <p:spPr>
          <a:xfrm>
            <a:off x="1005840" y="3749040"/>
            <a:ext cx="26609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Nobody can say how many bikes are on the road, who owns them or which district they were sold in.</a:t>
            </a:r>
            <a:endParaRPr lang="en-US" sz="1600" dirty="0"/>
          </a:p>
        </p:txBody>
      </p:sp>
      <p:sp>
        <p:nvSpPr>
          <p:cNvPr id="8" name="Problem card 2"/>
          <p:cNvSpPr/>
          <p:nvPr/>
        </p:nvSpPr>
        <p:spPr>
          <a:xfrm>
            <a:off x="4398264" y="1737360"/>
            <a:ext cx="3392424" cy="3566160"/>
          </a:xfrm>
          <a:prstGeom prst="roundRect">
            <a:avLst>
              <a:gd name="adj" fmla="val 3235"/>
            </a:avLst>
          </a:prstGeom>
          <a:solidFill>
            <a:schemeClr val="bg2"/>
          </a:solidFill>
          <a:ln/>
        </p:spPr>
      </p:sp>
      <p:sp>
        <p:nvSpPr>
          <p:cNvPr id="9" name="Icon: Paper-based warranty circle"/>
          <p:cNvSpPr/>
          <p:nvPr/>
        </p:nvSpPr>
        <p:spPr>
          <a:xfrm>
            <a:off x="4764024" y="2103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: Paper-based warranty" descr="Icon: Paper-based warran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994" y="2317090"/>
            <a:ext cx="395021" cy="395021"/>
          </a:xfrm>
          <a:prstGeom prst="rect">
            <a:avLst/>
          </a:prstGeom>
        </p:spPr>
      </p:pic>
      <p:sp>
        <p:nvSpPr>
          <p:cNvPr id="11" name="Heading: Paper-based warranty"/>
          <p:cNvSpPr txBox="1"/>
          <p:nvPr/>
        </p:nvSpPr>
        <p:spPr>
          <a:xfrm>
            <a:off x="4764024" y="3200400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Paper-based warranty</a:t>
            </a:r>
            <a:endParaRPr lang="en-US" sz="2000" dirty="0"/>
          </a:p>
        </p:txBody>
      </p:sp>
      <p:sp>
        <p:nvSpPr>
          <p:cNvPr id="12" name="Problem text 2"/>
          <p:cNvSpPr txBox="1"/>
          <p:nvPr/>
        </p:nvSpPr>
        <p:spPr>
          <a:xfrm>
            <a:off x="4764024" y="3749040"/>
            <a:ext cx="26609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claim depends on a bill and a card the owner may have lost, and on a dealer's memory of the sale.</a:t>
            </a:r>
            <a:endParaRPr lang="en-US" sz="1600" dirty="0"/>
          </a:p>
        </p:txBody>
      </p:sp>
      <p:sp>
        <p:nvSpPr>
          <p:cNvPr id="13" name="Problem card 3"/>
          <p:cNvSpPr/>
          <p:nvPr/>
        </p:nvSpPr>
        <p:spPr>
          <a:xfrm>
            <a:off x="8156448" y="1737360"/>
            <a:ext cx="3392424" cy="3566160"/>
          </a:xfrm>
          <a:prstGeom prst="roundRect">
            <a:avLst>
              <a:gd name="adj" fmla="val 3235"/>
            </a:avLst>
          </a:prstGeom>
          <a:solidFill>
            <a:schemeClr val="bg2"/>
          </a:solidFill>
          <a:ln/>
        </p:spPr>
      </p:sp>
      <p:sp>
        <p:nvSpPr>
          <p:cNvPr id="14" name="Icon: Unseen part swaps circle"/>
          <p:cNvSpPr/>
          <p:nvPr/>
        </p:nvSpPr>
        <p:spPr>
          <a:xfrm>
            <a:off x="8522208" y="2103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: Unseen part swaps" descr="Icon: Unseen part swap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178" y="2317090"/>
            <a:ext cx="395021" cy="395021"/>
          </a:xfrm>
          <a:prstGeom prst="rect">
            <a:avLst/>
          </a:prstGeom>
        </p:spPr>
      </p:pic>
      <p:sp>
        <p:nvSpPr>
          <p:cNvPr id="16" name="Heading: Unseen part swaps"/>
          <p:cNvSpPr txBox="1"/>
          <p:nvPr/>
        </p:nvSpPr>
        <p:spPr>
          <a:xfrm>
            <a:off x="8522208" y="3200400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Unseen part swaps</a:t>
            </a:r>
            <a:endParaRPr lang="en-US" sz="2000" dirty="0"/>
          </a:p>
        </p:txBody>
      </p:sp>
      <p:sp>
        <p:nvSpPr>
          <p:cNvPr id="17" name="Problem text 3"/>
          <p:cNvSpPr txBox="1"/>
          <p:nvPr/>
        </p:nvSpPr>
        <p:spPr>
          <a:xfrm>
            <a:off x="8522208" y="3749040"/>
            <a:ext cx="26609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new motor, controller or battery is fitted and the history of what was replaced, when, is gone.</a:t>
            </a:r>
            <a:endParaRPr lang="en-US" sz="1600" dirty="0"/>
          </a:p>
        </p:txBody>
      </p:sp>
      <p:sp>
        <p:nvSpPr>
          <p:cNvPr id="18" name="Takeaway"/>
          <p:cNvSpPr txBox="1"/>
          <p:nvPr/>
        </p:nvSpPr>
        <p:spPr>
          <a:xfrm>
            <a:off x="640080" y="55321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syfr.live gives each bike a registration number, a QR plate and one record that company, dealer and owner can all read.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users, one registry</a:t>
            </a:r>
            <a:endParaRPr lang="en-US" sz="3400" dirty="0"/>
          </a:p>
        </p:txBody>
      </p:sp>
      <p:sp>
        <p:nvSpPr>
          <p:cNvPr id="3" name="User card Company"/>
          <p:cNvSpPr/>
          <p:nvPr/>
        </p:nvSpPr>
        <p:spPr>
          <a:xfrm>
            <a:off x="640080" y="1600200"/>
            <a:ext cx="3392424" cy="4526280"/>
          </a:xfrm>
          <a:prstGeom prst="roundRect">
            <a:avLst>
              <a:gd name="adj" fmla="val 3235"/>
            </a:avLst>
          </a:prstGeom>
          <a:solidFill>
            <a:schemeClr val="bg2"/>
          </a:solidFill>
          <a:ln/>
        </p:spPr>
      </p:sp>
      <p:sp>
        <p:nvSpPr>
          <p:cNvPr id="4" name="Icon: Company circle"/>
          <p:cNvSpPr/>
          <p:nvPr/>
        </p:nvSpPr>
        <p:spPr>
          <a:xfrm>
            <a:off x="100584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: Company" descr="Icon: Compa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035" y="2110435"/>
            <a:ext cx="351130" cy="351130"/>
          </a:xfrm>
          <a:prstGeom prst="rect">
            <a:avLst/>
          </a:prstGeom>
        </p:spPr>
      </p:pic>
      <p:sp>
        <p:nvSpPr>
          <p:cNvPr id="6" name="Heading: Company"/>
          <p:cNvSpPr txBox="1"/>
          <p:nvPr/>
        </p:nvSpPr>
        <p:spPr>
          <a:xfrm>
            <a:off x="1920240" y="1938528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</a:t>
            </a:r>
            <a:endParaRPr lang="en-US" sz="2400" dirty="0"/>
          </a:p>
        </p:txBody>
      </p:sp>
      <p:sp>
        <p:nvSpPr>
          <p:cNvPr id="7" name="Device note Company"/>
          <p:cNvSpPr txBox="1"/>
          <p:nvPr/>
        </p:nvSpPr>
        <p:spPr>
          <a:xfrm>
            <a:off x="1920240" y="2304288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>
                    <a:alpha val="75000"/>
                  </a:schemeClr>
                </a:solidFill>
              </a:rPr>
              <a:t>Desktop first</a:t>
            </a:r>
            <a:endParaRPr lang="en-US" sz="1300" dirty="0"/>
          </a:p>
        </p:txBody>
      </p:sp>
      <p:sp>
        <p:nvSpPr>
          <p:cNvPr id="8" name="Bullets"/>
          <p:cNvSpPr txBox="1"/>
          <p:nvPr/>
        </p:nvSpPr>
        <p:spPr>
          <a:xfrm>
            <a:off x="1005840" y="3017520"/>
            <a:ext cx="266090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Live registrations on an India map, district by district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Area-wise report that updates in real time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Warranty registration details for every vehicle</a:t>
            </a:r>
            <a:endParaRPr lang="en-US" sz="1800" dirty="0"/>
          </a:p>
        </p:txBody>
      </p:sp>
      <p:sp>
        <p:nvSpPr>
          <p:cNvPr id="9" name="User card Dealer"/>
          <p:cNvSpPr/>
          <p:nvPr/>
        </p:nvSpPr>
        <p:spPr>
          <a:xfrm>
            <a:off x="4398264" y="1600200"/>
            <a:ext cx="3392424" cy="4526280"/>
          </a:xfrm>
          <a:prstGeom prst="roundRect">
            <a:avLst>
              <a:gd name="adj" fmla="val 3235"/>
            </a:avLst>
          </a:prstGeom>
          <a:solidFill>
            <a:schemeClr val="bg2"/>
          </a:solidFill>
          <a:ln/>
        </p:spPr>
      </p:sp>
      <p:sp>
        <p:nvSpPr>
          <p:cNvPr id="10" name="Icon: Dealer circle"/>
          <p:cNvSpPr/>
          <p:nvPr/>
        </p:nvSpPr>
        <p:spPr>
          <a:xfrm>
            <a:off x="4764024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: Dealer" descr="Icon: Deal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219" y="2110435"/>
            <a:ext cx="351130" cy="351130"/>
          </a:xfrm>
          <a:prstGeom prst="rect">
            <a:avLst/>
          </a:prstGeom>
        </p:spPr>
      </p:pic>
      <p:sp>
        <p:nvSpPr>
          <p:cNvPr id="12" name="Heading: Dealer"/>
          <p:cNvSpPr txBox="1"/>
          <p:nvPr/>
        </p:nvSpPr>
        <p:spPr>
          <a:xfrm>
            <a:off x="5678424" y="1938528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Dealer</a:t>
            </a:r>
            <a:endParaRPr lang="en-US" sz="2400" dirty="0"/>
          </a:p>
        </p:txBody>
      </p:sp>
      <p:sp>
        <p:nvSpPr>
          <p:cNvPr id="13" name="Device note Dealer"/>
          <p:cNvSpPr txBox="1"/>
          <p:nvPr/>
        </p:nvSpPr>
        <p:spPr>
          <a:xfrm>
            <a:off x="5678424" y="2304288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>
                    <a:alpha val="75000"/>
                  </a:schemeClr>
                </a:solidFill>
              </a:rPr>
              <a:t>Built for phone and tablet</a:t>
            </a:r>
            <a:endParaRPr lang="en-US" sz="1300" dirty="0"/>
          </a:p>
        </p:txBody>
      </p:sp>
      <p:sp>
        <p:nvSpPr>
          <p:cNvPr id="14" name="Bullets"/>
          <p:cNvSpPr txBox="1"/>
          <p:nvPr/>
        </p:nvSpPr>
        <p:spPr>
          <a:xfrm>
            <a:off x="4764024" y="3017520"/>
            <a:ext cx="266090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Register each bike on the portal before selling it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Scan the QR on the number plate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Check warranty and the history of parts replaced</a:t>
            </a:r>
            <a:endParaRPr lang="en-US" sz="1800" dirty="0"/>
          </a:p>
        </p:txBody>
      </p:sp>
      <p:sp>
        <p:nvSpPr>
          <p:cNvPr id="15" name="User card Vehicle owner"/>
          <p:cNvSpPr/>
          <p:nvPr/>
        </p:nvSpPr>
        <p:spPr>
          <a:xfrm>
            <a:off x="8156448" y="1600200"/>
            <a:ext cx="3392424" cy="4526280"/>
          </a:xfrm>
          <a:prstGeom prst="roundRect">
            <a:avLst>
              <a:gd name="adj" fmla="val 3235"/>
            </a:avLst>
          </a:prstGeom>
          <a:solidFill>
            <a:schemeClr val="bg2"/>
          </a:solidFill>
          <a:ln/>
        </p:spPr>
      </p:sp>
      <p:sp>
        <p:nvSpPr>
          <p:cNvPr id="16" name="Icon: Vehicle owner circle"/>
          <p:cNvSpPr/>
          <p:nvPr/>
        </p:nvSpPr>
        <p:spPr>
          <a:xfrm>
            <a:off x="8522208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: Vehicle owner" descr="Icon: Vehicle own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403" y="2110435"/>
            <a:ext cx="351130" cy="351130"/>
          </a:xfrm>
          <a:prstGeom prst="rect">
            <a:avLst/>
          </a:prstGeom>
        </p:spPr>
      </p:pic>
      <p:sp>
        <p:nvSpPr>
          <p:cNvPr id="18" name="Heading: Vehicle owner"/>
          <p:cNvSpPr txBox="1"/>
          <p:nvPr/>
        </p:nvSpPr>
        <p:spPr>
          <a:xfrm>
            <a:off x="9436608" y="1938528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owner</a:t>
            </a:r>
            <a:endParaRPr lang="en-US" sz="2400" dirty="0"/>
          </a:p>
        </p:txBody>
      </p:sp>
      <p:sp>
        <p:nvSpPr>
          <p:cNvPr id="19" name="Device note Vehicle owner"/>
          <p:cNvSpPr txBox="1"/>
          <p:nvPr/>
        </p:nvSpPr>
        <p:spPr>
          <a:xfrm>
            <a:off x="9436608" y="2304288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>
                    <a:alpha val="75000"/>
                  </a:schemeClr>
                </a:solidFill>
              </a:rPr>
              <a:t>Built for the phone</a:t>
            </a:r>
            <a:endParaRPr lang="en-US" sz="1300" dirty="0"/>
          </a:p>
        </p:txBody>
      </p:sp>
      <p:sp>
        <p:nvSpPr>
          <p:cNvPr id="20" name="Bullets"/>
          <p:cNvSpPr txBox="1"/>
          <p:nvPr/>
        </p:nvSpPr>
        <p:spPr>
          <a:xfrm>
            <a:off x="8522208" y="3017520"/>
            <a:ext cx="266090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Registration date and validity period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Warranty on motor, controller and battery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Every part that was changed, with serial numbers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showroom to the owner's phone</a:t>
            </a:r>
            <a:endParaRPr lang="en-US" sz="3400" dirty="0"/>
          </a:p>
        </p:txBody>
      </p:sp>
      <p:sp>
        <p:nvSpPr>
          <p:cNvPr id="3" name="Step circle 1"/>
          <p:cNvSpPr/>
          <p:nvPr/>
        </p:nvSpPr>
        <p:spPr>
          <a:xfrm>
            <a:off x="640080" y="2057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number 1"/>
          <p:cNvSpPr txBox="1"/>
          <p:nvPr/>
        </p:nvSpPr>
        <p:spPr>
          <a:xfrm>
            <a:off x="6400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Step arrow 1"/>
          <p:cNvSpPr/>
          <p:nvPr/>
        </p:nvSpPr>
        <p:spPr>
          <a:xfrm>
            <a:off x="1371600" y="2377440"/>
            <a:ext cx="140451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6" name="Step card 1"/>
          <p:cNvSpPr/>
          <p:nvPr/>
        </p:nvSpPr>
        <p:spPr>
          <a:xfrm>
            <a:off x="640080" y="3017520"/>
            <a:ext cx="1998878" cy="2743200"/>
          </a:xfrm>
          <a:prstGeom prst="roundRect">
            <a:avLst>
              <a:gd name="adj" fmla="val 5489"/>
            </a:avLst>
          </a:prstGeom>
          <a:solidFill>
            <a:schemeClr val="bg2"/>
          </a:solidFill>
          <a:ln/>
        </p:spPr>
      </p:sp>
      <p:sp>
        <p:nvSpPr>
          <p:cNvPr id="7" name="Heading: Dealer registers"/>
          <p:cNvSpPr txBox="1"/>
          <p:nvPr/>
        </p:nvSpPr>
        <p:spPr>
          <a:xfrm>
            <a:off x="822960" y="320040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Dealer registers</a:t>
            </a:r>
            <a:endParaRPr lang="en-US" sz="1800" dirty="0"/>
          </a:p>
        </p:txBody>
      </p:sp>
      <p:sp>
        <p:nvSpPr>
          <p:cNvPr id="8" name="Step text 1"/>
          <p:cNvSpPr txBox="1"/>
          <p:nvPr/>
        </p:nvSpPr>
        <p:spPr>
          <a:xfrm>
            <a:off x="822960" y="3931920"/>
            <a:ext cx="16331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Model, chassis, motor number, controller and battery serials, owner and district.</a:t>
            </a:r>
            <a:endParaRPr lang="en-US" sz="1500" dirty="0"/>
          </a:p>
        </p:txBody>
      </p:sp>
      <p:sp>
        <p:nvSpPr>
          <p:cNvPr id="9" name="Step circle 2"/>
          <p:cNvSpPr/>
          <p:nvPr/>
        </p:nvSpPr>
        <p:spPr>
          <a:xfrm>
            <a:off x="2867558" y="2057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number 2"/>
          <p:cNvSpPr txBox="1"/>
          <p:nvPr/>
        </p:nvSpPr>
        <p:spPr>
          <a:xfrm>
            <a:off x="2867558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Step arrow 2"/>
          <p:cNvSpPr/>
          <p:nvPr/>
        </p:nvSpPr>
        <p:spPr>
          <a:xfrm>
            <a:off x="3599078" y="2377440"/>
            <a:ext cx="140451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Step card 2"/>
          <p:cNvSpPr/>
          <p:nvPr/>
        </p:nvSpPr>
        <p:spPr>
          <a:xfrm>
            <a:off x="2867558" y="3017520"/>
            <a:ext cx="1998878" cy="2743200"/>
          </a:xfrm>
          <a:prstGeom prst="roundRect">
            <a:avLst>
              <a:gd name="adj" fmla="val 5489"/>
            </a:avLst>
          </a:prstGeom>
          <a:solidFill>
            <a:schemeClr val="bg2"/>
          </a:solidFill>
          <a:ln/>
        </p:spPr>
      </p:sp>
      <p:sp>
        <p:nvSpPr>
          <p:cNvPr id="13" name="Heading: QR goes on the plate"/>
          <p:cNvSpPr txBox="1"/>
          <p:nvPr/>
        </p:nvSpPr>
        <p:spPr>
          <a:xfrm>
            <a:off x="3050438" y="320040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goes on the plate</a:t>
            </a:r>
            <a:endParaRPr lang="en-US" sz="1800" dirty="0"/>
          </a:p>
        </p:txBody>
      </p:sp>
      <p:sp>
        <p:nvSpPr>
          <p:cNvPr id="14" name="Step text 2"/>
          <p:cNvSpPr txBox="1"/>
          <p:nvPr/>
        </p:nvSpPr>
        <p:spPr>
          <a:xfrm>
            <a:off x="3050438" y="3931920"/>
            <a:ext cx="16331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plate carries the company logo and a QR code that opens the bike's record.</a:t>
            </a:r>
            <a:endParaRPr lang="en-US" sz="1500" dirty="0"/>
          </a:p>
        </p:txBody>
      </p:sp>
      <p:sp>
        <p:nvSpPr>
          <p:cNvPr id="15" name="Step circle 3"/>
          <p:cNvSpPr/>
          <p:nvPr/>
        </p:nvSpPr>
        <p:spPr>
          <a:xfrm>
            <a:off x="5095037" y="2057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number 3"/>
          <p:cNvSpPr txBox="1"/>
          <p:nvPr/>
        </p:nvSpPr>
        <p:spPr>
          <a:xfrm>
            <a:off x="5095037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Step arrow 3"/>
          <p:cNvSpPr/>
          <p:nvPr/>
        </p:nvSpPr>
        <p:spPr>
          <a:xfrm>
            <a:off x="5826557" y="2377440"/>
            <a:ext cx="140451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Step card 3"/>
          <p:cNvSpPr/>
          <p:nvPr/>
        </p:nvSpPr>
        <p:spPr>
          <a:xfrm>
            <a:off x="5095037" y="3017520"/>
            <a:ext cx="1998878" cy="2743200"/>
          </a:xfrm>
          <a:prstGeom prst="roundRect">
            <a:avLst>
              <a:gd name="adj" fmla="val 5489"/>
            </a:avLst>
          </a:prstGeom>
          <a:solidFill>
            <a:schemeClr val="bg2"/>
          </a:solidFill>
          <a:ln/>
        </p:spPr>
      </p:sp>
      <p:sp>
        <p:nvSpPr>
          <p:cNvPr id="19" name="Heading: Owner sees the record"/>
          <p:cNvSpPr txBox="1"/>
          <p:nvPr/>
        </p:nvSpPr>
        <p:spPr>
          <a:xfrm>
            <a:off x="5277917" y="320040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sees the record</a:t>
            </a:r>
            <a:endParaRPr lang="en-US" sz="1800" dirty="0"/>
          </a:p>
        </p:txBody>
      </p:sp>
      <p:sp>
        <p:nvSpPr>
          <p:cNvPr id="20" name="Step text 3"/>
          <p:cNvSpPr txBox="1"/>
          <p:nvPr/>
        </p:nvSpPr>
        <p:spPr>
          <a:xfrm>
            <a:off x="5277917" y="3931920"/>
            <a:ext cx="16331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Registration period, warranty per part and the dealer's contact, on any phone.</a:t>
            </a:r>
            <a:endParaRPr lang="en-US" sz="1500" dirty="0"/>
          </a:p>
        </p:txBody>
      </p:sp>
      <p:sp>
        <p:nvSpPr>
          <p:cNvPr id="21" name="Step circle 4"/>
          <p:cNvSpPr/>
          <p:nvPr/>
        </p:nvSpPr>
        <p:spPr>
          <a:xfrm>
            <a:off x="7322515" y="2057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tep number 4"/>
          <p:cNvSpPr txBox="1"/>
          <p:nvPr/>
        </p:nvSpPr>
        <p:spPr>
          <a:xfrm>
            <a:off x="7322515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Step arrow 4"/>
          <p:cNvSpPr/>
          <p:nvPr/>
        </p:nvSpPr>
        <p:spPr>
          <a:xfrm>
            <a:off x="8054035" y="2377440"/>
            <a:ext cx="140451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4" name="Step card 4"/>
          <p:cNvSpPr/>
          <p:nvPr/>
        </p:nvSpPr>
        <p:spPr>
          <a:xfrm>
            <a:off x="7322515" y="3017520"/>
            <a:ext cx="1998878" cy="2743200"/>
          </a:xfrm>
          <a:prstGeom prst="roundRect">
            <a:avLst>
              <a:gd name="adj" fmla="val 5489"/>
            </a:avLst>
          </a:prstGeom>
          <a:solidFill>
            <a:schemeClr val="bg2"/>
          </a:solidFill>
          <a:ln/>
        </p:spPr>
      </p:sp>
      <p:sp>
        <p:nvSpPr>
          <p:cNvPr id="25" name="Heading: Parts get replaced"/>
          <p:cNvSpPr txBox="1"/>
          <p:nvPr/>
        </p:nvSpPr>
        <p:spPr>
          <a:xfrm>
            <a:off x="7505395" y="320040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Parts get replaced</a:t>
            </a:r>
            <a:endParaRPr lang="en-US" sz="1800" dirty="0"/>
          </a:p>
        </p:txBody>
      </p:sp>
      <p:sp>
        <p:nvSpPr>
          <p:cNvPr id="26" name="Step text 4"/>
          <p:cNvSpPr txBox="1"/>
          <p:nvPr/>
        </p:nvSpPr>
        <p:spPr>
          <a:xfrm>
            <a:off x="7505395" y="3931920"/>
            <a:ext cx="16331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dealer scans the plate and logs the swap. A new part starts a new warranty.</a:t>
            </a:r>
            <a:endParaRPr lang="en-US" sz="1500" dirty="0"/>
          </a:p>
        </p:txBody>
      </p:sp>
      <p:sp>
        <p:nvSpPr>
          <p:cNvPr id="27" name="Step circle 5"/>
          <p:cNvSpPr/>
          <p:nvPr/>
        </p:nvSpPr>
        <p:spPr>
          <a:xfrm>
            <a:off x="9549994" y="20574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Step number 5"/>
          <p:cNvSpPr txBox="1"/>
          <p:nvPr/>
        </p:nvSpPr>
        <p:spPr>
          <a:xfrm>
            <a:off x="9549994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5</a:t>
            </a:r>
            <a:endParaRPr lang="en-US" sz="2200" dirty="0"/>
          </a:p>
        </p:txBody>
      </p:sp>
      <p:sp>
        <p:nvSpPr>
          <p:cNvPr id="29" name="Step card 5"/>
          <p:cNvSpPr/>
          <p:nvPr/>
        </p:nvSpPr>
        <p:spPr>
          <a:xfrm>
            <a:off x="9549994" y="3017520"/>
            <a:ext cx="1998878" cy="2743200"/>
          </a:xfrm>
          <a:prstGeom prst="roundRect">
            <a:avLst>
              <a:gd name="adj" fmla="val 5489"/>
            </a:avLst>
          </a:prstGeom>
          <a:solidFill>
            <a:schemeClr val="bg2"/>
          </a:solidFill>
          <a:ln/>
        </p:spPr>
      </p:sp>
      <p:sp>
        <p:nvSpPr>
          <p:cNvPr id="30" name="Heading: Company sees it live"/>
          <p:cNvSpPr txBox="1"/>
          <p:nvPr/>
        </p:nvSpPr>
        <p:spPr>
          <a:xfrm>
            <a:off x="9732874" y="320040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sees it live</a:t>
            </a:r>
            <a:endParaRPr lang="en-US" sz="1800" dirty="0"/>
          </a:p>
        </p:txBody>
      </p:sp>
      <p:sp>
        <p:nvSpPr>
          <p:cNvPr id="31" name="Step text 5"/>
          <p:cNvSpPr txBox="1"/>
          <p:nvPr/>
        </p:nvSpPr>
        <p:spPr>
          <a:xfrm>
            <a:off x="9732874" y="3931920"/>
            <a:ext cx="16331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district circle on the India map darkens and the area report moves.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Company: every district on one live map</a:t>
            </a:r>
            <a:endParaRPr lang="en-US" sz="3400" dirty="0"/>
          </a:p>
        </p:txBody>
      </p:sp>
      <p:pic>
        <p:nvPicPr>
          <p:cNvPr id="3" name="India map" descr="India map with one circle per district; deeper shade means more regist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961955" cy="48463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pic>
      <p:pic>
        <p:nvPicPr>
          <p:cNvPr id="4" name="Top states and live feed" descr="Top states ranking and live feed of new registra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355" y="1463040"/>
            <a:ext cx="2119653" cy="48463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pic>
      <p:sp>
        <p:nvSpPr>
          <p:cNvPr id="5" name="Heading: Circles by district"/>
          <p:cNvSpPr txBox="1"/>
          <p:nvPr/>
        </p:nvSpPr>
        <p:spPr>
          <a:xfrm>
            <a:off x="7361768" y="1508760"/>
            <a:ext cx="4187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Circles by district</a:t>
            </a:r>
            <a:endParaRPr lang="en-US" sz="2000" dirty="0"/>
          </a:p>
        </p:txBody>
      </p:sp>
      <p:sp>
        <p:nvSpPr>
          <p:cNvPr id="6" name="Callout text 1"/>
          <p:cNvSpPr txBox="1"/>
          <p:nvPr/>
        </p:nvSpPr>
        <p:spPr>
          <a:xfrm>
            <a:off x="7361768" y="1920240"/>
            <a:ext cx="4187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deeper shade means more registrations. Switch between all-time and today.</a:t>
            </a:r>
            <a:endParaRPr lang="en-US" sz="1500" dirty="0"/>
          </a:p>
        </p:txBody>
      </p:sp>
      <p:sp>
        <p:nvSpPr>
          <p:cNvPr id="7" name="Heading: Zoom into a state"/>
          <p:cNvSpPr txBox="1"/>
          <p:nvPr/>
        </p:nvSpPr>
        <p:spPr>
          <a:xfrm>
            <a:off x="7361768" y="3154680"/>
            <a:ext cx="4187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Zoom into a state</a:t>
            </a:r>
            <a:endParaRPr lang="en-US" sz="2000" dirty="0"/>
          </a:p>
        </p:txBody>
      </p:sp>
      <p:sp>
        <p:nvSpPr>
          <p:cNvPr id="8" name="Callout text 2"/>
          <p:cNvSpPr txBox="1"/>
          <p:nvPr/>
        </p:nvSpPr>
        <p:spPr>
          <a:xfrm>
            <a:off x="7361768" y="3566160"/>
            <a:ext cx="4187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Click a state to see its districts and a ranked list of the busiest ones.</a:t>
            </a:r>
            <a:endParaRPr lang="en-US" sz="1500" dirty="0"/>
          </a:p>
        </p:txBody>
      </p:sp>
      <p:sp>
        <p:nvSpPr>
          <p:cNvPr id="9" name="Heading: Moves as bikes sell"/>
          <p:cNvSpPr txBox="1"/>
          <p:nvPr/>
        </p:nvSpPr>
        <p:spPr>
          <a:xfrm>
            <a:off x="7361768" y="4800600"/>
            <a:ext cx="4187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Moves as bikes sell</a:t>
            </a:r>
            <a:endParaRPr lang="en-US" sz="2000" dirty="0"/>
          </a:p>
        </p:txBody>
      </p:sp>
      <p:sp>
        <p:nvSpPr>
          <p:cNvPr id="10" name="Callout text 3"/>
          <p:cNvSpPr txBox="1"/>
          <p:nvPr/>
        </p:nvSpPr>
        <p:spPr>
          <a:xfrm>
            <a:off x="7361768" y="5212080"/>
            <a:ext cx="4187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New registrations pulse on the map and appear in the live feed.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Company: area report and warranty register</a:t>
            </a:r>
            <a:endParaRPr lang="en-US" sz="3400" dirty="0"/>
          </a:p>
        </p:txBody>
      </p:sp>
      <p:pic>
        <p:nvPicPr>
          <p:cNvPr id="3" name="Area report" descr="Area-wise report with Uttar Pradesh expanded into distri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5271516" cy="337235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pic>
      <p:pic>
        <p:nvPicPr>
          <p:cNvPr id="4" name="Warranty register" descr="Warranty register with status filters and per-part warran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356" y="1463040"/>
            <a:ext cx="5271516" cy="337235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pic>
      <p:sp>
        <p:nvSpPr>
          <p:cNvPr id="5" name="Heading: Area-wise report"/>
          <p:cNvSpPr txBox="1"/>
          <p:nvPr/>
        </p:nvSpPr>
        <p:spPr>
          <a:xfrm>
            <a:off x="640080" y="5109710"/>
            <a:ext cx="5271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Area-wise report</a:t>
            </a:r>
            <a:endParaRPr lang="en-US" sz="2000" dirty="0"/>
          </a:p>
        </p:txBody>
      </p:sp>
      <p:sp>
        <p:nvSpPr>
          <p:cNvPr id="6" name="Bullets"/>
          <p:cNvSpPr txBox="1"/>
          <p:nvPr/>
        </p:nvSpPr>
        <p:spPr>
          <a:xfrm>
            <a:off x="640080" y="5566910"/>
            <a:ext cx="52715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state and union territory, with its districts underneath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Sort by registered, today or name; totals move live</a:t>
            </a:r>
            <a:endParaRPr lang="en-US" sz="1500" dirty="0"/>
          </a:p>
        </p:txBody>
      </p:sp>
      <p:sp>
        <p:nvSpPr>
          <p:cNvPr id="7" name="Heading: Warranty register"/>
          <p:cNvSpPr txBox="1"/>
          <p:nvPr/>
        </p:nvSpPr>
        <p:spPr>
          <a:xfrm>
            <a:off x="6277356" y="5109710"/>
            <a:ext cx="5271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Warranty register</a:t>
            </a:r>
            <a:endParaRPr lang="en-US" sz="2000" dirty="0"/>
          </a:p>
        </p:txBody>
      </p:sp>
      <p:sp>
        <p:nvSpPr>
          <p:cNvPr id="8" name="Bullets"/>
          <p:cNvSpPr txBox="1"/>
          <p:nvPr/>
        </p:nvSpPr>
        <p:spPr>
          <a:xfrm>
            <a:off x="6277356" y="5566910"/>
            <a:ext cx="52715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Motor, controller and battery warranty for each vehicle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Filter by active, expiring soon or expired; search by serial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Dealers: register, scan and service from a phone</a:t>
            </a:r>
            <a:endParaRPr lang="en-US" sz="3400" dirty="0"/>
          </a:p>
        </p:txBody>
      </p:sp>
      <p:sp>
        <p:nvSpPr>
          <p:cNvPr id="3" name="Dealer home frame"/>
          <p:cNvSpPr/>
          <p:nvPr/>
        </p:nvSpPr>
        <p:spPr>
          <a:xfrm>
            <a:off x="4316683" y="1444752"/>
            <a:ext cx="2304050" cy="4837176"/>
          </a:xfrm>
          <a:prstGeom prst="roundRect">
            <a:avLst>
              <a:gd name="adj" fmla="val 11906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4" name="Dealer home" descr="Dealer 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0691" y="1508760"/>
            <a:ext cx="2176034" cy="4709160"/>
          </a:xfrm>
          <a:prstGeom prst="rect">
            <a:avLst/>
          </a:prstGeom>
        </p:spPr>
      </p:pic>
      <p:sp>
        <p:nvSpPr>
          <p:cNvPr id="5" name="Register a vehicle frame"/>
          <p:cNvSpPr/>
          <p:nvPr/>
        </p:nvSpPr>
        <p:spPr>
          <a:xfrm>
            <a:off x="6812757" y="1444752"/>
            <a:ext cx="2304050" cy="4837176"/>
          </a:xfrm>
          <a:prstGeom prst="roundRect">
            <a:avLst>
              <a:gd name="adj" fmla="val 11906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6" name="Register a vehicle" descr="Register a vehi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765" y="1508760"/>
            <a:ext cx="2176034" cy="4709160"/>
          </a:xfrm>
          <a:prstGeom prst="rect">
            <a:avLst/>
          </a:prstGeom>
        </p:spPr>
      </p:pic>
      <p:sp>
        <p:nvSpPr>
          <p:cNvPr id="7" name="Scan plate QR frame"/>
          <p:cNvSpPr/>
          <p:nvPr/>
        </p:nvSpPr>
        <p:spPr>
          <a:xfrm>
            <a:off x="9308830" y="1444752"/>
            <a:ext cx="2304050" cy="4837176"/>
          </a:xfrm>
          <a:prstGeom prst="roundRect">
            <a:avLst>
              <a:gd name="adj" fmla="val 11906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8" name="Scan plate QR" descr="Scan plate Q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838" y="1508760"/>
            <a:ext cx="2176034" cy="4709160"/>
          </a:xfrm>
          <a:prstGeom prst="rect">
            <a:avLst/>
          </a:prstGeom>
        </p:spPr>
      </p:pic>
      <p:sp>
        <p:nvSpPr>
          <p:cNvPr id="9" name="Heading: Register before selling"/>
          <p:cNvSpPr txBox="1"/>
          <p:nvPr/>
        </p:nvSpPr>
        <p:spPr>
          <a:xfrm>
            <a:off x="640080" y="1508760"/>
            <a:ext cx="32834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before selling</a:t>
            </a:r>
            <a:endParaRPr lang="en-US" sz="2000" dirty="0"/>
          </a:p>
        </p:txBody>
      </p:sp>
      <p:sp>
        <p:nvSpPr>
          <p:cNvPr id="10" name="Dealer text 1"/>
          <p:cNvSpPr txBox="1"/>
          <p:nvPr/>
        </p:nvSpPr>
        <p:spPr>
          <a:xfrm>
            <a:off x="640080" y="1920240"/>
            <a:ext cx="32834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short form: model, chassis, motor number, controller and battery serials, owner.</a:t>
            </a:r>
            <a:endParaRPr lang="en-US" sz="1500" dirty="0"/>
          </a:p>
        </p:txBody>
      </p:sp>
      <p:sp>
        <p:nvSpPr>
          <p:cNvPr id="11" name="Heading: Scan the plate QR"/>
          <p:cNvSpPr txBox="1"/>
          <p:nvPr/>
        </p:nvSpPr>
        <p:spPr>
          <a:xfrm>
            <a:off x="640080" y="3063240"/>
            <a:ext cx="32834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the plate QR</a:t>
            </a:r>
            <a:endParaRPr lang="en-US" sz="2000" dirty="0"/>
          </a:p>
        </p:txBody>
      </p:sp>
      <p:sp>
        <p:nvSpPr>
          <p:cNvPr id="12" name="Dealer text 2"/>
          <p:cNvSpPr txBox="1"/>
          <p:nvPr/>
        </p:nvSpPr>
        <p:spPr>
          <a:xfrm>
            <a:off x="640080" y="3474720"/>
            <a:ext cx="32834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Camera, a photo of the plate or the typed number opens the full record.</a:t>
            </a:r>
            <a:endParaRPr lang="en-US" sz="1500" dirty="0"/>
          </a:p>
        </p:txBody>
      </p:sp>
      <p:sp>
        <p:nvSpPr>
          <p:cNvPr id="13" name="Heading: Log part replacements"/>
          <p:cNvSpPr txBox="1"/>
          <p:nvPr/>
        </p:nvSpPr>
        <p:spPr>
          <a:xfrm>
            <a:off x="640080" y="4617720"/>
            <a:ext cx="32834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part replacements</a:t>
            </a:r>
            <a:endParaRPr lang="en-US" sz="2000" dirty="0"/>
          </a:p>
        </p:txBody>
      </p:sp>
      <p:sp>
        <p:nvSpPr>
          <p:cNvPr id="14" name="Dealer text 3"/>
          <p:cNvSpPr txBox="1"/>
          <p:nvPr/>
        </p:nvSpPr>
        <p:spPr>
          <a:xfrm>
            <a:off x="640080" y="5029200"/>
            <a:ext cx="32834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Pick the part, enter the new serial and a reason. The warranty restarts.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Owners: the bike's whole record in their pocket</a:t>
            </a:r>
            <a:endParaRPr lang="en-US" sz="3400" dirty="0"/>
          </a:p>
        </p:txBody>
      </p:sp>
      <p:sp>
        <p:nvSpPr>
          <p:cNvPr id="3" name="Owner home frame"/>
          <p:cNvSpPr/>
          <p:nvPr/>
        </p:nvSpPr>
        <p:spPr>
          <a:xfrm>
            <a:off x="640080" y="1444752"/>
            <a:ext cx="2304050" cy="4837176"/>
          </a:xfrm>
          <a:prstGeom prst="roundRect">
            <a:avLst>
              <a:gd name="adj" fmla="val 11906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4" name="Owner home" descr="Owner 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08760"/>
            <a:ext cx="2176034" cy="4709160"/>
          </a:xfrm>
          <a:prstGeom prst="rect">
            <a:avLst/>
          </a:prstGeom>
        </p:spPr>
      </p:pic>
      <p:sp>
        <p:nvSpPr>
          <p:cNvPr id="5" name="Owner warranty frame"/>
          <p:cNvSpPr/>
          <p:nvPr/>
        </p:nvSpPr>
        <p:spPr>
          <a:xfrm>
            <a:off x="3136154" y="1444752"/>
            <a:ext cx="2304050" cy="4837176"/>
          </a:xfrm>
          <a:prstGeom prst="roundRect">
            <a:avLst>
              <a:gd name="adj" fmla="val 11906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6" name="Owner warranty" descr="Owner warran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162" y="1508760"/>
            <a:ext cx="2176034" cy="4709160"/>
          </a:xfrm>
          <a:prstGeom prst="rect">
            <a:avLst/>
          </a:prstGeom>
        </p:spPr>
      </p:pic>
      <p:sp>
        <p:nvSpPr>
          <p:cNvPr id="7" name="Owner parts history frame"/>
          <p:cNvSpPr/>
          <p:nvPr/>
        </p:nvSpPr>
        <p:spPr>
          <a:xfrm>
            <a:off x="5632227" y="1444752"/>
            <a:ext cx="2304050" cy="4837176"/>
          </a:xfrm>
          <a:prstGeom prst="roundRect">
            <a:avLst>
              <a:gd name="adj" fmla="val 11906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8" name="Owner parts history" descr="Owner parts hist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235" y="1508760"/>
            <a:ext cx="2176034" cy="4709160"/>
          </a:xfrm>
          <a:prstGeom prst="rect">
            <a:avLst/>
          </a:prstGeom>
        </p:spPr>
      </p:pic>
      <p:sp>
        <p:nvSpPr>
          <p:cNvPr id="9" name="Heading: Three parts, tracked by serial number"/>
          <p:cNvSpPr txBox="1"/>
          <p:nvPr/>
        </p:nvSpPr>
        <p:spPr>
          <a:xfrm>
            <a:off x="8539781" y="1508760"/>
            <a:ext cx="30090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parts, tracked by serial number</a:t>
            </a:r>
            <a:endParaRPr lang="en-US" sz="2000" dirty="0"/>
          </a:p>
        </p:txBody>
      </p:sp>
      <p:sp>
        <p:nvSpPr>
          <p:cNvPr id="10" name="Icon: Motor circle"/>
          <p:cNvSpPr/>
          <p:nvPr/>
        </p:nvSpPr>
        <p:spPr>
          <a:xfrm>
            <a:off x="8539781" y="2148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: Motor" descr="Icon: Mo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6202" y="2315261"/>
            <a:ext cx="307238" cy="307238"/>
          </a:xfrm>
          <a:prstGeom prst="rect">
            <a:avLst/>
          </a:prstGeom>
        </p:spPr>
      </p:pic>
      <p:sp>
        <p:nvSpPr>
          <p:cNvPr id="12" name="Part text Motor"/>
          <p:cNvSpPr txBox="1"/>
          <p:nvPr/>
        </p:nvSpPr>
        <p:spPr>
          <a:xfrm>
            <a:off x="9362741" y="2148840"/>
            <a:ext cx="218613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Motor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Warranty tracked by motor number</a:t>
            </a:r>
            <a:endParaRPr lang="en-US" sz="1500" dirty="0"/>
          </a:p>
        </p:txBody>
      </p:sp>
      <p:sp>
        <p:nvSpPr>
          <p:cNvPr id="13" name="Icon: Controller circle"/>
          <p:cNvSpPr/>
          <p:nvPr/>
        </p:nvSpPr>
        <p:spPr>
          <a:xfrm>
            <a:off x="8539781" y="3017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: Controller" descr="Icon: Controll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6202" y="3183941"/>
            <a:ext cx="307238" cy="307238"/>
          </a:xfrm>
          <a:prstGeom prst="rect">
            <a:avLst/>
          </a:prstGeom>
        </p:spPr>
      </p:pic>
      <p:sp>
        <p:nvSpPr>
          <p:cNvPr id="15" name="Part text Controller"/>
          <p:cNvSpPr txBox="1"/>
          <p:nvPr/>
        </p:nvSpPr>
        <p:spPr>
          <a:xfrm>
            <a:off x="9362741" y="3017520"/>
            <a:ext cx="218613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Controller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Warranty tracked by controller serial</a:t>
            </a:r>
            <a:endParaRPr lang="en-US" sz="1500" dirty="0"/>
          </a:p>
        </p:txBody>
      </p:sp>
      <p:sp>
        <p:nvSpPr>
          <p:cNvPr id="16" name="Icon: Battery circle"/>
          <p:cNvSpPr/>
          <p:nvPr/>
        </p:nvSpPr>
        <p:spPr>
          <a:xfrm>
            <a:off x="8539781" y="3886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: Battery" descr="Icon: Batter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6202" y="4052621"/>
            <a:ext cx="307238" cy="307238"/>
          </a:xfrm>
          <a:prstGeom prst="rect">
            <a:avLst/>
          </a:prstGeom>
        </p:spPr>
      </p:pic>
      <p:sp>
        <p:nvSpPr>
          <p:cNvPr id="18" name="Part text Battery"/>
          <p:cNvSpPr txBox="1"/>
          <p:nvPr/>
        </p:nvSpPr>
        <p:spPr>
          <a:xfrm>
            <a:off x="9362741" y="3886200"/>
            <a:ext cx="218613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Battery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Warranty tracked by battery serial</a:t>
            </a:r>
            <a:endParaRPr lang="en-US" sz="1500" dirty="0"/>
          </a:p>
        </p:txBody>
      </p:sp>
      <p:sp>
        <p:nvSpPr>
          <p:cNvPr id="19" name="Bullets"/>
          <p:cNvSpPr txBox="1"/>
          <p:nvPr/>
        </p:nvSpPr>
        <p:spPr>
          <a:xfrm>
            <a:off x="8539781" y="4892040"/>
            <a:ext cx="300909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Registration date and 5-year validity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warning when a part's warranty is about to end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replacement with old and new serial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demo does, and what comes next</a:t>
            </a:r>
            <a:endParaRPr lang="en-US" sz="3400" dirty="0"/>
          </a:p>
        </p:txBody>
      </p:sp>
      <p:sp>
        <p:nvSpPr>
          <p:cNvPr id="3" name="Demo card"/>
          <p:cNvSpPr/>
          <p:nvPr/>
        </p:nvSpPr>
        <p:spPr>
          <a:xfrm>
            <a:off x="640080" y="1600200"/>
            <a:ext cx="5225796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4" name="Next card"/>
          <p:cNvSpPr/>
          <p:nvPr/>
        </p:nvSpPr>
        <p:spPr>
          <a:xfrm>
            <a:off x="6323076" y="1600200"/>
            <a:ext cx="5225796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5" name="Heading: In the demo today"/>
          <p:cNvSpPr txBox="1"/>
          <p:nvPr/>
        </p:nvSpPr>
        <p:spPr>
          <a:xfrm>
            <a:off x="1005840" y="187452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demo today</a:t>
            </a:r>
            <a:endParaRPr lang="en-US" sz="2200" dirty="0"/>
          </a:p>
        </p:txBody>
      </p:sp>
      <p:sp>
        <p:nvSpPr>
          <p:cNvPr id="6" name="Bullets"/>
          <p:cNvSpPr txBox="1"/>
          <p:nvPr/>
        </p:nvSpPr>
        <p:spPr>
          <a:xfrm>
            <a:off x="1005840" y="2468880"/>
            <a:ext cx="449427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Company, dealer and owner views with sample data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Live district map, area report, warranty register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Vehicle registration, plate QR and scanning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Part replacement with fresh warranty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Runs in any browser; no backend to set up</a:t>
            </a:r>
            <a:endParaRPr lang="en-US" sz="1800" dirty="0"/>
          </a:p>
        </p:txBody>
      </p:sp>
      <p:sp>
        <p:nvSpPr>
          <p:cNvPr id="7" name="Heading: Proposed next steps"/>
          <p:cNvSpPr txBox="1"/>
          <p:nvPr/>
        </p:nvSpPr>
        <p:spPr>
          <a:xfrm>
            <a:off x="6688836" y="187452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next steps</a:t>
            </a:r>
            <a:endParaRPr lang="en-US" sz="2200" dirty="0"/>
          </a:p>
        </p:txBody>
      </p:sp>
      <p:sp>
        <p:nvSpPr>
          <p:cNvPr id="8" name="Bullets"/>
          <p:cNvSpPr txBox="1"/>
          <p:nvPr/>
        </p:nvSpPr>
        <p:spPr>
          <a:xfrm>
            <a:off x="6688836" y="2468880"/>
            <a:ext cx="449427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Real database and API behind the screens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Sign-in for each role, with OTP for owners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Warranty-ending reminders by SMS or WhatsApp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Dealer onboarding and bulk QR plate printing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Warranty claim workflow and report exports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running</a:t>
            </a:r>
            <a:endParaRPr lang="en-US" sz="4800" dirty="0"/>
          </a:p>
        </p:txBody>
      </p:sp>
      <p:sp>
        <p:nvSpPr>
          <p:cNvPr id="3" name="Closing text"/>
          <p:cNvSpPr txBox="1"/>
          <p:nvPr/>
        </p:nvSpPr>
        <p:spPr>
          <a:xfrm>
            <a:off x="640080" y="21945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Pick a role on the first screen: Company, Dealer or Vehicle owner. Try registering a bike, then open it from the owner view.</a:t>
            </a:r>
            <a:endParaRPr lang="en-US" sz="2000" dirty="0"/>
          </a:p>
        </p:txBody>
      </p:sp>
      <p:sp>
        <p:nvSpPr>
          <p:cNvPr id="4" name="Demo link"/>
          <p:cNvSpPr txBox="1"/>
          <p:nvPr/>
        </p:nvSpPr>
        <p:spPr>
          <a:xfrm>
            <a:off x="640080" y="3749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Live demo: </a:t>
            </a:r>
            <a:pPr indent="0" marL="0">
              <a:buNone/>
            </a:pPr>
            <a:r>
              <a:rPr lang="en-US" sz="1800" u="sng" dirty="0">
                <a:solidFill>
                  <a:schemeClr val="accent2"/>
                </a:solidFill>
                <a:hlinkClick r:id="rId1" invalidUrl="" action="" tgtFrame="" tooltip="Open the dem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claude.ai/artifact/76eZmTT9gninNENMKdFitt</a:t>
            </a:r>
            <a:endParaRPr lang="en-US" sz="1800" dirty="0"/>
          </a:p>
        </p:txBody>
      </p:sp>
      <p:sp>
        <p:nvSpPr>
          <p:cNvPr id="5" name="Code location"/>
          <p:cNvSpPr txBox="1"/>
          <p:nvPr/>
        </p:nvSpPr>
        <p:spPr>
          <a:xfrm>
            <a:off x="640080" y="4251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Code: </a:t>
            </a:r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ev-registry/ in the fans-app repo, branch claude/dreamy-allen-lo4if2</a:t>
            </a:r>
            <a:endParaRPr lang="en-US" sz="1800" dirty="0"/>
          </a:p>
        </p:txBody>
      </p:sp>
      <p:sp>
        <p:nvSpPr>
          <p:cNvPr id="6" name="Footnote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All data shown is sample data.</a:t>
            </a:r>
            <a:endParaRPr lang="en-US" sz="1200" dirty="0"/>
          </a:p>
        </p:txBody>
      </p:sp>
      <p:sp>
        <p:nvSpPr>
          <p:cNvPr id="7" name="Scan plate QR screen frame"/>
          <p:cNvSpPr/>
          <p:nvPr/>
        </p:nvSpPr>
        <p:spPr>
          <a:xfrm>
            <a:off x="8988552" y="713232"/>
            <a:ext cx="2494189" cy="5248656"/>
          </a:xfrm>
          <a:prstGeom prst="roundRect">
            <a:avLst>
              <a:gd name="adj" fmla="val 10998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8" name="Scan plate QR screen" descr="Scan plate QR 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777240"/>
            <a:ext cx="2366173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yfr.live">
  <a:themeElements>
    <a:clrScheme name="syfr.live">
      <a:dk1>
        <a:srgbClr val="0E1D18"/>
      </a:dk1>
      <a:lt1>
        <a:srgbClr val="FFFFFF"/>
      </a:lt1>
      <a:dk2>
        <a:srgbClr val="063326"/>
      </a:dk2>
      <a:lt2>
        <a:srgbClr val="EEF3F0"/>
      </a:lt2>
      <a:accent1>
        <a:srgbClr val="0A6B4E"/>
      </a:accent1>
      <a:accent2>
        <a:srgbClr val="F6C90E"/>
      </a:accent2>
      <a:accent3>
        <a:srgbClr val="3F9475"/>
      </a:accent3>
      <a:accent4>
        <a:srgbClr val="B4DBCA"/>
      </a:accent4>
      <a:accent5>
        <a:srgbClr val="8A4F00"/>
      </a:accent5>
      <a:accent6>
        <a:srgbClr val="B3322F"/>
      </a:accent6>
      <a:hlink>
        <a:srgbClr val="0A6B4E"/>
      </a:hlink>
      <a:folHlink>
        <a:srgbClr val="566861"/>
      </a:folHlink>
    </a:clrScheme>
    <a:fontScheme name="syfr.liv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syfr.live</dc:title>
  <dc:subject>PptxGenJS Presentation</dc:subject>
  <dc:creator>syfr.live</dc:creator>
  <cp:lastModifiedBy>syfr.live</cp:lastModifiedBy>
  <cp:revision>1</cp:revision>
  <dcterms:created xsi:type="dcterms:W3CDTF">2026-10-17T05:10:40Z</dcterms:created>
  <dcterms:modified xsi:type="dcterms:W3CDTF">2026-10-17T05:10:40Z</dcterms:modified>
</cp:coreProperties>
</file>