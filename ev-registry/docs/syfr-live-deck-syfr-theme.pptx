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ad6d5f80-7aab-0c62-af2f-de353f487f95}">
          <p14:sldIdLst>
            <p14:sldId id="256"/>
            <p14:sldId id="257"/>
            <p14:sldId id="258"/>
            <p14:sldId id="259"/>
          </p14:sldIdLst>
        </p14:section>
        <p14:section name="Company" id="{a93a3912-8802-fe1e-70dd-7a130acd81b2}">
          <p14:sldIdLst>
            <p14:sldId id="260"/>
            <p14:sldId id="261"/>
          </p14:sldIdLst>
        </p14:section>
        <p14:section name="Dealer and owner" id="{3d838dd2-7f19-b9a0-9c10-1993768e49cd}">
          <p14:sldIdLst>
            <p14:sldId id="262"/>
            <p14:sldId id="263"/>
          </p14:sldIdLst>
        </p14:section>
        <p14:section name="Next" id="{1759afbe-c410-980d-b792-83207e658551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syfr.live is a web portal that keeps the records of small, non-RTO electric bikes: who owns which bike, where it was sold, what warranty each part carries, and which parts have been replaced. Everything in this deck is shown with sample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gap: low-speed e-bikes do not go through the RTO, so there is no government registry to lean on. The portal fills that gap for the manufacturer and its dealer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role gets its own view of the same data. Company is optimised for a large screen; dealer and owner are optimised for phones and tablets.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order matters: a bike is registered before it is sold, so warranty starts on day one and the owner never has to claim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map uses real district boundaries. The numbers are made up. The live feed adds a registration every few seconds so the real-time behaviour is visible in 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warranty register lists the most recent registrations. Each vehicle row opens the full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Screens, left to right: dealer home, the registration form, and the plate scanner. The scanner works on any phone browser that allows the camera, and falls back to a photo upload or a typed registration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Screens, left to right: registration with the plate and QR code, warranty per part, and the parts-replaced timeline. A replaced part starts its own new warranty.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next steps are proposals, not commitments. The first one unlocks the rest: the demo generates its data in the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demo link is a private page; share it from its Share menu before sending it to others.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LIGHT">
    <p:bg>
      <p:bgPr>
        <a:solidFill>
          <a:srgbClr val="F3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63093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b="1" dirty="0">
                <a:solidFill>
                  <a:schemeClr val="accent6"/>
                </a:solidFill>
                <a:latin typeface="Sora" pitchFamily="34" charset="0"/>
                <a:ea typeface="Sora" pitchFamily="34" charset="-122"/>
                <a:cs typeface="Sora" pitchFamily="34" charset="-120"/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108960"/>
            <a:ext cx="55778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37415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658368"/>
            <a:ext cx="1090879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6"/>
                </a:solidFill>
                <a:latin typeface="Sora" pitchFamily="34" charset="0"/>
                <a:ea typeface="Sora" pitchFamily="34" charset="-122"/>
                <a:cs typeface="Sor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syfr.live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7724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Sora" pitchFamily="34" charset="0"/>
                <a:ea typeface="Sora" pitchFamily="34" charset="-122"/>
                <a:cs typeface="Sor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laude.ai/artifact/76eZmTT9gninNENMKdFitt" TargetMode="Externa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ample data badge pill"/>
          <p:cNvSpPr/>
          <p:nvPr/>
        </p:nvSpPr>
        <p:spPr>
          <a:xfrm>
            <a:off x="640080" y="1325880"/>
            <a:ext cx="251460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3" name="Sample data badge"/>
          <p:cNvSpPr txBox="1"/>
          <p:nvPr/>
        </p:nvSpPr>
        <p:spPr>
          <a:xfrm>
            <a:off x="640080" y="132588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DEMO WITH SAMPLE DATA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182880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chemeClr val="accent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syfr.live</a:t>
            </a:r>
            <a:endParaRPr lang="en-US" sz="5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310896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</a:rPr>
              <a:t>One registry for every non-RTO e-bike: registration, warranty and parts history.</a:t>
            </a:r>
            <a:endParaRPr lang="en-US" sz="1800" dirty="0"/>
          </a:p>
        </p:txBody>
      </p:sp>
      <p:pic>
        <p:nvPicPr>
          <p:cNvPr id="6" name="Plate" descr="Number plate showing the syfr.live logo and a QR 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343400"/>
            <a:ext cx="4206240" cy="1752600"/>
          </a:xfrm>
          <a:prstGeom prst="rect">
            <a:avLst/>
          </a:prstGeom>
        </p:spPr>
      </p:pic>
      <p:sp>
        <p:nvSpPr>
          <p:cNvPr id="7" name="Owner home screen frame"/>
          <p:cNvSpPr/>
          <p:nvPr/>
        </p:nvSpPr>
        <p:spPr>
          <a:xfrm>
            <a:off x="7754112" y="621792"/>
            <a:ext cx="2663201" cy="5614416"/>
          </a:xfrm>
          <a:prstGeom prst="roundRect">
            <a:avLst>
              <a:gd name="adj" fmla="val 10300"/>
            </a:avLst>
          </a:prstGeom>
          <a:solidFill>
            <a:schemeClr val="tx1"/>
          </a:solidFill>
          <a:ln/>
          <a:effectLst>
            <a:outerShdw sx="100000" sy="100000" kx="0" ky="0" algn="bl" rotWithShape="0" blurRad="279400" dist="127000" dir="5400000">
              <a:srgbClr val="13261B">
                <a:alpha val="35000"/>
              </a:srgbClr>
            </a:outerShdw>
          </a:effectLst>
        </p:spPr>
      </p:sp>
      <p:pic>
        <p:nvPicPr>
          <p:cNvPr id="8" name="Owner home screen" descr="Owner home scre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685800"/>
            <a:ext cx="253518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THE GAP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65836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Non-RTO e-bikes leave no record behind</a:t>
            </a:r>
            <a:endParaRPr lang="en-US" sz="3200" dirty="0"/>
          </a:p>
        </p:txBody>
      </p:sp>
      <p:sp>
        <p:nvSpPr>
          <p:cNvPr id="4" name="Problem card 1"/>
          <p:cNvSpPr/>
          <p:nvPr/>
        </p:nvSpPr>
        <p:spPr>
          <a:xfrm>
            <a:off x="640080" y="1691640"/>
            <a:ext cx="3392424" cy="3520440"/>
          </a:xfrm>
          <a:prstGeom prst="roundRect">
            <a:avLst>
              <a:gd name="adj" fmla="val 4582"/>
            </a:avLst>
          </a:prstGeom>
          <a:solidFill>
            <a:schemeClr val="bg1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5" name="Icon: No central record circle"/>
          <p:cNvSpPr/>
          <p:nvPr/>
        </p:nvSpPr>
        <p:spPr>
          <a:xfrm>
            <a:off x="1005840" y="205740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Icon: No central record" descr="Icon: No central reco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5695" y="2267255"/>
            <a:ext cx="357530" cy="357530"/>
          </a:xfrm>
          <a:prstGeom prst="rect">
            <a:avLst/>
          </a:prstGeom>
        </p:spPr>
      </p:pic>
      <p:sp>
        <p:nvSpPr>
          <p:cNvPr id="7" name="Heading: No central record"/>
          <p:cNvSpPr txBox="1"/>
          <p:nvPr/>
        </p:nvSpPr>
        <p:spPr>
          <a:xfrm>
            <a:off x="1005840" y="3108960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32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 central record</a:t>
            </a:r>
            <a:endParaRPr lang="en-US" sz="2000" dirty="0"/>
          </a:p>
        </p:txBody>
      </p:sp>
      <p:sp>
        <p:nvSpPr>
          <p:cNvPr id="8" name="Problem text 1"/>
          <p:cNvSpPr txBox="1"/>
          <p:nvPr/>
        </p:nvSpPr>
        <p:spPr>
          <a:xfrm>
            <a:off x="1005840" y="3657600"/>
            <a:ext cx="26609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Nobody can say how many bikes are on the road, who owns them or which district they were sold in.</a:t>
            </a:r>
            <a:endParaRPr lang="en-US" sz="1500" dirty="0"/>
          </a:p>
        </p:txBody>
      </p:sp>
      <p:sp>
        <p:nvSpPr>
          <p:cNvPr id="9" name="Problem card 2"/>
          <p:cNvSpPr/>
          <p:nvPr/>
        </p:nvSpPr>
        <p:spPr>
          <a:xfrm>
            <a:off x="4398264" y="1691640"/>
            <a:ext cx="3392424" cy="3520440"/>
          </a:xfrm>
          <a:prstGeom prst="roundRect">
            <a:avLst>
              <a:gd name="adj" fmla="val 4582"/>
            </a:avLst>
          </a:prstGeom>
          <a:solidFill>
            <a:schemeClr val="bg1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Icon: Paper warranty circle"/>
          <p:cNvSpPr/>
          <p:nvPr/>
        </p:nvSpPr>
        <p:spPr>
          <a:xfrm>
            <a:off x="4764024" y="205740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Icon: Paper warranty" descr="Icon: Paper warran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3879" y="2267255"/>
            <a:ext cx="357530" cy="357530"/>
          </a:xfrm>
          <a:prstGeom prst="rect">
            <a:avLst/>
          </a:prstGeom>
        </p:spPr>
      </p:pic>
      <p:sp>
        <p:nvSpPr>
          <p:cNvPr id="12" name="Heading: Paper warranty"/>
          <p:cNvSpPr txBox="1"/>
          <p:nvPr/>
        </p:nvSpPr>
        <p:spPr>
          <a:xfrm>
            <a:off x="4764024" y="3108960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32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Paper warranty</a:t>
            </a:r>
            <a:endParaRPr lang="en-US" sz="2000" dirty="0"/>
          </a:p>
        </p:txBody>
      </p:sp>
      <p:sp>
        <p:nvSpPr>
          <p:cNvPr id="13" name="Problem text 2"/>
          <p:cNvSpPr txBox="1"/>
          <p:nvPr/>
        </p:nvSpPr>
        <p:spPr>
          <a:xfrm>
            <a:off x="4764024" y="3657600"/>
            <a:ext cx="26609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A claim depends on a bill and a card the owner may have lost, and on a dealer's memory of the sale.</a:t>
            </a:r>
            <a:endParaRPr lang="en-US" sz="1500" dirty="0"/>
          </a:p>
        </p:txBody>
      </p:sp>
      <p:sp>
        <p:nvSpPr>
          <p:cNvPr id="14" name="Problem card 3"/>
          <p:cNvSpPr/>
          <p:nvPr/>
        </p:nvSpPr>
        <p:spPr>
          <a:xfrm>
            <a:off x="8156448" y="1691640"/>
            <a:ext cx="3392424" cy="3520440"/>
          </a:xfrm>
          <a:prstGeom prst="roundRect">
            <a:avLst>
              <a:gd name="adj" fmla="val 4582"/>
            </a:avLst>
          </a:prstGeom>
          <a:solidFill>
            <a:schemeClr val="bg1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Icon: Unseen part swaps circle"/>
          <p:cNvSpPr/>
          <p:nvPr/>
        </p:nvSpPr>
        <p:spPr>
          <a:xfrm>
            <a:off x="8522208" y="205740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con: Unseen part swaps" descr="Icon: Unseen part swap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063" y="2267255"/>
            <a:ext cx="357530" cy="357530"/>
          </a:xfrm>
          <a:prstGeom prst="rect">
            <a:avLst/>
          </a:prstGeom>
        </p:spPr>
      </p:pic>
      <p:sp>
        <p:nvSpPr>
          <p:cNvPr id="17" name="Heading: Unseen part swaps"/>
          <p:cNvSpPr txBox="1"/>
          <p:nvPr/>
        </p:nvSpPr>
        <p:spPr>
          <a:xfrm>
            <a:off x="8522208" y="3108960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32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Unseen part swaps</a:t>
            </a:r>
            <a:endParaRPr lang="en-US" sz="2000" dirty="0"/>
          </a:p>
        </p:txBody>
      </p:sp>
      <p:sp>
        <p:nvSpPr>
          <p:cNvPr id="18" name="Problem text 3"/>
          <p:cNvSpPr txBox="1"/>
          <p:nvPr/>
        </p:nvSpPr>
        <p:spPr>
          <a:xfrm>
            <a:off x="8522208" y="3657600"/>
            <a:ext cx="26609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A new motor, controller or battery is fitted and the history of what was replaced, when, is gone.</a:t>
            </a:r>
            <a:endParaRPr lang="en-US" sz="1500" dirty="0"/>
          </a:p>
        </p:txBody>
      </p:sp>
      <p:sp>
        <p:nvSpPr>
          <p:cNvPr id="19" name="Takeaway card"/>
          <p:cNvSpPr/>
          <p:nvPr/>
        </p:nvSpPr>
        <p:spPr>
          <a:xfrm>
            <a:off x="640080" y="5440680"/>
            <a:ext cx="10908792" cy="731520"/>
          </a:xfrm>
          <a:prstGeom prst="roundRect">
            <a:avLst>
              <a:gd name="adj" fmla="val 21250"/>
            </a:avLst>
          </a:prstGeom>
          <a:solidFill>
            <a:srgbClr val="F0FDF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0" name="Takeaway"/>
          <p:cNvSpPr txBox="1"/>
          <p:nvPr/>
        </p:nvSpPr>
        <p:spPr>
          <a:xfrm>
            <a:off x="960120" y="5440680"/>
            <a:ext cx="10268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syfr.live gives each bike a registration number, a QR plate and one record that company, dealer and owner can all read.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WHO IT'S FOR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65836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Three users, one registry</a:t>
            </a:r>
            <a:endParaRPr lang="en-US" sz="3200" dirty="0"/>
          </a:p>
        </p:txBody>
      </p:sp>
      <p:sp>
        <p:nvSpPr>
          <p:cNvPr id="4" name="User card Company"/>
          <p:cNvSpPr/>
          <p:nvPr/>
        </p:nvSpPr>
        <p:spPr>
          <a:xfrm>
            <a:off x="640080" y="1691640"/>
            <a:ext cx="3392424" cy="4434840"/>
          </a:xfrm>
          <a:prstGeom prst="roundRect">
            <a:avLst>
              <a:gd name="adj" fmla="val 4582"/>
            </a:avLst>
          </a:prstGeom>
          <a:solidFill>
            <a:schemeClr val="bg1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5" name="Icon: Company circle"/>
          <p:cNvSpPr/>
          <p:nvPr/>
        </p:nvSpPr>
        <p:spPr>
          <a:xfrm>
            <a:off x="1005840" y="201168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Icon: Company" descr="Icon: Compan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350" y="2209190"/>
            <a:ext cx="336499" cy="336499"/>
          </a:xfrm>
          <a:prstGeom prst="rect">
            <a:avLst/>
          </a:prstGeom>
        </p:spPr>
      </p:pic>
      <p:sp>
        <p:nvSpPr>
          <p:cNvPr id="7" name="Heading: Company"/>
          <p:cNvSpPr txBox="1"/>
          <p:nvPr/>
        </p:nvSpPr>
        <p:spPr>
          <a:xfrm>
            <a:off x="1920240" y="205740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32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Company</a:t>
            </a:r>
            <a:endParaRPr lang="en-US" sz="2200" dirty="0"/>
          </a:p>
        </p:txBody>
      </p:sp>
      <p:sp>
        <p:nvSpPr>
          <p:cNvPr id="8" name="Device note Company"/>
          <p:cNvSpPr txBox="1"/>
          <p:nvPr/>
        </p:nvSpPr>
        <p:spPr>
          <a:xfrm>
            <a:off x="1920240" y="2450592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Desktop first</a:t>
            </a:r>
            <a:endParaRPr lang="en-US" sz="1300" dirty="0"/>
          </a:p>
        </p:txBody>
      </p:sp>
      <p:sp>
        <p:nvSpPr>
          <p:cNvPr id="9" name="Bullets"/>
          <p:cNvSpPr txBox="1"/>
          <p:nvPr/>
        </p:nvSpPr>
        <p:spPr>
          <a:xfrm>
            <a:off x="1005840" y="3154680"/>
            <a:ext cx="266090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Live registrations on an India map, district by district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Area-wise report that updates in real time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Warranty registration details for every vehicle</a:t>
            </a:r>
            <a:endParaRPr lang="en-US" sz="1700" dirty="0"/>
          </a:p>
        </p:txBody>
      </p:sp>
      <p:sp>
        <p:nvSpPr>
          <p:cNvPr id="10" name="User card Dealer"/>
          <p:cNvSpPr/>
          <p:nvPr/>
        </p:nvSpPr>
        <p:spPr>
          <a:xfrm>
            <a:off x="4398264" y="1691640"/>
            <a:ext cx="3392424" cy="4434840"/>
          </a:xfrm>
          <a:prstGeom prst="roundRect">
            <a:avLst>
              <a:gd name="adj" fmla="val 4582"/>
            </a:avLst>
          </a:prstGeom>
          <a:solidFill>
            <a:schemeClr val="bg1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Icon: Dealer circle"/>
          <p:cNvSpPr/>
          <p:nvPr/>
        </p:nvSpPr>
        <p:spPr>
          <a:xfrm>
            <a:off x="4764024" y="201168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: Dealer" descr="Icon: Deal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534" y="2209190"/>
            <a:ext cx="336499" cy="336499"/>
          </a:xfrm>
          <a:prstGeom prst="rect">
            <a:avLst/>
          </a:prstGeom>
        </p:spPr>
      </p:pic>
      <p:sp>
        <p:nvSpPr>
          <p:cNvPr id="13" name="Heading: Dealer"/>
          <p:cNvSpPr txBox="1"/>
          <p:nvPr/>
        </p:nvSpPr>
        <p:spPr>
          <a:xfrm>
            <a:off x="5678424" y="205740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32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Dealer</a:t>
            </a:r>
            <a:endParaRPr lang="en-US" sz="2200" dirty="0"/>
          </a:p>
        </p:txBody>
      </p:sp>
      <p:sp>
        <p:nvSpPr>
          <p:cNvPr id="14" name="Device note Dealer"/>
          <p:cNvSpPr txBox="1"/>
          <p:nvPr/>
        </p:nvSpPr>
        <p:spPr>
          <a:xfrm>
            <a:off x="5678424" y="2450592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Built for phone and tablet</a:t>
            </a:r>
            <a:endParaRPr lang="en-US" sz="1300" dirty="0"/>
          </a:p>
        </p:txBody>
      </p:sp>
      <p:sp>
        <p:nvSpPr>
          <p:cNvPr id="15" name="Bullets"/>
          <p:cNvSpPr txBox="1"/>
          <p:nvPr/>
        </p:nvSpPr>
        <p:spPr>
          <a:xfrm>
            <a:off x="4764024" y="3154680"/>
            <a:ext cx="266090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Register each bike on the portal before selling it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Scan the QR on the number plate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Check warranty and the history of parts replaced</a:t>
            </a:r>
            <a:endParaRPr lang="en-US" sz="1700" dirty="0"/>
          </a:p>
        </p:txBody>
      </p:sp>
      <p:sp>
        <p:nvSpPr>
          <p:cNvPr id="16" name="User card Owner"/>
          <p:cNvSpPr/>
          <p:nvPr/>
        </p:nvSpPr>
        <p:spPr>
          <a:xfrm>
            <a:off x="8156448" y="1691640"/>
            <a:ext cx="3392424" cy="4434840"/>
          </a:xfrm>
          <a:prstGeom prst="roundRect">
            <a:avLst>
              <a:gd name="adj" fmla="val 4582"/>
            </a:avLst>
          </a:prstGeom>
          <a:solidFill>
            <a:schemeClr val="bg1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Icon: Owner circle"/>
          <p:cNvSpPr/>
          <p:nvPr/>
        </p:nvSpPr>
        <p:spPr>
          <a:xfrm>
            <a:off x="8522208" y="201168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Icon: Owner" descr="Icon: Own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9718" y="2209190"/>
            <a:ext cx="336499" cy="336499"/>
          </a:xfrm>
          <a:prstGeom prst="rect">
            <a:avLst/>
          </a:prstGeom>
        </p:spPr>
      </p:pic>
      <p:sp>
        <p:nvSpPr>
          <p:cNvPr id="19" name="Heading: Owner"/>
          <p:cNvSpPr txBox="1"/>
          <p:nvPr/>
        </p:nvSpPr>
        <p:spPr>
          <a:xfrm>
            <a:off x="9436608" y="205740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32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Owner</a:t>
            </a:r>
            <a:endParaRPr lang="en-US" sz="2200" dirty="0"/>
          </a:p>
        </p:txBody>
      </p:sp>
      <p:sp>
        <p:nvSpPr>
          <p:cNvPr id="20" name="Device note Owner"/>
          <p:cNvSpPr txBox="1"/>
          <p:nvPr/>
        </p:nvSpPr>
        <p:spPr>
          <a:xfrm>
            <a:off x="9436608" y="2450592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Built for the phone</a:t>
            </a:r>
            <a:endParaRPr lang="en-US" sz="1300" dirty="0"/>
          </a:p>
        </p:txBody>
      </p:sp>
      <p:sp>
        <p:nvSpPr>
          <p:cNvPr id="21" name="Bullets"/>
          <p:cNvSpPr txBox="1"/>
          <p:nvPr/>
        </p:nvSpPr>
        <p:spPr>
          <a:xfrm>
            <a:off x="8522208" y="3154680"/>
            <a:ext cx="266090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Registration date and validity period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Warranty on motor, controller and battery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Every part that was changed, with serial numbers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65836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From the showroom to the owner's phone</a:t>
            </a:r>
            <a:endParaRPr lang="en-US" sz="3200" dirty="0"/>
          </a:p>
        </p:txBody>
      </p:sp>
      <p:sp>
        <p:nvSpPr>
          <p:cNvPr id="4" name="Step circle 1"/>
          <p:cNvSpPr/>
          <p:nvPr/>
        </p:nvSpPr>
        <p:spPr>
          <a:xfrm>
            <a:off x="640080" y="1920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tep number 1"/>
          <p:cNvSpPr txBox="1"/>
          <p:nvPr/>
        </p:nvSpPr>
        <p:spPr>
          <a:xfrm>
            <a:off x="64008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tep arrow 1"/>
          <p:cNvSpPr/>
          <p:nvPr/>
        </p:nvSpPr>
        <p:spPr>
          <a:xfrm>
            <a:off x="1371600" y="2240280"/>
            <a:ext cx="1404518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7" name="Step card 1"/>
          <p:cNvSpPr/>
          <p:nvPr/>
        </p:nvSpPr>
        <p:spPr>
          <a:xfrm>
            <a:off x="640080" y="2880360"/>
            <a:ext cx="1998878" cy="2926080"/>
          </a:xfrm>
          <a:prstGeom prst="roundRect">
            <a:avLst>
              <a:gd name="adj" fmla="val 7777"/>
            </a:avLst>
          </a:prstGeom>
          <a:solidFill>
            <a:schemeClr val="bg1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Heading: Dealer registers"/>
          <p:cNvSpPr txBox="1"/>
          <p:nvPr/>
        </p:nvSpPr>
        <p:spPr>
          <a:xfrm>
            <a:off x="822960" y="3063240"/>
            <a:ext cx="1633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32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Dealer registers</a:t>
            </a:r>
            <a:endParaRPr lang="en-US" sz="1700" dirty="0"/>
          </a:p>
        </p:txBody>
      </p:sp>
      <p:sp>
        <p:nvSpPr>
          <p:cNvPr id="9" name="Step text 1"/>
          <p:cNvSpPr txBox="1"/>
          <p:nvPr/>
        </p:nvSpPr>
        <p:spPr>
          <a:xfrm>
            <a:off x="822960" y="3886200"/>
            <a:ext cx="16331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Model, chassis, motor number, controller and battery serials, owner and district.</a:t>
            </a:r>
            <a:endParaRPr lang="en-US" sz="1400" dirty="0"/>
          </a:p>
        </p:txBody>
      </p:sp>
      <p:sp>
        <p:nvSpPr>
          <p:cNvPr id="10" name="Step circle 2"/>
          <p:cNvSpPr/>
          <p:nvPr/>
        </p:nvSpPr>
        <p:spPr>
          <a:xfrm>
            <a:off x="2867558" y="1920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Step number 2"/>
          <p:cNvSpPr txBox="1"/>
          <p:nvPr/>
        </p:nvSpPr>
        <p:spPr>
          <a:xfrm>
            <a:off x="2867558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tep arrow 2"/>
          <p:cNvSpPr/>
          <p:nvPr/>
        </p:nvSpPr>
        <p:spPr>
          <a:xfrm>
            <a:off x="3599078" y="2240280"/>
            <a:ext cx="1404518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3" name="Step card 2"/>
          <p:cNvSpPr/>
          <p:nvPr/>
        </p:nvSpPr>
        <p:spPr>
          <a:xfrm>
            <a:off x="2867558" y="2880360"/>
            <a:ext cx="1998878" cy="2926080"/>
          </a:xfrm>
          <a:prstGeom prst="roundRect">
            <a:avLst>
              <a:gd name="adj" fmla="val 7777"/>
            </a:avLst>
          </a:prstGeom>
          <a:solidFill>
            <a:schemeClr val="bg1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Heading: QR goes on the plate"/>
          <p:cNvSpPr txBox="1"/>
          <p:nvPr/>
        </p:nvSpPr>
        <p:spPr>
          <a:xfrm>
            <a:off x="3050438" y="3063240"/>
            <a:ext cx="1633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32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QR goes on the plate</a:t>
            </a:r>
            <a:endParaRPr lang="en-US" sz="1700" dirty="0"/>
          </a:p>
        </p:txBody>
      </p:sp>
      <p:sp>
        <p:nvSpPr>
          <p:cNvPr id="15" name="Step text 2"/>
          <p:cNvSpPr txBox="1"/>
          <p:nvPr/>
        </p:nvSpPr>
        <p:spPr>
          <a:xfrm>
            <a:off x="3050438" y="3886200"/>
            <a:ext cx="16331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The plate carries the company logo and a QR code that opens the bike's record.</a:t>
            </a:r>
            <a:endParaRPr lang="en-US" sz="1400" dirty="0"/>
          </a:p>
        </p:txBody>
      </p:sp>
      <p:sp>
        <p:nvSpPr>
          <p:cNvPr id="16" name="Step circle 3"/>
          <p:cNvSpPr/>
          <p:nvPr/>
        </p:nvSpPr>
        <p:spPr>
          <a:xfrm>
            <a:off x="5095037" y="1920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Step number 3"/>
          <p:cNvSpPr txBox="1"/>
          <p:nvPr/>
        </p:nvSpPr>
        <p:spPr>
          <a:xfrm>
            <a:off x="5095037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tep arrow 3"/>
          <p:cNvSpPr/>
          <p:nvPr/>
        </p:nvSpPr>
        <p:spPr>
          <a:xfrm>
            <a:off x="5826557" y="2240280"/>
            <a:ext cx="1404518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9" name="Step card 3"/>
          <p:cNvSpPr/>
          <p:nvPr/>
        </p:nvSpPr>
        <p:spPr>
          <a:xfrm>
            <a:off x="5095037" y="2880360"/>
            <a:ext cx="1998878" cy="2926080"/>
          </a:xfrm>
          <a:prstGeom prst="roundRect">
            <a:avLst>
              <a:gd name="adj" fmla="val 7777"/>
            </a:avLst>
          </a:prstGeom>
          <a:solidFill>
            <a:schemeClr val="bg1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0" name="Heading: Owner sees the record"/>
          <p:cNvSpPr txBox="1"/>
          <p:nvPr/>
        </p:nvSpPr>
        <p:spPr>
          <a:xfrm>
            <a:off x="5277917" y="3063240"/>
            <a:ext cx="1633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32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Owner sees the record</a:t>
            </a:r>
            <a:endParaRPr lang="en-US" sz="1700" dirty="0"/>
          </a:p>
        </p:txBody>
      </p:sp>
      <p:sp>
        <p:nvSpPr>
          <p:cNvPr id="21" name="Step text 3"/>
          <p:cNvSpPr txBox="1"/>
          <p:nvPr/>
        </p:nvSpPr>
        <p:spPr>
          <a:xfrm>
            <a:off x="5277917" y="3886200"/>
            <a:ext cx="16331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Registration period, warranty per part and the dealer's contact, on any phone.</a:t>
            </a:r>
            <a:endParaRPr lang="en-US" sz="1400" dirty="0"/>
          </a:p>
        </p:txBody>
      </p:sp>
      <p:sp>
        <p:nvSpPr>
          <p:cNvPr id="22" name="Step circle 4"/>
          <p:cNvSpPr/>
          <p:nvPr/>
        </p:nvSpPr>
        <p:spPr>
          <a:xfrm>
            <a:off x="7322515" y="1920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Step number 4"/>
          <p:cNvSpPr txBox="1"/>
          <p:nvPr/>
        </p:nvSpPr>
        <p:spPr>
          <a:xfrm>
            <a:off x="7322515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Step arrow 4"/>
          <p:cNvSpPr/>
          <p:nvPr/>
        </p:nvSpPr>
        <p:spPr>
          <a:xfrm>
            <a:off x="8054035" y="2240280"/>
            <a:ext cx="1404518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5" name="Step card 4"/>
          <p:cNvSpPr/>
          <p:nvPr/>
        </p:nvSpPr>
        <p:spPr>
          <a:xfrm>
            <a:off x="7322515" y="2880360"/>
            <a:ext cx="1998878" cy="2926080"/>
          </a:xfrm>
          <a:prstGeom prst="roundRect">
            <a:avLst>
              <a:gd name="adj" fmla="val 7777"/>
            </a:avLst>
          </a:prstGeom>
          <a:solidFill>
            <a:schemeClr val="bg1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6" name="Heading: Parts get replaced"/>
          <p:cNvSpPr txBox="1"/>
          <p:nvPr/>
        </p:nvSpPr>
        <p:spPr>
          <a:xfrm>
            <a:off x="7505395" y="3063240"/>
            <a:ext cx="1633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32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Parts get replaced</a:t>
            </a:r>
            <a:endParaRPr lang="en-US" sz="1700" dirty="0"/>
          </a:p>
        </p:txBody>
      </p:sp>
      <p:sp>
        <p:nvSpPr>
          <p:cNvPr id="27" name="Step text 4"/>
          <p:cNvSpPr txBox="1"/>
          <p:nvPr/>
        </p:nvSpPr>
        <p:spPr>
          <a:xfrm>
            <a:off x="7505395" y="3886200"/>
            <a:ext cx="16331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The dealer scans the plate and logs the swap. A new part starts a new warranty.</a:t>
            </a:r>
            <a:endParaRPr lang="en-US" sz="1400" dirty="0"/>
          </a:p>
        </p:txBody>
      </p:sp>
      <p:sp>
        <p:nvSpPr>
          <p:cNvPr id="28" name="Step circle 5"/>
          <p:cNvSpPr/>
          <p:nvPr/>
        </p:nvSpPr>
        <p:spPr>
          <a:xfrm>
            <a:off x="9549994" y="1920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Step number 5"/>
          <p:cNvSpPr txBox="1"/>
          <p:nvPr/>
        </p:nvSpPr>
        <p:spPr>
          <a:xfrm>
            <a:off x="9549994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Step card 5"/>
          <p:cNvSpPr/>
          <p:nvPr/>
        </p:nvSpPr>
        <p:spPr>
          <a:xfrm>
            <a:off x="9549994" y="2880360"/>
            <a:ext cx="1998878" cy="2926080"/>
          </a:xfrm>
          <a:prstGeom prst="roundRect">
            <a:avLst>
              <a:gd name="adj" fmla="val 7777"/>
            </a:avLst>
          </a:prstGeom>
          <a:solidFill>
            <a:schemeClr val="bg1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1" name="Heading: Company sees it live"/>
          <p:cNvSpPr txBox="1"/>
          <p:nvPr/>
        </p:nvSpPr>
        <p:spPr>
          <a:xfrm>
            <a:off x="9732874" y="3063240"/>
            <a:ext cx="1633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32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Company sees it live</a:t>
            </a:r>
            <a:endParaRPr lang="en-US" sz="1700" dirty="0"/>
          </a:p>
        </p:txBody>
      </p:sp>
      <p:sp>
        <p:nvSpPr>
          <p:cNvPr id="32" name="Step text 5"/>
          <p:cNvSpPr txBox="1"/>
          <p:nvPr/>
        </p:nvSpPr>
        <p:spPr>
          <a:xfrm>
            <a:off x="9732874" y="3886200"/>
            <a:ext cx="16331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The district circle on the India map darkens and the area report moves.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COMPANY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65836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Every district on one live map</a:t>
            </a:r>
            <a:endParaRPr lang="en-US" sz="3200" dirty="0"/>
          </a:p>
        </p:txBody>
      </p:sp>
      <p:pic>
        <p:nvPicPr>
          <p:cNvPr id="4" name="India map" descr="India map with one circle per district; deeper shade means more registr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3887201" cy="4754880"/>
          </a:xfrm>
          <a:prstGeom prst="rect">
            <a:avLst/>
          </a:prstGeom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pic>
      <p:pic>
        <p:nvPicPr>
          <p:cNvPr id="5" name="Top states and live feed" descr="Top states ranking and live feed of new registratio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601" y="1508760"/>
            <a:ext cx="2079660" cy="4754880"/>
          </a:xfrm>
          <a:prstGeom prst="rect">
            <a:avLst/>
          </a:prstGeom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pic>
      <p:sp>
        <p:nvSpPr>
          <p:cNvPr id="6" name="Heading: Circles by district"/>
          <p:cNvSpPr txBox="1"/>
          <p:nvPr/>
        </p:nvSpPr>
        <p:spPr>
          <a:xfrm>
            <a:off x="7247021" y="1554480"/>
            <a:ext cx="43018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Circles by district</a:t>
            </a:r>
            <a:endParaRPr lang="en-US" sz="1900" dirty="0"/>
          </a:p>
        </p:txBody>
      </p:sp>
      <p:sp>
        <p:nvSpPr>
          <p:cNvPr id="7" name="Callout text 1"/>
          <p:cNvSpPr txBox="1"/>
          <p:nvPr/>
        </p:nvSpPr>
        <p:spPr>
          <a:xfrm>
            <a:off x="7247021" y="2011680"/>
            <a:ext cx="430185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A deeper shade means more registrations. Switch between all-time and today.</a:t>
            </a:r>
            <a:endParaRPr lang="en-US" sz="1500" dirty="0"/>
          </a:p>
        </p:txBody>
      </p:sp>
      <p:sp>
        <p:nvSpPr>
          <p:cNvPr id="8" name="Heading: Zoom into a state"/>
          <p:cNvSpPr txBox="1"/>
          <p:nvPr/>
        </p:nvSpPr>
        <p:spPr>
          <a:xfrm>
            <a:off x="7247021" y="3200400"/>
            <a:ext cx="43018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Zoom into a state</a:t>
            </a:r>
            <a:endParaRPr lang="en-US" sz="1900" dirty="0"/>
          </a:p>
        </p:txBody>
      </p:sp>
      <p:sp>
        <p:nvSpPr>
          <p:cNvPr id="9" name="Callout text 2"/>
          <p:cNvSpPr txBox="1"/>
          <p:nvPr/>
        </p:nvSpPr>
        <p:spPr>
          <a:xfrm>
            <a:off x="7247021" y="3657600"/>
            <a:ext cx="430185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Click a state to see its districts and a ranked list of the busiest ones.</a:t>
            </a:r>
            <a:endParaRPr lang="en-US" sz="1500" dirty="0"/>
          </a:p>
        </p:txBody>
      </p:sp>
      <p:sp>
        <p:nvSpPr>
          <p:cNvPr id="10" name="Heading: Moves as bikes sell"/>
          <p:cNvSpPr txBox="1"/>
          <p:nvPr/>
        </p:nvSpPr>
        <p:spPr>
          <a:xfrm>
            <a:off x="7247021" y="4846320"/>
            <a:ext cx="43018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Moves as bikes sell</a:t>
            </a:r>
            <a:endParaRPr lang="en-US" sz="1900" dirty="0"/>
          </a:p>
        </p:txBody>
      </p:sp>
      <p:sp>
        <p:nvSpPr>
          <p:cNvPr id="11" name="Callout text 3"/>
          <p:cNvSpPr txBox="1"/>
          <p:nvPr/>
        </p:nvSpPr>
        <p:spPr>
          <a:xfrm>
            <a:off x="7247021" y="5303520"/>
            <a:ext cx="430185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New registrations pulse on the map and appear in the live feed.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COMPANY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65836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Area report and warranty register</a:t>
            </a:r>
            <a:endParaRPr lang="en-US" sz="3200" dirty="0"/>
          </a:p>
        </p:txBody>
      </p:sp>
      <p:pic>
        <p:nvPicPr>
          <p:cNvPr id="4" name="Area report" descr="Area-wise report with Uttar Pradesh expanded into distric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5271516" cy="3372350"/>
          </a:xfrm>
          <a:prstGeom prst="rect">
            <a:avLst/>
          </a:prstGeom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pic>
      <p:pic>
        <p:nvPicPr>
          <p:cNvPr id="5" name="Warranty register" descr="Warranty register with status filters and per-part warran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7356" y="1508760"/>
            <a:ext cx="5271516" cy="3372350"/>
          </a:xfrm>
          <a:prstGeom prst="rect">
            <a:avLst/>
          </a:prstGeom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pic>
      <p:sp>
        <p:nvSpPr>
          <p:cNvPr id="6" name="Heading: Area-wise report"/>
          <p:cNvSpPr txBox="1"/>
          <p:nvPr/>
        </p:nvSpPr>
        <p:spPr>
          <a:xfrm>
            <a:off x="640080" y="5155430"/>
            <a:ext cx="52715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Area-wise report</a:t>
            </a:r>
            <a:endParaRPr lang="en-US" sz="1900" dirty="0"/>
          </a:p>
        </p:txBody>
      </p:sp>
      <p:sp>
        <p:nvSpPr>
          <p:cNvPr id="7" name="Bullets"/>
          <p:cNvSpPr txBox="1"/>
          <p:nvPr/>
        </p:nvSpPr>
        <p:spPr>
          <a:xfrm>
            <a:off x="640080" y="5566910"/>
            <a:ext cx="52715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Every state and UT, with its districts underneath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Sort by registered, today or name</a:t>
            </a:r>
            <a:endParaRPr lang="en-US" sz="1400" dirty="0"/>
          </a:p>
        </p:txBody>
      </p:sp>
      <p:sp>
        <p:nvSpPr>
          <p:cNvPr id="8" name="Heading: Warranty register"/>
          <p:cNvSpPr txBox="1"/>
          <p:nvPr/>
        </p:nvSpPr>
        <p:spPr>
          <a:xfrm>
            <a:off x="6277356" y="5155430"/>
            <a:ext cx="52715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Warranty register</a:t>
            </a:r>
            <a:endParaRPr lang="en-US" sz="1900" dirty="0"/>
          </a:p>
        </p:txBody>
      </p:sp>
      <p:sp>
        <p:nvSpPr>
          <p:cNvPr id="9" name="Bullets"/>
          <p:cNvSpPr txBox="1"/>
          <p:nvPr/>
        </p:nvSpPr>
        <p:spPr>
          <a:xfrm>
            <a:off x="6277356" y="5566910"/>
            <a:ext cx="52715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Motor, controller and battery warranty per vehicle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Filter by status; search by serial number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DEALER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65836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Register, scan and service from a phone</a:t>
            </a:r>
            <a:endParaRPr lang="en-US" sz="3200" dirty="0"/>
          </a:p>
        </p:txBody>
      </p:sp>
      <p:sp>
        <p:nvSpPr>
          <p:cNvPr id="4" name="Dealer home frame"/>
          <p:cNvSpPr/>
          <p:nvPr/>
        </p:nvSpPr>
        <p:spPr>
          <a:xfrm>
            <a:off x="4380063" y="1490472"/>
            <a:ext cx="2282923" cy="4791456"/>
          </a:xfrm>
          <a:prstGeom prst="roundRect">
            <a:avLst>
              <a:gd name="adj" fmla="val 12016"/>
            </a:avLst>
          </a:prstGeom>
          <a:solidFill>
            <a:schemeClr val="tx1"/>
          </a:solidFill>
          <a:ln/>
          <a:effectLst>
            <a:outerShdw sx="100000" sy="100000" kx="0" ky="0" algn="bl" rotWithShape="0" blurRad="279400" dist="127000" dir="5400000">
              <a:srgbClr val="13261B">
                <a:alpha val="35000"/>
              </a:srgbClr>
            </a:outerShdw>
          </a:effectLst>
        </p:spPr>
      </p:sp>
      <p:pic>
        <p:nvPicPr>
          <p:cNvPr id="5" name="Dealer home" descr="Dealer 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4071" y="1554480"/>
            <a:ext cx="2154907" cy="4663440"/>
          </a:xfrm>
          <a:prstGeom prst="rect">
            <a:avLst/>
          </a:prstGeom>
        </p:spPr>
      </p:pic>
      <p:sp>
        <p:nvSpPr>
          <p:cNvPr id="6" name="Register a vehicle frame"/>
          <p:cNvSpPr/>
          <p:nvPr/>
        </p:nvSpPr>
        <p:spPr>
          <a:xfrm>
            <a:off x="6855010" y="1490472"/>
            <a:ext cx="2282923" cy="4791456"/>
          </a:xfrm>
          <a:prstGeom prst="roundRect">
            <a:avLst>
              <a:gd name="adj" fmla="val 12016"/>
            </a:avLst>
          </a:prstGeom>
          <a:solidFill>
            <a:schemeClr val="tx1"/>
          </a:solidFill>
          <a:ln/>
          <a:effectLst>
            <a:outerShdw sx="100000" sy="100000" kx="0" ky="0" algn="bl" rotWithShape="0" blurRad="279400" dist="127000" dir="5400000">
              <a:srgbClr val="13261B">
                <a:alpha val="35000"/>
              </a:srgbClr>
            </a:outerShdw>
          </a:effectLst>
        </p:spPr>
      </p:sp>
      <p:pic>
        <p:nvPicPr>
          <p:cNvPr id="7" name="Register a vehicle" descr="Register a vehic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9018" y="1554480"/>
            <a:ext cx="2154907" cy="4663440"/>
          </a:xfrm>
          <a:prstGeom prst="rect">
            <a:avLst/>
          </a:prstGeom>
        </p:spPr>
      </p:pic>
      <p:sp>
        <p:nvSpPr>
          <p:cNvPr id="8" name="Scan plate QR frame"/>
          <p:cNvSpPr/>
          <p:nvPr/>
        </p:nvSpPr>
        <p:spPr>
          <a:xfrm>
            <a:off x="9329957" y="1490472"/>
            <a:ext cx="2282923" cy="4791456"/>
          </a:xfrm>
          <a:prstGeom prst="roundRect">
            <a:avLst>
              <a:gd name="adj" fmla="val 12016"/>
            </a:avLst>
          </a:prstGeom>
          <a:solidFill>
            <a:schemeClr val="tx1"/>
          </a:solidFill>
          <a:ln/>
          <a:effectLst>
            <a:outerShdw sx="100000" sy="100000" kx="0" ky="0" algn="bl" rotWithShape="0" blurRad="279400" dist="127000" dir="5400000">
              <a:srgbClr val="13261B">
                <a:alpha val="35000"/>
              </a:srgbClr>
            </a:outerShdw>
          </a:effectLst>
        </p:spPr>
      </p:sp>
      <p:pic>
        <p:nvPicPr>
          <p:cNvPr id="9" name="Scan plate QR" descr="Scan plate Q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3965" y="1554480"/>
            <a:ext cx="2154907" cy="4663440"/>
          </a:xfrm>
          <a:prstGeom prst="rect">
            <a:avLst/>
          </a:prstGeom>
        </p:spPr>
      </p:pic>
      <p:sp>
        <p:nvSpPr>
          <p:cNvPr id="10" name="Heading: Register before selling"/>
          <p:cNvSpPr txBox="1"/>
          <p:nvPr/>
        </p:nvSpPr>
        <p:spPr>
          <a:xfrm>
            <a:off x="640080" y="1554480"/>
            <a:ext cx="3346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Register before selling</a:t>
            </a:r>
            <a:endParaRPr lang="en-US" sz="1900" dirty="0"/>
          </a:p>
        </p:txBody>
      </p:sp>
      <p:sp>
        <p:nvSpPr>
          <p:cNvPr id="11" name="Dealer text 1"/>
          <p:cNvSpPr txBox="1"/>
          <p:nvPr/>
        </p:nvSpPr>
        <p:spPr>
          <a:xfrm>
            <a:off x="640080" y="2011680"/>
            <a:ext cx="334679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One short form: model, chassis, motor number, controller and battery serials, owner.</a:t>
            </a:r>
            <a:endParaRPr lang="en-US" sz="1500" dirty="0"/>
          </a:p>
        </p:txBody>
      </p:sp>
      <p:sp>
        <p:nvSpPr>
          <p:cNvPr id="12" name="Heading: Scan the plate QR"/>
          <p:cNvSpPr txBox="1"/>
          <p:nvPr/>
        </p:nvSpPr>
        <p:spPr>
          <a:xfrm>
            <a:off x="640080" y="3108960"/>
            <a:ext cx="3346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Scan the plate QR</a:t>
            </a:r>
            <a:endParaRPr lang="en-US" sz="1900" dirty="0"/>
          </a:p>
        </p:txBody>
      </p:sp>
      <p:sp>
        <p:nvSpPr>
          <p:cNvPr id="13" name="Dealer text 2"/>
          <p:cNvSpPr txBox="1"/>
          <p:nvPr/>
        </p:nvSpPr>
        <p:spPr>
          <a:xfrm>
            <a:off x="640080" y="3566160"/>
            <a:ext cx="334679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Camera, a photo of the plate or the typed number opens the full record.</a:t>
            </a:r>
            <a:endParaRPr lang="en-US" sz="1500" dirty="0"/>
          </a:p>
        </p:txBody>
      </p:sp>
      <p:sp>
        <p:nvSpPr>
          <p:cNvPr id="14" name="Heading: Log part replacements"/>
          <p:cNvSpPr txBox="1"/>
          <p:nvPr/>
        </p:nvSpPr>
        <p:spPr>
          <a:xfrm>
            <a:off x="640080" y="4663440"/>
            <a:ext cx="3346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Log part replacements</a:t>
            </a:r>
            <a:endParaRPr lang="en-US" sz="1900" dirty="0"/>
          </a:p>
        </p:txBody>
      </p:sp>
      <p:sp>
        <p:nvSpPr>
          <p:cNvPr id="15" name="Dealer text 3"/>
          <p:cNvSpPr txBox="1"/>
          <p:nvPr/>
        </p:nvSpPr>
        <p:spPr>
          <a:xfrm>
            <a:off x="640080" y="5120640"/>
            <a:ext cx="334679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Pick the part, enter the new serial and a reason. The warranty restarts.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VEHICLE OWNER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65836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bike's whole record in their pocket</a:t>
            </a:r>
            <a:endParaRPr lang="en-US" sz="3200" dirty="0"/>
          </a:p>
        </p:txBody>
      </p:sp>
      <p:sp>
        <p:nvSpPr>
          <p:cNvPr id="4" name="Owner home frame"/>
          <p:cNvSpPr/>
          <p:nvPr/>
        </p:nvSpPr>
        <p:spPr>
          <a:xfrm>
            <a:off x="640080" y="1490472"/>
            <a:ext cx="2282923" cy="4791456"/>
          </a:xfrm>
          <a:prstGeom prst="roundRect">
            <a:avLst>
              <a:gd name="adj" fmla="val 12016"/>
            </a:avLst>
          </a:prstGeom>
          <a:solidFill>
            <a:schemeClr val="tx1"/>
          </a:solidFill>
          <a:ln/>
          <a:effectLst>
            <a:outerShdw sx="100000" sy="100000" kx="0" ky="0" algn="bl" rotWithShape="0" blurRad="279400" dist="127000" dir="5400000">
              <a:srgbClr val="13261B">
                <a:alpha val="35000"/>
              </a:srgbClr>
            </a:outerShdw>
          </a:effectLst>
        </p:spPr>
      </p:sp>
      <p:pic>
        <p:nvPicPr>
          <p:cNvPr id="5" name="Owner home" descr="Owner 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554480"/>
            <a:ext cx="2154907" cy="4663440"/>
          </a:xfrm>
          <a:prstGeom prst="rect">
            <a:avLst/>
          </a:prstGeom>
        </p:spPr>
      </p:pic>
      <p:sp>
        <p:nvSpPr>
          <p:cNvPr id="6" name="Owner warranty frame"/>
          <p:cNvSpPr/>
          <p:nvPr/>
        </p:nvSpPr>
        <p:spPr>
          <a:xfrm>
            <a:off x="3115027" y="1490472"/>
            <a:ext cx="2282923" cy="4791456"/>
          </a:xfrm>
          <a:prstGeom prst="roundRect">
            <a:avLst>
              <a:gd name="adj" fmla="val 12016"/>
            </a:avLst>
          </a:prstGeom>
          <a:solidFill>
            <a:schemeClr val="tx1"/>
          </a:solidFill>
          <a:ln/>
          <a:effectLst>
            <a:outerShdw sx="100000" sy="100000" kx="0" ky="0" algn="bl" rotWithShape="0" blurRad="279400" dist="127000" dir="5400000">
              <a:srgbClr val="13261B">
                <a:alpha val="35000"/>
              </a:srgbClr>
            </a:outerShdw>
          </a:effectLst>
        </p:spPr>
      </p:sp>
      <p:pic>
        <p:nvPicPr>
          <p:cNvPr id="7" name="Owner warranty" descr="Owner warran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035" y="1554480"/>
            <a:ext cx="2154907" cy="4663440"/>
          </a:xfrm>
          <a:prstGeom prst="rect">
            <a:avLst/>
          </a:prstGeom>
        </p:spPr>
      </p:pic>
      <p:sp>
        <p:nvSpPr>
          <p:cNvPr id="8" name="Owner parts history frame"/>
          <p:cNvSpPr/>
          <p:nvPr/>
        </p:nvSpPr>
        <p:spPr>
          <a:xfrm>
            <a:off x="5589974" y="1490472"/>
            <a:ext cx="2282923" cy="4791456"/>
          </a:xfrm>
          <a:prstGeom prst="roundRect">
            <a:avLst>
              <a:gd name="adj" fmla="val 12016"/>
            </a:avLst>
          </a:prstGeom>
          <a:solidFill>
            <a:schemeClr val="tx1"/>
          </a:solidFill>
          <a:ln/>
          <a:effectLst>
            <a:outerShdw sx="100000" sy="100000" kx="0" ky="0" algn="bl" rotWithShape="0" blurRad="279400" dist="127000" dir="5400000">
              <a:srgbClr val="13261B">
                <a:alpha val="35000"/>
              </a:srgbClr>
            </a:outerShdw>
          </a:effectLst>
        </p:spPr>
      </p:sp>
      <p:pic>
        <p:nvPicPr>
          <p:cNvPr id="9" name="Owner parts history" descr="Owner parts histor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3982" y="1554480"/>
            <a:ext cx="2154907" cy="4663440"/>
          </a:xfrm>
          <a:prstGeom prst="rect">
            <a:avLst/>
          </a:prstGeom>
        </p:spPr>
      </p:pic>
      <p:sp>
        <p:nvSpPr>
          <p:cNvPr id="10" name="Heading: Three parts, tracked by serial number"/>
          <p:cNvSpPr txBox="1"/>
          <p:nvPr/>
        </p:nvSpPr>
        <p:spPr>
          <a:xfrm>
            <a:off x="8476401" y="1554480"/>
            <a:ext cx="30724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Three parts, tracked by serial number</a:t>
            </a:r>
            <a:endParaRPr lang="en-US" sz="1900" dirty="0"/>
          </a:p>
        </p:txBody>
      </p:sp>
      <p:sp>
        <p:nvSpPr>
          <p:cNvPr id="11" name="Icon: Motor circle"/>
          <p:cNvSpPr/>
          <p:nvPr/>
        </p:nvSpPr>
        <p:spPr>
          <a:xfrm>
            <a:off x="8476401" y="228600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: Motor" descr="Icon: Mot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9223" y="2458822"/>
            <a:ext cx="294437" cy="294437"/>
          </a:xfrm>
          <a:prstGeom prst="rect">
            <a:avLst/>
          </a:prstGeom>
        </p:spPr>
      </p:pic>
      <p:sp>
        <p:nvSpPr>
          <p:cNvPr id="13" name="Part text Motor"/>
          <p:cNvSpPr txBox="1"/>
          <p:nvPr/>
        </p:nvSpPr>
        <p:spPr>
          <a:xfrm>
            <a:off x="9299361" y="2286000"/>
            <a:ext cx="224951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326"/>
                </a:solidFill>
              </a:rPr>
              <a:t>Motor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Warranty tracked by motor number</a:t>
            </a:r>
            <a:endParaRPr lang="en-US" sz="1500" dirty="0"/>
          </a:p>
        </p:txBody>
      </p:sp>
      <p:sp>
        <p:nvSpPr>
          <p:cNvPr id="14" name="Icon: Controller circle"/>
          <p:cNvSpPr/>
          <p:nvPr/>
        </p:nvSpPr>
        <p:spPr>
          <a:xfrm>
            <a:off x="8476401" y="310896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Icon: Controller" descr="Icon: Controll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9223" y="3281782"/>
            <a:ext cx="294437" cy="294437"/>
          </a:xfrm>
          <a:prstGeom prst="rect">
            <a:avLst/>
          </a:prstGeom>
        </p:spPr>
      </p:pic>
      <p:sp>
        <p:nvSpPr>
          <p:cNvPr id="16" name="Part text Controller"/>
          <p:cNvSpPr txBox="1"/>
          <p:nvPr/>
        </p:nvSpPr>
        <p:spPr>
          <a:xfrm>
            <a:off x="9299361" y="3108960"/>
            <a:ext cx="224951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326"/>
                </a:solidFill>
              </a:rPr>
              <a:t>Controller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Warranty tracked by controller serial</a:t>
            </a:r>
            <a:endParaRPr lang="en-US" sz="1500" dirty="0"/>
          </a:p>
        </p:txBody>
      </p:sp>
      <p:sp>
        <p:nvSpPr>
          <p:cNvPr id="17" name="Icon: Battery circle"/>
          <p:cNvSpPr/>
          <p:nvPr/>
        </p:nvSpPr>
        <p:spPr>
          <a:xfrm>
            <a:off x="8476401" y="393192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Icon: Battery" descr="Icon: Batter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9223" y="4104742"/>
            <a:ext cx="294437" cy="294437"/>
          </a:xfrm>
          <a:prstGeom prst="rect">
            <a:avLst/>
          </a:prstGeom>
        </p:spPr>
      </p:pic>
      <p:sp>
        <p:nvSpPr>
          <p:cNvPr id="19" name="Part text Battery"/>
          <p:cNvSpPr txBox="1"/>
          <p:nvPr/>
        </p:nvSpPr>
        <p:spPr>
          <a:xfrm>
            <a:off x="9299361" y="3931920"/>
            <a:ext cx="224951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326"/>
                </a:solidFill>
              </a:rPr>
              <a:t>Battery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Warranty tracked by battery serial</a:t>
            </a:r>
            <a:endParaRPr lang="en-US" sz="1500" dirty="0"/>
          </a:p>
        </p:txBody>
      </p:sp>
      <p:sp>
        <p:nvSpPr>
          <p:cNvPr id="20" name="Bullets"/>
          <p:cNvSpPr txBox="1"/>
          <p:nvPr/>
        </p:nvSpPr>
        <p:spPr>
          <a:xfrm>
            <a:off x="8476401" y="4892040"/>
            <a:ext cx="3072471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5-year registration validity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Warning before a warranty ends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Old and new serial for each swap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WHAT'S NEXT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65836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the demo does, and what comes next</a:t>
            </a:r>
            <a:endParaRPr lang="en-US" sz="3200" dirty="0"/>
          </a:p>
        </p:txBody>
      </p:sp>
      <p:sp>
        <p:nvSpPr>
          <p:cNvPr id="4" name="Demo card"/>
          <p:cNvSpPr/>
          <p:nvPr/>
        </p:nvSpPr>
        <p:spPr>
          <a:xfrm>
            <a:off x="640080" y="1691640"/>
            <a:ext cx="5225796" cy="3840480"/>
          </a:xfrm>
          <a:prstGeom prst="roundRect">
            <a:avLst>
              <a:gd name="adj" fmla="val 4048"/>
            </a:avLst>
          </a:prstGeom>
          <a:solidFill>
            <a:schemeClr val="bg1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5" name="Next card"/>
          <p:cNvSpPr/>
          <p:nvPr/>
        </p:nvSpPr>
        <p:spPr>
          <a:xfrm>
            <a:off x="6323076" y="1691640"/>
            <a:ext cx="5225796" cy="3840480"/>
          </a:xfrm>
          <a:prstGeom prst="roundRect">
            <a:avLst>
              <a:gd name="adj" fmla="val 4048"/>
            </a:avLst>
          </a:prstGeom>
          <a:solidFill>
            <a:srgbClr val="F0FDF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Heading: In the demo today"/>
          <p:cNvSpPr txBox="1"/>
          <p:nvPr/>
        </p:nvSpPr>
        <p:spPr>
          <a:xfrm>
            <a:off x="1005840" y="1965960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32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 the demo today</a:t>
            </a:r>
            <a:endParaRPr lang="en-US" sz="2200" dirty="0"/>
          </a:p>
        </p:txBody>
      </p:sp>
      <p:sp>
        <p:nvSpPr>
          <p:cNvPr id="7" name="Bullets"/>
          <p:cNvSpPr txBox="1"/>
          <p:nvPr/>
        </p:nvSpPr>
        <p:spPr>
          <a:xfrm>
            <a:off x="1005840" y="2606040"/>
            <a:ext cx="449427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Company, dealer and owner views with sample data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Live district map, area report, warranty register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Vehicle registration, plate QR and scanning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Part replacement with fresh warranty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Runs in any browser; no backend to set up</a:t>
            </a:r>
            <a:endParaRPr lang="en-US" sz="1700" dirty="0"/>
          </a:p>
        </p:txBody>
      </p:sp>
      <p:sp>
        <p:nvSpPr>
          <p:cNvPr id="8" name="Heading: Proposed next steps"/>
          <p:cNvSpPr txBox="1"/>
          <p:nvPr/>
        </p:nvSpPr>
        <p:spPr>
          <a:xfrm>
            <a:off x="6688836" y="1965960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Proposed next steps</a:t>
            </a:r>
            <a:endParaRPr lang="en-US" sz="2200" dirty="0"/>
          </a:p>
        </p:txBody>
      </p:sp>
      <p:sp>
        <p:nvSpPr>
          <p:cNvPr id="9" name="Bullets"/>
          <p:cNvSpPr txBox="1"/>
          <p:nvPr/>
        </p:nvSpPr>
        <p:spPr>
          <a:xfrm>
            <a:off x="6688836" y="2606040"/>
            <a:ext cx="449427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Real database and API behind the screens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Sign-in for each role, with OTP for owners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Warranty-ending reminders by SMS or WhatsApp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Dealer onboarding and bulk QR plate printing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Warranty claim workflow and report exports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See it running</a:t>
            </a:r>
            <a:endParaRPr lang="en-US" sz="4800" dirty="0"/>
          </a:p>
        </p:txBody>
      </p:sp>
      <p:sp>
        <p:nvSpPr>
          <p:cNvPr id="3" name="Closing text"/>
          <p:cNvSpPr txBox="1"/>
          <p:nvPr/>
        </p:nvSpPr>
        <p:spPr>
          <a:xfrm>
            <a:off x="640080" y="246888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</a:rPr>
              <a:t>Pick a role on the first screen: Company, Dealer or Vehicle owner. Try registering a bike, then open it from the owner view.</a:t>
            </a:r>
            <a:endParaRPr lang="en-US" sz="1800" dirty="0"/>
          </a:p>
        </p:txBody>
      </p:sp>
      <p:sp>
        <p:nvSpPr>
          <p:cNvPr id="4" name="CTA pill"/>
          <p:cNvSpPr/>
          <p:nvPr/>
        </p:nvSpPr>
        <p:spPr>
          <a:xfrm>
            <a:off x="640080" y="3840480"/>
            <a:ext cx="3200400" cy="6400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304800" dist="101600" dir="5400000">
              <a:srgbClr val="16A34A">
                <a:alpha val="35000"/>
              </a:srgbClr>
            </a:outerShdw>
          </a:effectLst>
        </p:spPr>
      </p:sp>
      <p:sp>
        <p:nvSpPr>
          <p:cNvPr id="5" name="CTA label">
            <a:hlinkClick r:id="rId1" tooltip="Open the demo"/>
          </p:cNvPr>
          <p:cNvSpPr txBox="1"/>
          <p:nvPr/>
        </p:nvSpPr>
        <p:spPr>
          <a:xfrm>
            <a:off x="640080" y="3840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chemeClr val="bg1"/>
                </a:solidFill>
                <a:hlinkClick r:id="rId1" invalidUrl="" action="" tgtFrame="" tooltip="Open the dem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live demo</a:t>
            </a:r>
            <a:endParaRPr lang="en-US" sz="1600" dirty="0"/>
          </a:p>
        </p:txBody>
      </p:sp>
      <p:sp>
        <p:nvSpPr>
          <p:cNvPr id="6" name="Code location"/>
          <p:cNvSpPr txBox="1"/>
          <p:nvPr/>
        </p:nvSpPr>
        <p:spPr>
          <a:xfrm>
            <a:off x="640080" y="4937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Code: </a:t>
            </a:r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ev-registry/ in the fans-app repo, branch claude/dreamy-allen-lo4if2</a:t>
            </a:r>
            <a:endParaRPr lang="en-US" sz="1500" dirty="0"/>
          </a:p>
        </p:txBody>
      </p:sp>
      <p:sp>
        <p:nvSpPr>
          <p:cNvPr id="7" name="Footnote"/>
          <p:cNvSpPr txBox="1"/>
          <p:nvPr/>
        </p:nvSpPr>
        <p:spPr>
          <a:xfrm>
            <a:off x="64008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All data shown is sample data.</a:t>
            </a:r>
            <a:endParaRPr lang="en-US" sz="1200" dirty="0"/>
          </a:p>
        </p:txBody>
      </p:sp>
      <p:sp>
        <p:nvSpPr>
          <p:cNvPr id="8" name="Scan plate QR screen frame"/>
          <p:cNvSpPr/>
          <p:nvPr/>
        </p:nvSpPr>
        <p:spPr>
          <a:xfrm>
            <a:off x="8988552" y="713232"/>
            <a:ext cx="2494189" cy="5248656"/>
          </a:xfrm>
          <a:prstGeom prst="roundRect">
            <a:avLst>
              <a:gd name="adj" fmla="val 10998"/>
            </a:avLst>
          </a:prstGeom>
          <a:solidFill>
            <a:schemeClr val="tx1"/>
          </a:solidFill>
          <a:ln/>
          <a:effectLst>
            <a:outerShdw sx="100000" sy="100000" kx="0" ky="0" algn="bl" rotWithShape="0" blurRad="279400" dist="127000" dir="5400000">
              <a:srgbClr val="13261B">
                <a:alpha val="35000"/>
              </a:srgbClr>
            </a:outerShdw>
          </a:effectLst>
        </p:spPr>
      </p:sp>
      <p:pic>
        <p:nvPicPr>
          <p:cNvPr id="9" name="Scan plate QR screen" descr="Scan plate QR scre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777240"/>
            <a:ext cx="2366173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yfr">
  <a:themeElements>
    <a:clrScheme name="Syfr">
      <a:dk1>
        <a:srgbClr val="111827"/>
      </a:dk1>
      <a:lt1>
        <a:srgbClr val="FFFFFF"/>
      </a:lt1>
      <a:dk2>
        <a:srgbClr val="1B3127"/>
      </a:dk2>
      <a:lt2>
        <a:srgbClr val="F9FAFB"/>
      </a:lt2>
      <a:accent1>
        <a:srgbClr val="16A34A"/>
      </a:accent1>
      <a:accent2>
        <a:srgbClr val="15803D"/>
      </a:accent2>
      <a:accent3>
        <a:srgbClr val="DCFCE7"/>
      </a:accent3>
      <a:accent4>
        <a:srgbClr val="BBF7D0"/>
      </a:accent4>
      <a:accent5>
        <a:srgbClr val="D97706"/>
      </a:accent5>
      <a:accent6>
        <a:srgbClr val="111F18"/>
      </a:accent6>
      <a:hlink>
        <a:srgbClr val="16A34A"/>
      </a:hlink>
      <a:folHlink>
        <a:srgbClr val="6B7280"/>
      </a:folHlink>
    </a:clrScheme>
    <a:fontScheme name="Syfr">
      <a:majorFont>
        <a:latin typeface="S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ublic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syfr.live</dc:title>
  <dc:subject>PptxGenJS Presentation</dc:subject>
  <dc:creator>syfr.live</dc:creator>
  <cp:lastModifiedBy>syfr.live</cp:lastModifiedBy>
  <cp:revision>1</cp:revision>
  <dcterms:created xsi:type="dcterms:W3CDTF">2026-10-17T05:10:41Z</dcterms:created>
  <dcterms:modified xsi:type="dcterms:W3CDTF">2026-10-17T05:10:41Z</dcterms:modified>
</cp:coreProperties>
</file>