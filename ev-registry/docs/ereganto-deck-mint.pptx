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142c0f2-5c0c-f06b-1bcc-8c2e783c13ee}">
          <p14:sldIdLst>
            <p14:sldId id="256"/>
            <p14:sldId id="257"/>
            <p14:sldId id="258"/>
            <p14:sldId id="259"/>
          </p14:sldIdLst>
        </p14:section>
        <p14:section name="Company" id="{614b4c94-f425-102e-9c23-d11c052b0e12}">
          <p14:sldIdLst>
            <p14:sldId id="260"/>
            <p14:sldId id="261"/>
            <p14:sldId id="262"/>
            <p14:sldId id="263"/>
          </p14:sldIdLst>
        </p14:section>
        <p14:section name="Dealer and owner" id="{695c8b3d-70bc-5028-3a76-81d472de6e57}">
          <p14:sldIdLst>
            <p14:sldId id="264"/>
          </p14:sldIdLst>
        </p14:section>
        <p14:section name="Next" id="{063545e1-2c2e-4329-bad0-e605f33744cf}">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Registered</c:v>
                </c:pt>
              </c:strCache>
            </c:strRef>
          </c:tx>
          <c:spPr>
            <a:solidFill>
              <a:srgbClr val="FFFFFF"/>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FFFFFF"/>
              </a:solidFill>
              <a:effectLst/>
            </c:spPr>
          </c:dPt>
          <c:dPt>
            <c:idx val="1"/>
            <c:invertIfNegative val="0"/>
            <c:bubble3D val="0"/>
            <c:spPr>
              <a:solidFill>
                <a:srgbClr val="DAF5D3"/>
              </a:solidFill>
              <a:effectLst/>
            </c:spPr>
          </c:dPt>
          <c:dPt>
            <c:idx val="2"/>
            <c:invertIfNegative val="0"/>
            <c:bubble3D val="0"/>
            <c:spPr>
              <a:solidFill>
                <a:srgbClr val="B7EEA9"/>
              </a:solidFill>
              <a:effectLst/>
            </c:spPr>
          </c:dPt>
          <c:dPt>
            <c:idx val="3"/>
            <c:invertIfNegative val="0"/>
            <c:bubble3D val="0"/>
            <c:spPr>
              <a:solidFill>
                <a:srgbClr val="8BE07F"/>
              </a:solidFill>
              <a:effectLst/>
            </c:spPr>
          </c:dPt>
          <c:dPt>
            <c:idx val="4"/>
            <c:invertIfNegative val="0"/>
            <c:bubble3D val="0"/>
            <c:spPr>
              <a:solidFill>
                <a:srgbClr val="4FB968"/>
              </a:solidFill>
              <a:effectLst/>
            </c:spPr>
          </c:dPt>
          <c:cat>
            <c:multiLvlStrRef>
              <c:f>Sheet1!$A$2:$A$6</c:f>
              <c:multiLvlStrCache>
                <c:ptCount val="5"/>
                <c:lvl>
                  <c:pt idx="0">
                    <c:v>Uttar Pradesh</c:v>
                  </c:pt>
                  <c:pt idx="1">
                    <c:v>Gujarat</c:v>
                  </c:pt>
                  <c:pt idx="2">
                    <c:v>Maharashtra</c:v>
                  </c:pt>
                  <c:pt idx="3">
                    <c:v>Tamil Nadu</c:v>
                  </c:pt>
                  <c:pt idx="4">
                    <c:v>Madhya Pradesh</c:v>
                  </c:pt>
                </c:lvl>
              </c:multiLvlStrCache>
            </c:multiLvlStrRef>
          </c:cat>
          <c:val>
            <c:numRef>
              <c:f>Sheet1!$B$2:$B$6</c:f>
              <c:numCache>
                <c:formatCode>General</c:formatCode>
                <c:ptCount val="5"/>
                <c:pt idx="0">
                  <c:v>27528</c:v>
                </c:pt>
                <c:pt idx="1">
                  <c:v>15077</c:v>
                </c:pt>
                <c:pt idx="2">
                  <c:v>13260</c:v>
                </c:pt>
                <c:pt idx="3">
                  <c:v>11331</c:v>
                </c:pt>
                <c:pt idx="4">
                  <c:v>9336</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DAF5D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Warranty</c:v>
                </c:pt>
              </c:strCache>
            </c:strRef>
          </c:tx>
          <c:spPr>
            <a:solidFill>
              <a:schemeClr val="accent1"/>
            </a:solidFill>
            <a:ln w="9525" cap="flat">
              <a:solidFill>
                <a:srgbClr val="F9F9F9"/>
              </a:solidFill>
              <a:prstDash val="solid"/>
              <a:round/>
            </a:ln>
            <a:effectLst/>
          </c:spPr>
          <c:dPt>
            <c:idx val="0"/>
            <c:bubble3D val="0"/>
            <c:spPr>
              <a:solidFill>
                <a:srgbClr val="0E3D3A"/>
              </a:solidFill>
              <a:ln w="25400" cap="flat">
                <a:solidFill>
                  <a:srgbClr val="F2FBEE"/>
                </a:solidFill>
                <a:prstDash val="solid"/>
                <a:round/>
              </a:ln>
              <a:effectLst/>
            </c:spPr>
          </c:dPt>
          <c:dPt>
            <c:idx val="1"/>
            <c:bubble3D val="0"/>
            <c:spPr>
              <a:solidFill>
                <a:srgbClr val="8BE07F"/>
              </a:solidFill>
              <a:ln w="25400" cap="flat">
                <a:solidFill>
                  <a:srgbClr val="F2FBEE"/>
                </a:solidFill>
                <a:prstDash val="solid"/>
                <a:round/>
              </a:ln>
              <a:effectLst/>
            </c:spPr>
          </c:dPt>
          <c:dPt>
            <c:idx val="2"/>
            <c:bubble3D val="0"/>
            <c:spPr>
              <a:solidFill>
                <a:srgbClr val="DAF5D3"/>
              </a:solidFill>
              <a:ln w="25400" cap="flat">
                <a:solidFill>
                  <a:srgbClr val="F2FBE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Active</c:v>
                </c:pt>
                <c:pt idx="1">
                  <c:v>Expiring soon</c:v>
                </c:pt>
                <c:pt idx="2">
                  <c:v>Expired</c:v>
                </c:pt>
              </c:strCache>
            </c:strRef>
          </c:cat>
          <c:val>
            <c:numRef>
              <c:f>Sheet1!$B$2:$B$4</c:f>
              <c:numCache>
                <c:ptCount val="3"/>
                <c:pt idx="0">
                  <c:v>485</c:v>
                </c:pt>
                <c:pt idx="1">
                  <c:v>38</c:v>
                </c:pt>
                <c:pt idx="2">
                  <c:v>17</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syfr.live is a web portal that keeps the records of small, non-RTO electric bikes: who owns which bike, where it was sold, what warranty each part carries, and which parts have been replaced. Everything in this deck is shown with sample data, using the Ereganto logo on the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low-speed e-bikes do not go through the RTO, so there is no government registry to lean on. The portal fills that gap for the manufacturer and its dealer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plate is the link between the physical bike and its record. Scanning it opens registration, warranty per part and the parts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gets its own view of the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data. The five largest states in the demo registry; the full table lists every state and union territory with its districts.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uses real district boundaries. The numbers are made up. The live feed adds a registration every few seconds so the real-time behaviour is visible in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data: counts from the demo register. 'Expiring soon' means a part's warranty ends within 60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Warranty months come from the demo's four models: motors carry 24 or 36 months, controllers 24, batteries 18 to 30. Serial numbers shown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Dealers register a bike and scan plates; owners see their registration, QR and warranty per part. The dealer app also logs part replacements.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qualitative comparison, not a measured one: it describes what the portal adds, not how any particular dealer works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steps exist in the demo. The rest are proposals, not commitments; the backend unlocks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link is a private page; share it from its Share menu before sending it to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2331720"/>
            <a:ext cx="6583680" cy="1463040"/>
          </a:xfrm>
          <a:prstGeom prst="rect">
            <a:avLst/>
          </a:prstGeom>
          <a:noFill/>
          <a:ln/>
        </p:spPr>
        <p:txBody>
          <a:bodyPr wrap="square" rtlCol="0"/>
          <a:lstStyle>
            <a:lvl1pPr algn="l" indent="0" marL="0">
              <a:buNone/>
              <a:defRPr lang="en-US" sz="4400" dirty="0">
                <a:solidFill>
                  <a:schemeClr val="tx1"/>
                </a:solidFill>
                <a:latin typeface="Outfit" pitchFamily="34" charset="0"/>
                <a:ea typeface="Outfit" pitchFamily="34" charset="-122"/>
                <a:cs typeface="Outfit" pitchFamily="34" charset="-120"/>
              </a:defRPr>
            </a:lvl1pPr>
          </a:lstStyle>
          <a:p>
            <a:pPr algn="l" indent="0" marL="0">
              <a:buNone/>
            </a:pPr>
            <a:endParaRPr lang="en-US" sz="4400" dirty="0"/>
          </a:p>
        </p:txBody>
      </p:sp>
      <p:sp>
        <p:nvSpPr>
          <p:cNvPr id="3" name="Text 0"/>
          <p:cNvSpPr/>
          <p:nvPr>
            <p:ph idx="101" type="body" hasCustomPrompt="1"/>
          </p:nvPr>
        </p:nvSpPr>
        <p:spPr>
          <a:xfrm>
            <a:off x="777240" y="3931920"/>
            <a:ext cx="5669280" cy="914400"/>
          </a:xfrm>
          <a:prstGeom prst="rect">
            <a:avLst/>
          </a:prstGeom>
          <a:noFill/>
          <a:ln/>
        </p:spPr>
        <p:txBody>
          <a:bodyPr wrap="square" rtlCol="0"/>
          <a:lstStyle>
            <a:lvl1pPr indent="0" marL="0">
              <a:buNone/>
              <a:defRPr lang="en-US" sz="1600" dirty="0">
                <a:solidFill>
                  <a:schemeClr val="accent6"/>
                </a:solidFill>
                <a:latin typeface="Outfit" pitchFamily="34" charset="0"/>
                <a:ea typeface="Outfit" pitchFamily="34" charset="-122"/>
                <a:cs typeface="Outfit" pitchFamily="34" charset="-120"/>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INT_LEF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868680"/>
            <a:ext cx="10607040" cy="868680"/>
          </a:xfrm>
          <a:prstGeom prst="rect">
            <a:avLst/>
          </a:prstGeom>
          <a:noFill/>
          <a:ln/>
        </p:spPr>
        <p:txBody>
          <a:bodyPr wrap="square" rtlCol="0"/>
          <a:lstStyle>
            <a:lvl1pPr algn="l" indent="0" marL="0">
              <a:buNone/>
              <a:defRPr lang="en-US" sz="3000" dirty="0">
                <a:solidFill>
                  <a:schemeClr val="tx1"/>
                </a:solidFill>
                <a:latin typeface="Outfit" pitchFamily="34" charset="0"/>
                <a:ea typeface="Outfit" pitchFamily="34" charset="-122"/>
                <a:cs typeface="Outfit" pitchFamily="34" charset="-120"/>
              </a:defRPr>
            </a:lvl1pPr>
          </a:lstStyle>
          <a:p>
            <a:pPr algn="l" indent="0" marL="0">
              <a:buNone/>
            </a:pPr>
            <a:endParaRPr lang="en-US" sz="3000" dirty="0"/>
          </a:p>
        </p:txBody>
      </p:sp>
      <p:pic>
        <p:nvPicPr>
          <p:cNvPr id="3" name="Image 0" descr="/tmp/claude-0/-home-user-fans-app/34dcd851-4012-5285-8b19-5836f8a3c053/scratchpad/deck/img/n_mark_e.png">    </p:cNvPr>
          <p:cNvPicPr>
            <a:picLocks noChangeAspect="1"/>
          </p:cNvPicPr>
          <p:nvPr/>
        </p:nvPicPr>
        <p:blipFill>
          <a:blip r:embed="rId1"/>
          <a:stretch>
            <a:fillRect/>
          </a:stretch>
        </p:blipFill>
        <p:spPr>
          <a:xfrm>
            <a:off x="777240" y="6382512"/>
            <a:ext cx="274320" cy="274320"/>
          </a:xfrm>
          <a:prstGeom prst="rect">
            <a:avLst/>
          </a:prstGeom>
        </p:spPr>
      </p:pic>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NT_CENT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868680"/>
            <a:ext cx="10634472" cy="868680"/>
          </a:xfrm>
          <a:prstGeom prst="rect">
            <a:avLst/>
          </a:prstGeom>
          <a:noFill/>
          <a:ln/>
        </p:spPr>
        <p:txBody>
          <a:bodyPr wrap="square" rtlCol="0"/>
          <a:lstStyle>
            <a:lvl1pPr algn="ctr" indent="0" marL="0">
              <a:buNone/>
              <a:defRPr lang="en-US" sz="3000" dirty="0">
                <a:solidFill>
                  <a:schemeClr val="tx1"/>
                </a:solidFill>
                <a:latin typeface="Outfit" pitchFamily="34" charset="0"/>
                <a:ea typeface="Outfit" pitchFamily="34" charset="-122"/>
                <a:cs typeface="Outfit" pitchFamily="34" charset="-120"/>
              </a:defRPr>
            </a:lvl1pPr>
          </a:lstStyle>
          <a:p>
            <a:pPr algn="ctr" indent="0" marL="0">
              <a:buNone/>
            </a:pPr>
            <a:endParaRPr lang="en-US" sz="3000" dirty="0"/>
          </a:p>
        </p:txBody>
      </p:sp>
      <p:pic>
        <p:nvPicPr>
          <p:cNvPr id="3" name="Image 0" descr="/tmp/claude-0/-home-user-fans-app/34dcd851-4012-5285-8b19-5836f8a3c053/scratchpad/deck/img/n_mark_e.png">    </p:cNvPr>
          <p:cNvPicPr>
            <a:picLocks noChangeAspect="1"/>
          </p:cNvPicPr>
          <p:nvPr/>
        </p:nvPicPr>
        <p:blipFill>
          <a:blip r:embed="rId1"/>
          <a:stretch>
            <a:fillRect/>
          </a:stretch>
        </p:blipFill>
        <p:spPr>
          <a:xfrm>
            <a:off x="777240" y="6382512"/>
            <a:ext cx="274320" cy="274320"/>
          </a:xfrm>
          <a:prstGeom prst="rect">
            <a:avLst/>
          </a:prstGeom>
        </p:spPr>
      </p:pic>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LEF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868680"/>
            <a:ext cx="10607040" cy="868680"/>
          </a:xfrm>
          <a:prstGeom prst="rect">
            <a:avLst/>
          </a:prstGeom>
          <a:noFill/>
          <a:ln/>
        </p:spPr>
        <p:txBody>
          <a:bodyPr wrap="square" rtlCol="0"/>
          <a:lstStyle>
            <a:lvl1pPr algn="l" indent="0" marL="0">
              <a:buNone/>
              <a:defRPr lang="en-US" sz="3000" dirty="0">
                <a:solidFill>
                  <a:schemeClr val="bg1"/>
                </a:solidFill>
                <a:latin typeface="Outfit" pitchFamily="34" charset="0"/>
                <a:ea typeface="Outfit" pitchFamily="34" charset="-122"/>
                <a:cs typeface="Outfit" pitchFamily="34" charset="-120"/>
              </a:defRPr>
            </a:lvl1pPr>
          </a:lstStyle>
          <a:p>
            <a:pPr algn="l" indent="0" marL="0">
              <a:buNone/>
            </a:pPr>
            <a:endParaRPr lang="en-US" sz="3000" dirty="0"/>
          </a:p>
        </p:txBody>
      </p:sp>
      <p:pic>
        <p:nvPicPr>
          <p:cNvPr id="3" name="Image 0" descr="/tmp/claude-0/-home-user-fans-app/34dcd851-4012-5285-8b19-5836f8a3c053/scratchpad/deck/img/n_mark_e.png">    </p:cNvPr>
          <p:cNvPicPr>
            <a:picLocks noChangeAspect="1"/>
          </p:cNvPicPr>
          <p:nvPr/>
        </p:nvPicPr>
        <p:blipFill>
          <a:blip r:embed="rId1"/>
          <a:stretch>
            <a:fillRect/>
          </a:stretch>
        </p:blipFill>
        <p:spPr>
          <a:xfrm>
            <a:off x="777240" y="6382512"/>
            <a:ext cx="274320" cy="274320"/>
          </a:xfrm>
          <a:prstGeom prst="rect">
            <a:avLst/>
          </a:prstGeom>
        </p:spPr>
      </p:pic>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Outfit"/>
                <a:ea typeface="Outfit"/>
                <a:cs typeface="Outfit"/>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_M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309360" y="1554480"/>
            <a:ext cx="5120640" cy="2377440"/>
          </a:xfrm>
          <a:prstGeom prst="rect">
            <a:avLst/>
          </a:prstGeom>
          <a:noFill/>
          <a:ln/>
        </p:spPr>
        <p:txBody>
          <a:bodyPr wrap="square" rtlCol="0"/>
          <a:lstStyle>
            <a:lvl1pPr algn="l" indent="0" marL="0">
              <a:buNone/>
              <a:defRPr lang="en-US" sz="4000" dirty="0">
                <a:solidFill>
                  <a:schemeClr val="tx1"/>
                </a:solidFill>
                <a:latin typeface="Outfit" pitchFamily="34" charset="0"/>
                <a:ea typeface="Outfit" pitchFamily="34" charset="-122"/>
                <a:cs typeface="Outfit"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claude.ai/artifact/76eZmTT9gninNENMKdFitt"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6.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Ereganto logo" descr="Ereganto Electric Scooter logo">    </p:cNvPr>
          <p:cNvPicPr>
            <a:picLocks noChangeAspect="1"/>
          </p:cNvPicPr>
          <p:nvPr/>
        </p:nvPicPr>
        <p:blipFill>
          <a:blip r:embed="rId1"/>
          <a:stretch>
            <a:fillRect/>
          </a:stretch>
        </p:blipFill>
        <p:spPr>
          <a:xfrm>
            <a:off x="777240" y="457200"/>
            <a:ext cx="1737360" cy="967958"/>
          </a:xfrm>
          <a:prstGeom prst="rect">
            <a:avLst/>
          </a:prstGeom>
        </p:spPr>
      </p:pic>
      <p:sp>
        <p:nvSpPr>
          <p:cNvPr id="3" name="Text 0"/>
          <p:cNvSpPr/>
          <p:nvPr>
            <p:ph idx="100" type="title" hasCustomPrompt="1"/>
          </p:nvPr>
        </p:nvSpPr>
        <p:spPr>
          <a:xfrm>
            <a:off x="777240" y="2331720"/>
            <a:ext cx="6583680" cy="1463040"/>
          </a:xfrm>
          <a:prstGeom prst="rect">
            <a:avLst/>
          </a:prstGeom>
          <a:noFill/>
          <a:ln/>
        </p:spPr>
        <p:txBody>
          <a:bodyPr wrap="square" lIns="0" tIns="0" rIns="0" bIns="0" rtlCol="0" anchor="t"/>
          <a:lstStyle/>
          <a:p>
            <a:pPr algn="l" indent="0" marL="0">
              <a:buNone/>
            </a:pPr>
            <a:r>
              <a:rPr lang="en-US" sz="4400" dirty="0">
                <a:solidFill>
                  <a:schemeClr val="tx1"/>
                </a:solidFill>
                <a:latin typeface="Outfit" pitchFamily="34" charset="0"/>
                <a:ea typeface="Outfit" pitchFamily="34" charset="-122"/>
                <a:cs typeface="Outfit" pitchFamily="34" charset="-120"/>
              </a:rPr>
              <a:t>One registry for every non-RTO e-bike</a:t>
            </a:r>
            <a:endParaRPr lang="en-US" sz="4400" dirty="0"/>
          </a:p>
        </p:txBody>
      </p:sp>
      <p:sp>
        <p:nvSpPr>
          <p:cNvPr id="4" name="Text 0"/>
          <p:cNvSpPr/>
          <p:nvPr>
            <p:ph idx="101" type="body" hasCustomPrompt="1"/>
          </p:nvPr>
        </p:nvSpPr>
        <p:spPr>
          <a:xfrm>
            <a:off x="777240" y="3931920"/>
            <a:ext cx="5669280" cy="914400"/>
          </a:xfrm>
          <a:prstGeom prst="rect">
            <a:avLst/>
          </a:prstGeom>
          <a:noFill/>
          <a:ln/>
        </p:spPr>
        <p:txBody>
          <a:bodyPr wrap="square" lIns="0" tIns="0" rIns="0" bIns="0" rtlCol="0" anchor="t"/>
          <a:lstStyle/>
          <a:p>
            <a:pPr indent="0" marL="0">
              <a:buNone/>
            </a:pPr>
            <a:r>
              <a:rPr lang="en-US" sz="1600" dirty="0">
                <a:solidFill>
                  <a:schemeClr val="accent6"/>
                </a:solidFill>
                <a:latin typeface="Outfit" pitchFamily="34" charset="0"/>
                <a:ea typeface="Outfit" pitchFamily="34" charset="-122"/>
                <a:cs typeface="Outfit" pitchFamily="34" charset="-120"/>
              </a:rPr>
              <a:t>Registration, warranty and parts history, from the factory to the dealer to the owner.</a:t>
            </a:r>
            <a:endParaRPr lang="en-US" sz="1600" dirty="0"/>
          </a:p>
        </p:txBody>
      </p:sp>
      <p:pic>
        <p:nvPicPr>
          <p:cNvPr id="5" name="Hero panel" descr="Owner phone screen with the number plate and QR code">    </p:cNvPr>
          <p:cNvPicPr>
            <a:picLocks noChangeAspect="1"/>
          </p:cNvPicPr>
          <p:nvPr/>
        </p:nvPicPr>
        <p:blipFill>
          <a:blip r:embed="rId2"/>
          <a:stretch>
            <a:fillRect/>
          </a:stretch>
        </p:blipFill>
        <p:spPr>
          <a:xfrm>
            <a:off x="8275320" y="502920"/>
            <a:ext cx="3200400" cy="5852160"/>
          </a:xfrm>
          <a:prstGeom prst="rect">
            <a:avLst/>
          </a:prstGeom>
        </p:spPr>
      </p:pic>
      <p:sp>
        <p:nvSpPr>
          <p:cNvPr id="6" name="Text"/>
          <p:cNvSpPr txBox="1"/>
          <p:nvPr/>
        </p:nvSpPr>
        <p:spPr>
          <a:xfrm>
            <a:off x="777240" y="5669280"/>
            <a:ext cx="2743200" cy="228600"/>
          </a:xfrm>
          <a:prstGeom prst="rect">
            <a:avLst/>
          </a:prstGeom>
          <a:noFill/>
          <a:ln/>
        </p:spPr>
        <p:txBody>
          <a:bodyPr wrap="square" lIns="0" tIns="0" rIns="0" bIns="0" rtlCol="0" anchor="t"/>
          <a:lstStyle/>
          <a:p>
            <a:pPr indent="0" marL="0">
              <a:buNone/>
            </a:pPr>
            <a:r>
              <a:rPr lang="en-US" sz="1000" b="1" spc="100" kern="0" dirty="0">
                <a:solidFill>
                  <a:schemeClr val="accent2"/>
                </a:solidFill>
                <a:latin typeface="Outfit" pitchFamily="34" charset="0"/>
                <a:ea typeface="Outfit" pitchFamily="34" charset="-122"/>
                <a:cs typeface="Outfit" pitchFamily="34" charset="-120"/>
              </a:rPr>
              <a:t>COMPANY</a:t>
            </a:r>
            <a:endParaRPr lang="en-US" sz="1000" dirty="0"/>
          </a:p>
        </p:txBody>
      </p:sp>
      <p:sp>
        <p:nvSpPr>
          <p:cNvPr id="7" name="Text"/>
          <p:cNvSpPr txBox="1"/>
          <p:nvPr/>
        </p:nvSpPr>
        <p:spPr>
          <a:xfrm>
            <a:off x="777240" y="5916168"/>
            <a:ext cx="2743200" cy="274320"/>
          </a:xfrm>
          <a:prstGeom prst="rect">
            <a:avLst/>
          </a:prstGeom>
          <a:noFill/>
          <a:ln/>
        </p:spPr>
        <p:txBody>
          <a:bodyPr wrap="square" lIns="0" tIns="0" rIns="0" bIns="0" rtlCol="0" anchor="t"/>
          <a:lstStyle/>
          <a:p>
            <a:pPr indent="0" marL="0">
              <a:buNone/>
            </a:pPr>
            <a:r>
              <a:rPr lang="en-US" sz="1300" dirty="0">
                <a:solidFill>
                  <a:schemeClr val="tx1"/>
                </a:solidFill>
                <a:latin typeface="Outfit" pitchFamily="34" charset="0"/>
                <a:ea typeface="Outfit" pitchFamily="34" charset="-122"/>
                <a:cs typeface="Outfit" pitchFamily="34" charset="-120"/>
              </a:rPr>
              <a:t>Ereganto</a:t>
            </a:r>
            <a:endParaRPr lang="en-US" sz="1300" dirty="0"/>
          </a:p>
        </p:txBody>
      </p:sp>
      <p:sp>
        <p:nvSpPr>
          <p:cNvPr id="8" name="Text"/>
          <p:cNvSpPr txBox="1"/>
          <p:nvPr/>
        </p:nvSpPr>
        <p:spPr>
          <a:xfrm>
            <a:off x="2971800" y="5669280"/>
            <a:ext cx="2743200" cy="228600"/>
          </a:xfrm>
          <a:prstGeom prst="rect">
            <a:avLst/>
          </a:prstGeom>
          <a:noFill/>
          <a:ln/>
        </p:spPr>
        <p:txBody>
          <a:bodyPr wrap="square" lIns="0" tIns="0" rIns="0" bIns="0" rtlCol="0" anchor="t"/>
          <a:lstStyle/>
          <a:p>
            <a:pPr indent="0" marL="0">
              <a:buNone/>
            </a:pPr>
            <a:r>
              <a:rPr lang="en-US" sz="1000" b="1" spc="100" kern="0" dirty="0">
                <a:solidFill>
                  <a:schemeClr val="accent2"/>
                </a:solidFill>
                <a:latin typeface="Outfit" pitchFamily="34" charset="0"/>
                <a:ea typeface="Outfit" pitchFamily="34" charset="-122"/>
                <a:cs typeface="Outfit" pitchFamily="34" charset="-120"/>
              </a:rPr>
              <a:t>PLATFORM</a:t>
            </a:r>
            <a:endParaRPr lang="en-US" sz="1000" dirty="0"/>
          </a:p>
        </p:txBody>
      </p:sp>
      <p:sp>
        <p:nvSpPr>
          <p:cNvPr id="9" name="Text"/>
          <p:cNvSpPr txBox="1"/>
          <p:nvPr/>
        </p:nvSpPr>
        <p:spPr>
          <a:xfrm>
            <a:off x="2971800" y="5916168"/>
            <a:ext cx="2743200" cy="274320"/>
          </a:xfrm>
          <a:prstGeom prst="rect">
            <a:avLst/>
          </a:prstGeom>
          <a:noFill/>
          <a:ln/>
        </p:spPr>
        <p:txBody>
          <a:bodyPr wrap="square" lIns="0" tIns="0" rIns="0" bIns="0" rtlCol="0" anchor="t"/>
          <a:lstStyle/>
          <a:p>
            <a:pPr indent="0" marL="0">
              <a:buNone/>
            </a:pPr>
            <a:r>
              <a:rPr lang="en-US" sz="1300" dirty="0">
                <a:solidFill>
                  <a:schemeClr val="tx1"/>
                </a:solidFill>
                <a:latin typeface="Outfit" pitchFamily="34" charset="0"/>
                <a:ea typeface="Outfit" pitchFamily="34" charset="-122"/>
                <a:cs typeface="Outfit" pitchFamily="34" charset="-120"/>
              </a:rPr>
              <a:t>syfr.live registry</a:t>
            </a:r>
            <a:endParaRPr lang="en-US" sz="1300" dirty="0"/>
          </a:p>
        </p:txBody>
      </p:sp>
      <p:sp>
        <p:nvSpPr>
          <p:cNvPr id="10" name="Text"/>
          <p:cNvSpPr txBox="1"/>
          <p:nvPr/>
        </p:nvSpPr>
        <p:spPr>
          <a:xfrm>
            <a:off x="5349240" y="5669280"/>
            <a:ext cx="2743200" cy="228600"/>
          </a:xfrm>
          <a:prstGeom prst="rect">
            <a:avLst/>
          </a:prstGeom>
          <a:noFill/>
          <a:ln/>
        </p:spPr>
        <p:txBody>
          <a:bodyPr wrap="square" lIns="0" tIns="0" rIns="0" bIns="0" rtlCol="0" anchor="t"/>
          <a:lstStyle/>
          <a:p>
            <a:pPr indent="0" marL="0">
              <a:buNone/>
            </a:pPr>
            <a:r>
              <a:rPr lang="en-US" sz="1000" b="1" spc="100" kern="0" dirty="0">
                <a:solidFill>
                  <a:schemeClr val="accent2"/>
                </a:solidFill>
                <a:latin typeface="Outfit" pitchFamily="34" charset="0"/>
                <a:ea typeface="Outfit" pitchFamily="34" charset="-122"/>
                <a:cs typeface="Outfit" pitchFamily="34" charset="-120"/>
              </a:rPr>
              <a:t>DATA</a:t>
            </a:r>
            <a:endParaRPr lang="en-US" sz="1000" dirty="0"/>
          </a:p>
        </p:txBody>
      </p:sp>
      <p:sp>
        <p:nvSpPr>
          <p:cNvPr id="11" name="Text"/>
          <p:cNvSpPr txBox="1"/>
          <p:nvPr/>
        </p:nvSpPr>
        <p:spPr>
          <a:xfrm>
            <a:off x="5349240" y="5916168"/>
            <a:ext cx="2743200" cy="274320"/>
          </a:xfrm>
          <a:prstGeom prst="rect">
            <a:avLst/>
          </a:prstGeom>
          <a:noFill/>
          <a:ln/>
        </p:spPr>
        <p:txBody>
          <a:bodyPr wrap="square" lIns="0" tIns="0" rIns="0" bIns="0" rtlCol="0" anchor="t"/>
          <a:lstStyle/>
          <a:p>
            <a:pPr indent="0" marL="0">
              <a:buNone/>
            </a:pPr>
            <a:r>
              <a:rPr lang="en-US" sz="1300" dirty="0">
                <a:solidFill>
                  <a:schemeClr val="tx1"/>
                </a:solidFill>
                <a:latin typeface="Outfit" pitchFamily="34" charset="0"/>
                <a:ea typeface="Outfit" pitchFamily="34" charset="-122"/>
                <a:cs typeface="Outfit" pitchFamily="34" charset="-120"/>
              </a:rPr>
              <a:t>Sample data only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ill"/>
          <p:cNvSpPr/>
          <p:nvPr/>
        </p:nvSpPr>
        <p:spPr>
          <a:xfrm>
            <a:off x="777240" y="502920"/>
            <a:ext cx="1065276" cy="274320"/>
          </a:xfrm>
          <a:prstGeom prst="roundRect">
            <a:avLst>
              <a:gd name="adj" fmla="val 50000"/>
            </a:avLst>
          </a:prstGeom>
          <a:solidFill>
            <a:schemeClr val="accent1"/>
          </a:solidFill>
          <a:ln/>
        </p:spPr>
      </p:sp>
      <p:sp>
        <p:nvSpPr>
          <p:cNvPr id="3" name="Tag: The gap"/>
          <p:cNvSpPr txBox="1"/>
          <p:nvPr/>
        </p:nvSpPr>
        <p:spPr>
          <a:xfrm>
            <a:off x="777240" y="502920"/>
            <a:ext cx="106527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THE GAP</a:t>
            </a:r>
            <a:endParaRPr lang="en-US" sz="1000" dirty="0"/>
          </a:p>
        </p:txBody>
      </p:sp>
      <p:sp>
        <p:nvSpPr>
          <p:cNvPr id="4" name="Text 0"/>
          <p:cNvSpPr/>
          <p:nvPr>
            <p:ph idx="100" type="title" hasCustomPrompt="1"/>
          </p:nvPr>
        </p:nvSpPr>
        <p:spPr>
          <a:xfrm>
            <a:off x="777240" y="868680"/>
            <a:ext cx="10607040" cy="868680"/>
          </a:xfrm>
          <a:prstGeom prst="rect">
            <a:avLst/>
          </a:prstGeom>
          <a:noFill/>
          <a:ln/>
        </p:spPr>
        <p:txBody>
          <a:bodyPr wrap="square" lIns="0" tIns="0" rIns="0" bIns="0" rtlCol="0" anchor="t"/>
          <a:lstStyle/>
          <a:p>
            <a:pPr algn="l" indent="0" marL="0">
              <a:buNone/>
            </a:pPr>
            <a:r>
              <a:rPr lang="en-US" sz="3000" dirty="0">
                <a:solidFill>
                  <a:schemeClr val="tx1"/>
                </a:solidFill>
                <a:latin typeface="Outfit" pitchFamily="34" charset="0"/>
                <a:ea typeface="Outfit" pitchFamily="34" charset="-122"/>
                <a:cs typeface="Outfit" pitchFamily="34" charset="-120"/>
              </a:rPr>
              <a:t>Non-RTO e-bikes leave no record behind</a:t>
            </a:r>
            <a:endParaRPr lang="en-US" sz="3000" dirty="0"/>
          </a:p>
        </p:txBody>
      </p:sp>
      <p:sp>
        <p:nvSpPr>
          <p:cNvPr id="5" name="Left tile"/>
          <p:cNvSpPr/>
          <p:nvPr/>
        </p:nvSpPr>
        <p:spPr>
          <a:xfrm>
            <a:off x="777240" y="1783080"/>
            <a:ext cx="3154680" cy="3429000"/>
          </a:xfrm>
          <a:prstGeom prst="roundRect">
            <a:avLst>
              <a:gd name="adj" fmla="val 5797"/>
            </a:avLst>
          </a:prstGeom>
          <a:solidFill>
            <a:schemeClr val="accent3"/>
          </a:solidFill>
          <a:ln/>
        </p:spPr>
      </p:sp>
      <p:pic>
        <p:nvPicPr>
          <p:cNvPr id="6" name="Icon: no central record" descr="Icon: no central record">    </p:cNvPr>
          <p:cNvPicPr>
            <a:picLocks noChangeAspect="1"/>
          </p:cNvPicPr>
          <p:nvPr/>
        </p:nvPicPr>
        <p:blipFill>
          <a:blip r:embed="rId1"/>
          <a:stretch>
            <a:fillRect/>
          </a:stretch>
        </p:blipFill>
        <p:spPr>
          <a:xfrm>
            <a:off x="1188720" y="2240280"/>
            <a:ext cx="822960" cy="822960"/>
          </a:xfrm>
          <a:prstGeom prst="rect">
            <a:avLst/>
          </a:prstGeom>
        </p:spPr>
      </p:pic>
      <p:sp>
        <p:nvSpPr>
          <p:cNvPr id="7" name="Text"/>
          <p:cNvSpPr txBox="1"/>
          <p:nvPr/>
        </p:nvSpPr>
        <p:spPr>
          <a:xfrm>
            <a:off x="1188720" y="3429000"/>
            <a:ext cx="2331720" cy="365760"/>
          </a:xfrm>
          <a:prstGeom prst="rect">
            <a:avLst/>
          </a:prstGeom>
          <a:noFill/>
          <a:ln/>
        </p:spPr>
        <p:txBody>
          <a:bodyPr wrap="square" lIns="0" tIns="0" rIns="0" bIns="0" rtlCol="0" anchor="t"/>
          <a:lstStyle/>
          <a:p>
            <a:pPr indent="0" marL="0">
              <a:buNone/>
            </a:pPr>
            <a:r>
              <a:rPr lang="en-US" sz="1900" b="1" dirty="0">
                <a:solidFill>
                  <a:schemeClr val="tx1"/>
                </a:solidFill>
                <a:latin typeface="Outfit" pitchFamily="34" charset="0"/>
                <a:ea typeface="Outfit" pitchFamily="34" charset="-122"/>
                <a:cs typeface="Outfit" pitchFamily="34" charset="-120"/>
              </a:rPr>
              <a:t>No central record</a:t>
            </a:r>
            <a:endParaRPr lang="en-US" sz="1900" dirty="0"/>
          </a:p>
        </p:txBody>
      </p:sp>
      <p:sp>
        <p:nvSpPr>
          <p:cNvPr id="8" name="Text"/>
          <p:cNvSpPr txBox="1"/>
          <p:nvPr/>
        </p:nvSpPr>
        <p:spPr>
          <a:xfrm>
            <a:off x="1188720" y="3886200"/>
            <a:ext cx="2331720" cy="1188720"/>
          </a:xfrm>
          <a:prstGeom prst="rect">
            <a:avLst/>
          </a:prstGeom>
          <a:noFill/>
          <a:ln/>
        </p:spPr>
        <p:txBody>
          <a:bodyPr wrap="square" lIns="0" tIns="0" rIns="0" bIns="0" rtlCol="0" anchor="t"/>
          <a:lstStyle/>
          <a:p>
            <a:pPr indent="0" marL="0">
              <a:buNone/>
            </a:pPr>
            <a:r>
              <a:rPr lang="en-US" sz="1400" dirty="0">
                <a:solidFill>
                  <a:schemeClr val="accent6"/>
                </a:solidFill>
                <a:latin typeface="Outfit" pitchFamily="34" charset="0"/>
                <a:ea typeface="Outfit" pitchFamily="34" charset="-122"/>
                <a:cs typeface="Outfit" pitchFamily="34" charset="-120"/>
              </a:rPr>
              <a:t>Nobody can say how many bikes are on the road, who owns them or where they were sold.</a:t>
            </a:r>
            <a:endParaRPr lang="en-US" sz="1400" dirty="0"/>
          </a:p>
        </p:txBody>
      </p:sp>
      <p:sp>
        <p:nvSpPr>
          <p:cNvPr id="9" name="Center card"/>
          <p:cNvSpPr/>
          <p:nvPr/>
        </p:nvSpPr>
        <p:spPr>
          <a:xfrm>
            <a:off x="4114800" y="1783080"/>
            <a:ext cx="4114800" cy="3429000"/>
          </a:xfrm>
          <a:prstGeom prst="roundRect">
            <a:avLst>
              <a:gd name="adj" fmla="val 5333"/>
            </a:avLst>
          </a:prstGeom>
          <a:solidFill>
            <a:schemeClr val="tx2"/>
          </a:solidFill>
          <a:ln/>
        </p:spPr>
      </p:sp>
      <p:pic>
        <p:nvPicPr>
          <p:cNvPr id="10" name="Icon: paper warranty" descr="Icon: paper warranty">    </p:cNvPr>
          <p:cNvPicPr>
            <a:picLocks noChangeAspect="1"/>
          </p:cNvPicPr>
          <p:nvPr/>
        </p:nvPicPr>
        <p:blipFill>
          <a:blip r:embed="rId2"/>
          <a:stretch>
            <a:fillRect/>
          </a:stretch>
        </p:blipFill>
        <p:spPr>
          <a:xfrm>
            <a:off x="4572000" y="2240280"/>
            <a:ext cx="640080" cy="640080"/>
          </a:xfrm>
          <a:prstGeom prst="rect">
            <a:avLst/>
          </a:prstGeom>
        </p:spPr>
      </p:pic>
      <p:sp>
        <p:nvSpPr>
          <p:cNvPr id="11" name="Text"/>
          <p:cNvSpPr txBox="1"/>
          <p:nvPr/>
        </p:nvSpPr>
        <p:spPr>
          <a:xfrm>
            <a:off x="5394960" y="2286000"/>
            <a:ext cx="2560320" cy="548640"/>
          </a:xfrm>
          <a:prstGeom prst="rect">
            <a:avLst/>
          </a:prstGeom>
          <a:noFill/>
          <a:ln/>
        </p:spPr>
        <p:txBody>
          <a:bodyPr wrap="square" lIns="0" tIns="0" rIns="0" bIns="0" rtlCol="0" anchor="ctr"/>
          <a:lstStyle/>
          <a:p>
            <a:pPr indent="0" marL="0">
              <a:buNone/>
            </a:pPr>
            <a:r>
              <a:rPr lang="en-US" sz="2200" dirty="0">
                <a:solidFill>
                  <a:schemeClr val="bg1"/>
                </a:solidFill>
                <a:latin typeface="Outfit" pitchFamily="34" charset="0"/>
                <a:ea typeface="Outfit" pitchFamily="34" charset="-122"/>
                <a:cs typeface="Outfit" pitchFamily="34" charset="-120"/>
              </a:rPr>
              <a:t>Paper warranty</a:t>
            </a:r>
            <a:endParaRPr lang="en-US" sz="2200" dirty="0"/>
          </a:p>
        </p:txBody>
      </p:sp>
      <p:pic>
        <p:nvPicPr>
          <p:cNvPr id="12" name="Check 1" descr="Check 1">    </p:cNvPr>
          <p:cNvPicPr>
            <a:picLocks noChangeAspect="1"/>
          </p:cNvPicPr>
          <p:nvPr/>
        </p:nvPicPr>
        <p:blipFill>
          <a:blip r:embed="rId3"/>
          <a:stretch>
            <a:fillRect/>
          </a:stretch>
        </p:blipFill>
        <p:spPr>
          <a:xfrm>
            <a:off x="4572000" y="3291840"/>
            <a:ext cx="274320" cy="274320"/>
          </a:xfrm>
          <a:prstGeom prst="rect">
            <a:avLst/>
          </a:prstGeom>
        </p:spPr>
      </p:pic>
      <p:sp>
        <p:nvSpPr>
          <p:cNvPr id="13" name="Text"/>
          <p:cNvSpPr txBox="1"/>
          <p:nvPr/>
        </p:nvSpPr>
        <p:spPr>
          <a:xfrm>
            <a:off x="5029200" y="3264408"/>
            <a:ext cx="2926080" cy="548640"/>
          </a:xfrm>
          <a:prstGeom prst="rect">
            <a:avLst/>
          </a:prstGeom>
          <a:noFill/>
          <a:ln/>
        </p:spPr>
        <p:txBody>
          <a:bodyPr wrap="square" lIns="0" tIns="0" rIns="0" bIns="0" rtlCol="0" anchor="ctr"/>
          <a:lstStyle/>
          <a:p>
            <a:pPr indent="0" marL="0">
              <a:buNone/>
            </a:pPr>
            <a:r>
              <a:rPr lang="en-US" sz="1400" dirty="0">
                <a:solidFill>
                  <a:schemeClr val="bg1"/>
                </a:solidFill>
                <a:latin typeface="Outfit" pitchFamily="34" charset="0"/>
                <a:ea typeface="Outfit" pitchFamily="34" charset="-122"/>
                <a:cs typeface="Outfit" pitchFamily="34" charset="-120"/>
              </a:rPr>
              <a:t>A claim depends on a bill the owner may have lost</a:t>
            </a:r>
            <a:endParaRPr lang="en-US" sz="1400" dirty="0"/>
          </a:p>
        </p:txBody>
      </p:sp>
      <p:pic>
        <p:nvPicPr>
          <p:cNvPr id="14" name="Check 2" descr="Check 2">    </p:cNvPr>
          <p:cNvPicPr>
            <a:picLocks noChangeAspect="1"/>
          </p:cNvPicPr>
          <p:nvPr/>
        </p:nvPicPr>
        <p:blipFill>
          <a:blip r:embed="rId4"/>
          <a:stretch>
            <a:fillRect/>
          </a:stretch>
        </p:blipFill>
        <p:spPr>
          <a:xfrm>
            <a:off x="4572000" y="3913632"/>
            <a:ext cx="274320" cy="274320"/>
          </a:xfrm>
          <a:prstGeom prst="rect">
            <a:avLst/>
          </a:prstGeom>
        </p:spPr>
      </p:pic>
      <p:sp>
        <p:nvSpPr>
          <p:cNvPr id="15" name="Text"/>
          <p:cNvSpPr txBox="1"/>
          <p:nvPr/>
        </p:nvSpPr>
        <p:spPr>
          <a:xfrm>
            <a:off x="5029200" y="3886200"/>
            <a:ext cx="2926080" cy="548640"/>
          </a:xfrm>
          <a:prstGeom prst="rect">
            <a:avLst/>
          </a:prstGeom>
          <a:noFill/>
          <a:ln/>
        </p:spPr>
        <p:txBody>
          <a:bodyPr wrap="square" lIns="0" tIns="0" rIns="0" bIns="0" rtlCol="0" anchor="ctr"/>
          <a:lstStyle/>
          <a:p>
            <a:pPr indent="0" marL="0">
              <a:buNone/>
            </a:pPr>
            <a:r>
              <a:rPr lang="en-US" sz="1400" dirty="0">
                <a:solidFill>
                  <a:schemeClr val="bg1"/>
                </a:solidFill>
                <a:latin typeface="Outfit" pitchFamily="34" charset="0"/>
                <a:ea typeface="Outfit" pitchFamily="34" charset="-122"/>
                <a:cs typeface="Outfit" pitchFamily="34" charset="-120"/>
              </a:rPr>
              <a:t>Dealers rely on their memory of the sale</a:t>
            </a:r>
            <a:endParaRPr lang="en-US" sz="1400" dirty="0"/>
          </a:p>
        </p:txBody>
      </p:sp>
      <p:pic>
        <p:nvPicPr>
          <p:cNvPr id="16" name="Check 3" descr="Check 3">    </p:cNvPr>
          <p:cNvPicPr>
            <a:picLocks noChangeAspect="1"/>
          </p:cNvPicPr>
          <p:nvPr/>
        </p:nvPicPr>
        <p:blipFill>
          <a:blip r:embed="rId5"/>
          <a:stretch>
            <a:fillRect/>
          </a:stretch>
        </p:blipFill>
        <p:spPr>
          <a:xfrm>
            <a:off x="4572000" y="4535424"/>
            <a:ext cx="274320" cy="274320"/>
          </a:xfrm>
          <a:prstGeom prst="rect">
            <a:avLst/>
          </a:prstGeom>
        </p:spPr>
      </p:pic>
      <p:sp>
        <p:nvSpPr>
          <p:cNvPr id="17" name="Text"/>
          <p:cNvSpPr txBox="1"/>
          <p:nvPr/>
        </p:nvSpPr>
        <p:spPr>
          <a:xfrm>
            <a:off x="5029200" y="4507992"/>
            <a:ext cx="2926080" cy="548640"/>
          </a:xfrm>
          <a:prstGeom prst="rect">
            <a:avLst/>
          </a:prstGeom>
          <a:noFill/>
          <a:ln/>
        </p:spPr>
        <p:txBody>
          <a:bodyPr wrap="square" lIns="0" tIns="0" rIns="0" bIns="0" rtlCol="0" anchor="ctr"/>
          <a:lstStyle/>
          <a:p>
            <a:pPr indent="0" marL="0">
              <a:buNone/>
            </a:pPr>
            <a:r>
              <a:rPr lang="en-US" sz="1400" dirty="0">
                <a:solidFill>
                  <a:schemeClr val="bg1"/>
                </a:solidFill>
                <a:latin typeface="Outfit" pitchFamily="34" charset="0"/>
                <a:ea typeface="Outfit" pitchFamily="34" charset="-122"/>
                <a:cs typeface="Outfit" pitchFamily="34" charset="-120"/>
              </a:rPr>
              <a:t>Nobody can check which part carries which warranty</a:t>
            </a:r>
            <a:endParaRPr lang="en-US" sz="1400" dirty="0"/>
          </a:p>
        </p:txBody>
      </p:sp>
      <p:sp>
        <p:nvSpPr>
          <p:cNvPr id="18" name="Right tile"/>
          <p:cNvSpPr/>
          <p:nvPr/>
        </p:nvSpPr>
        <p:spPr>
          <a:xfrm>
            <a:off x="8412480" y="1783080"/>
            <a:ext cx="3154680" cy="3429000"/>
          </a:xfrm>
          <a:prstGeom prst="roundRect">
            <a:avLst>
              <a:gd name="adj" fmla="val 5797"/>
            </a:avLst>
          </a:prstGeom>
          <a:solidFill>
            <a:schemeClr val="accent3"/>
          </a:solidFill>
          <a:ln/>
        </p:spPr>
      </p:sp>
      <p:pic>
        <p:nvPicPr>
          <p:cNvPr id="19" name="Icon: unseen part swaps" descr="Icon: unseen part swaps">    </p:cNvPr>
          <p:cNvPicPr>
            <a:picLocks noChangeAspect="1"/>
          </p:cNvPicPr>
          <p:nvPr/>
        </p:nvPicPr>
        <p:blipFill>
          <a:blip r:embed="rId6"/>
          <a:stretch>
            <a:fillRect/>
          </a:stretch>
        </p:blipFill>
        <p:spPr>
          <a:xfrm>
            <a:off x="8823960" y="2240280"/>
            <a:ext cx="822960" cy="822960"/>
          </a:xfrm>
          <a:prstGeom prst="rect">
            <a:avLst/>
          </a:prstGeom>
        </p:spPr>
      </p:pic>
      <p:sp>
        <p:nvSpPr>
          <p:cNvPr id="20" name="Text"/>
          <p:cNvSpPr txBox="1"/>
          <p:nvPr/>
        </p:nvSpPr>
        <p:spPr>
          <a:xfrm>
            <a:off x="8823960" y="3429000"/>
            <a:ext cx="2331720" cy="365760"/>
          </a:xfrm>
          <a:prstGeom prst="rect">
            <a:avLst/>
          </a:prstGeom>
          <a:noFill/>
          <a:ln/>
        </p:spPr>
        <p:txBody>
          <a:bodyPr wrap="square" lIns="0" tIns="0" rIns="0" bIns="0" rtlCol="0" anchor="t"/>
          <a:lstStyle/>
          <a:p>
            <a:pPr indent="0" marL="0">
              <a:buNone/>
            </a:pPr>
            <a:r>
              <a:rPr lang="en-US" sz="1900" b="1" dirty="0">
                <a:solidFill>
                  <a:schemeClr val="tx1"/>
                </a:solidFill>
                <a:latin typeface="Outfit" pitchFamily="34" charset="0"/>
                <a:ea typeface="Outfit" pitchFamily="34" charset="-122"/>
                <a:cs typeface="Outfit" pitchFamily="34" charset="-120"/>
              </a:rPr>
              <a:t>Unseen part swaps</a:t>
            </a:r>
            <a:endParaRPr lang="en-US" sz="1900" dirty="0"/>
          </a:p>
        </p:txBody>
      </p:sp>
      <p:sp>
        <p:nvSpPr>
          <p:cNvPr id="21" name="Text"/>
          <p:cNvSpPr txBox="1"/>
          <p:nvPr/>
        </p:nvSpPr>
        <p:spPr>
          <a:xfrm>
            <a:off x="8823960" y="3886200"/>
            <a:ext cx="2331720" cy="1188720"/>
          </a:xfrm>
          <a:prstGeom prst="rect">
            <a:avLst/>
          </a:prstGeom>
          <a:noFill/>
          <a:ln/>
        </p:spPr>
        <p:txBody>
          <a:bodyPr wrap="square" lIns="0" tIns="0" rIns="0" bIns="0" rtlCol="0" anchor="t"/>
          <a:lstStyle/>
          <a:p>
            <a:pPr indent="0" marL="0">
              <a:buNone/>
            </a:pPr>
            <a:r>
              <a:rPr lang="en-US" sz="1400" dirty="0">
                <a:solidFill>
                  <a:schemeClr val="accent6"/>
                </a:solidFill>
                <a:latin typeface="Outfit" pitchFamily="34" charset="0"/>
                <a:ea typeface="Outfit" pitchFamily="34" charset="-122"/>
                <a:cs typeface="Outfit" pitchFamily="34" charset="-120"/>
              </a:rPr>
              <a:t>A new motor, controller or battery is fitted and what was replaced, and when, is lost.</a:t>
            </a:r>
            <a:endParaRPr lang="en-US" sz="1400" dirty="0"/>
          </a:p>
        </p:txBody>
      </p:sp>
      <p:sp>
        <p:nvSpPr>
          <p:cNvPr id="22" name="Text"/>
          <p:cNvSpPr txBox="1"/>
          <p:nvPr/>
        </p:nvSpPr>
        <p:spPr>
          <a:xfrm>
            <a:off x="777240" y="5486400"/>
            <a:ext cx="10634472" cy="36576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syfr.live gives each bike a QR plate and one record that company, dealer and owner can all read.</a:t>
            </a:r>
            <a:endParaRPr lang="en-US" sz="14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ill"/>
          <p:cNvSpPr/>
          <p:nvPr/>
        </p:nvSpPr>
        <p:spPr>
          <a:xfrm>
            <a:off x="777240" y="502920"/>
            <a:ext cx="1499616" cy="274320"/>
          </a:xfrm>
          <a:prstGeom prst="roundRect">
            <a:avLst>
              <a:gd name="adj" fmla="val 50000"/>
            </a:avLst>
          </a:prstGeom>
          <a:solidFill>
            <a:schemeClr val="accent1"/>
          </a:solidFill>
          <a:ln/>
        </p:spPr>
      </p:sp>
      <p:sp>
        <p:nvSpPr>
          <p:cNvPr id="3" name="Tag: The solution"/>
          <p:cNvSpPr txBox="1"/>
          <p:nvPr/>
        </p:nvSpPr>
        <p:spPr>
          <a:xfrm>
            <a:off x="777240" y="502920"/>
            <a:ext cx="149961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THE SOLUTION</a:t>
            </a:r>
            <a:endParaRPr lang="en-US" sz="1000" dirty="0"/>
          </a:p>
        </p:txBody>
      </p:sp>
      <p:sp>
        <p:nvSpPr>
          <p:cNvPr id="4" name="Text 0"/>
          <p:cNvSpPr/>
          <p:nvPr>
            <p:ph idx="100" type="title" hasCustomPrompt="1"/>
          </p:nvPr>
        </p:nvSpPr>
        <p:spPr>
          <a:xfrm>
            <a:off x="777240" y="868680"/>
            <a:ext cx="10607040" cy="868680"/>
          </a:xfrm>
          <a:prstGeom prst="rect">
            <a:avLst/>
          </a:prstGeom>
          <a:noFill/>
          <a:ln/>
        </p:spPr>
        <p:txBody>
          <a:bodyPr wrap="square" lIns="0" tIns="0" rIns="0" bIns="0" rtlCol="0" anchor="t"/>
          <a:lstStyle/>
          <a:p>
            <a:pPr algn="l" indent="0" marL="0">
              <a:buNone/>
            </a:pPr>
            <a:r>
              <a:rPr lang="en-US" sz="3000" dirty="0">
                <a:solidFill>
                  <a:schemeClr val="tx1"/>
                </a:solidFill>
                <a:latin typeface="Outfit" pitchFamily="34" charset="0"/>
                <a:ea typeface="Outfit" pitchFamily="34" charset="-122"/>
                <a:cs typeface="Outfit" pitchFamily="34" charset="-120"/>
              </a:rPr>
              <a:t>One QR plate. One record for everyone</a:t>
            </a:r>
            <a:endParaRPr lang="en-US" sz="3000" dirty="0"/>
          </a:p>
        </p:txBody>
      </p:sp>
      <p:pic>
        <p:nvPicPr>
          <p:cNvPr id="5" name="Check 1" descr="Check 1">    </p:cNvPr>
          <p:cNvPicPr>
            <a:picLocks noChangeAspect="1"/>
          </p:cNvPicPr>
          <p:nvPr/>
        </p:nvPicPr>
        <p:blipFill>
          <a:blip r:embed="rId1"/>
          <a:stretch>
            <a:fillRect/>
          </a:stretch>
        </p:blipFill>
        <p:spPr>
          <a:xfrm>
            <a:off x="777240" y="2011680"/>
            <a:ext cx="365760" cy="365760"/>
          </a:xfrm>
          <a:prstGeom prst="rect">
            <a:avLst/>
          </a:prstGeom>
        </p:spPr>
      </p:pic>
      <p:sp>
        <p:nvSpPr>
          <p:cNvPr id="6" name="Text"/>
          <p:cNvSpPr txBox="1"/>
          <p:nvPr/>
        </p:nvSpPr>
        <p:spPr>
          <a:xfrm>
            <a:off x="1371600" y="1965960"/>
            <a:ext cx="4206240" cy="822960"/>
          </a:xfrm>
          <a:prstGeom prst="rect">
            <a:avLst/>
          </a:prstGeom>
          <a:noFill/>
          <a:ln/>
        </p:spPr>
        <p:txBody>
          <a:bodyPr wrap="square" lIns="0" tIns="0" rIns="0" bIns="0" rtlCol="0" anchor="t"/>
          <a:lstStyle/>
          <a:p>
            <a:pPr indent="0" marL="0">
              <a:buNone/>
            </a:pPr>
            <a:r>
              <a:rPr lang="en-US" sz="1600" dirty="0">
                <a:solidFill>
                  <a:schemeClr val="tx1"/>
                </a:solidFill>
                <a:latin typeface="Outfit" pitchFamily="34" charset="0"/>
                <a:ea typeface="Outfit" pitchFamily="34" charset="-122"/>
                <a:cs typeface="Outfit" pitchFamily="34" charset="-120"/>
              </a:rPr>
              <a:t>The dealer registers the bike before it is sold</a:t>
            </a:r>
            <a:endParaRPr lang="en-US" sz="1600" dirty="0"/>
          </a:p>
        </p:txBody>
      </p:sp>
      <p:pic>
        <p:nvPicPr>
          <p:cNvPr id="7" name="Check 2" descr="Check 2">    </p:cNvPr>
          <p:cNvPicPr>
            <a:picLocks noChangeAspect="1"/>
          </p:cNvPicPr>
          <p:nvPr/>
        </p:nvPicPr>
        <p:blipFill>
          <a:blip r:embed="rId2"/>
          <a:stretch>
            <a:fillRect/>
          </a:stretch>
        </p:blipFill>
        <p:spPr>
          <a:xfrm>
            <a:off x="777240" y="3063240"/>
            <a:ext cx="365760" cy="365760"/>
          </a:xfrm>
          <a:prstGeom prst="rect">
            <a:avLst/>
          </a:prstGeom>
        </p:spPr>
      </p:pic>
      <p:sp>
        <p:nvSpPr>
          <p:cNvPr id="8" name="Text"/>
          <p:cNvSpPr txBox="1"/>
          <p:nvPr/>
        </p:nvSpPr>
        <p:spPr>
          <a:xfrm>
            <a:off x="1371600" y="3017520"/>
            <a:ext cx="4206240" cy="822960"/>
          </a:xfrm>
          <a:prstGeom prst="rect">
            <a:avLst/>
          </a:prstGeom>
          <a:noFill/>
          <a:ln/>
        </p:spPr>
        <p:txBody>
          <a:bodyPr wrap="square" lIns="0" tIns="0" rIns="0" bIns="0" rtlCol="0" anchor="t"/>
          <a:lstStyle/>
          <a:p>
            <a:pPr indent="0" marL="0">
              <a:buNone/>
            </a:pPr>
            <a:r>
              <a:rPr lang="en-US" sz="1600" dirty="0">
                <a:solidFill>
                  <a:schemeClr val="tx1"/>
                </a:solidFill>
                <a:latin typeface="Outfit" pitchFamily="34" charset="0"/>
                <a:ea typeface="Outfit" pitchFamily="34" charset="-122"/>
                <a:cs typeface="Outfit" pitchFamily="34" charset="-120"/>
              </a:rPr>
              <a:t>The plate carries the company logo and a QR code</a:t>
            </a:r>
            <a:endParaRPr lang="en-US" sz="1600" dirty="0"/>
          </a:p>
        </p:txBody>
      </p:sp>
      <p:pic>
        <p:nvPicPr>
          <p:cNvPr id="9" name="Check 3" descr="Check 3">    </p:cNvPr>
          <p:cNvPicPr>
            <a:picLocks noChangeAspect="1"/>
          </p:cNvPicPr>
          <p:nvPr/>
        </p:nvPicPr>
        <p:blipFill>
          <a:blip r:embed="rId3"/>
          <a:stretch>
            <a:fillRect/>
          </a:stretch>
        </p:blipFill>
        <p:spPr>
          <a:xfrm>
            <a:off x="777240" y="4114800"/>
            <a:ext cx="365760" cy="365760"/>
          </a:xfrm>
          <a:prstGeom prst="rect">
            <a:avLst/>
          </a:prstGeom>
        </p:spPr>
      </p:pic>
      <p:sp>
        <p:nvSpPr>
          <p:cNvPr id="10" name="Text"/>
          <p:cNvSpPr txBox="1"/>
          <p:nvPr/>
        </p:nvSpPr>
        <p:spPr>
          <a:xfrm>
            <a:off x="1371600" y="4069080"/>
            <a:ext cx="4206240" cy="822960"/>
          </a:xfrm>
          <a:prstGeom prst="rect">
            <a:avLst/>
          </a:prstGeom>
          <a:noFill/>
          <a:ln/>
        </p:spPr>
        <p:txBody>
          <a:bodyPr wrap="square" lIns="0" tIns="0" rIns="0" bIns="0" rtlCol="0" anchor="t"/>
          <a:lstStyle/>
          <a:p>
            <a:pPr indent="0" marL="0">
              <a:buNone/>
            </a:pPr>
            <a:r>
              <a:rPr lang="en-US" sz="1600" dirty="0">
                <a:solidFill>
                  <a:schemeClr val="tx1"/>
                </a:solidFill>
                <a:latin typeface="Outfit" pitchFamily="34" charset="0"/>
                <a:ea typeface="Outfit" pitchFamily="34" charset="-122"/>
                <a:cs typeface="Outfit" pitchFamily="34" charset="-120"/>
              </a:rPr>
              <a:t>Owner, dealer and company read the same record</a:t>
            </a:r>
            <a:endParaRPr lang="en-US" sz="1600" dirty="0"/>
          </a:p>
        </p:txBody>
      </p:sp>
      <p:pic>
        <p:nvPicPr>
          <p:cNvPr id="11" name="Plate tile" descr="Number plate with company logo and QR code">    </p:cNvPr>
          <p:cNvPicPr>
            <a:picLocks noChangeAspect="1"/>
          </p:cNvPicPr>
          <p:nvPr/>
        </p:nvPicPr>
        <p:blipFill>
          <a:blip r:embed="rId4"/>
          <a:stretch>
            <a:fillRect/>
          </a:stretch>
        </p:blipFill>
        <p:spPr>
          <a:xfrm>
            <a:off x="5989320" y="1783080"/>
            <a:ext cx="2651760" cy="3108960"/>
          </a:xfrm>
          <a:prstGeom prst="rect">
            <a:avLst/>
          </a:prstGeom>
        </p:spPr>
      </p:pic>
      <p:pic>
        <p:nvPicPr>
          <p:cNvPr id="12" name="Phone tile" descr="Owner warranty screen">    </p:cNvPr>
          <p:cNvPicPr>
            <a:picLocks noChangeAspect="1"/>
          </p:cNvPicPr>
          <p:nvPr/>
        </p:nvPicPr>
        <p:blipFill>
          <a:blip r:embed="rId5"/>
          <a:stretch>
            <a:fillRect/>
          </a:stretch>
        </p:blipFill>
        <p:spPr>
          <a:xfrm>
            <a:off x="8823960" y="1783080"/>
            <a:ext cx="2651760" cy="3108960"/>
          </a:xfrm>
          <a:prstGeom prst="rect">
            <a:avLst/>
          </a:prstGeom>
        </p:spPr>
      </p:pic>
      <p:sp>
        <p:nvSpPr>
          <p:cNvPr id="13" name="Callout"/>
          <p:cNvSpPr/>
          <p:nvPr/>
        </p:nvSpPr>
        <p:spPr>
          <a:xfrm>
            <a:off x="5989320" y="5120640"/>
            <a:ext cx="5486400" cy="548640"/>
          </a:xfrm>
          <a:prstGeom prst="roundRect">
            <a:avLst>
              <a:gd name="adj" fmla="val 33333"/>
            </a:avLst>
          </a:prstGeom>
          <a:solidFill>
            <a:schemeClr val="accent3"/>
          </a:solidFill>
          <a:ln/>
        </p:spPr>
      </p:sp>
      <p:sp>
        <p:nvSpPr>
          <p:cNvPr id="14" name="Text"/>
          <p:cNvSpPr txBox="1"/>
          <p:nvPr/>
        </p:nvSpPr>
        <p:spPr>
          <a:xfrm>
            <a:off x="5989320" y="5120640"/>
            <a:ext cx="548640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Scan the plate, see the whole bike</a:t>
            </a:r>
            <a:endParaRPr lang="en-US" sz="14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ill"/>
          <p:cNvSpPr/>
          <p:nvPr/>
        </p:nvSpPr>
        <p:spPr>
          <a:xfrm>
            <a:off x="5344668" y="502920"/>
            <a:ext cx="1499616" cy="274320"/>
          </a:xfrm>
          <a:prstGeom prst="roundRect">
            <a:avLst>
              <a:gd name="adj" fmla="val 50000"/>
            </a:avLst>
          </a:prstGeom>
          <a:solidFill>
            <a:schemeClr val="accent1"/>
          </a:solidFill>
          <a:ln/>
        </p:spPr>
      </p:sp>
      <p:sp>
        <p:nvSpPr>
          <p:cNvPr id="3" name="Tag: Who it&amp;apos;s for"/>
          <p:cNvSpPr txBox="1"/>
          <p:nvPr/>
        </p:nvSpPr>
        <p:spPr>
          <a:xfrm>
            <a:off x="5344668" y="502920"/>
            <a:ext cx="149961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WHO IT'S FOR</a:t>
            </a:r>
            <a:endParaRPr lang="en-US" sz="1000" dirty="0"/>
          </a:p>
        </p:txBody>
      </p:sp>
      <p:sp>
        <p:nvSpPr>
          <p:cNvPr id="4" name="Text 0"/>
          <p:cNvSpPr/>
          <p:nvPr>
            <p:ph idx="100" type="title" hasCustomPrompt="1"/>
          </p:nvPr>
        </p:nvSpPr>
        <p:spPr>
          <a:xfrm>
            <a:off x="777240" y="868680"/>
            <a:ext cx="10634472" cy="868680"/>
          </a:xfrm>
          <a:prstGeom prst="rect">
            <a:avLst/>
          </a:prstGeom>
          <a:noFill/>
          <a:ln/>
        </p:spPr>
        <p:txBody>
          <a:bodyPr wrap="square" lIns="0" tIns="0" rIns="0" bIns="0" rtlCol="0" anchor="t"/>
          <a:lstStyle/>
          <a:p>
            <a:pPr algn="ctr" indent="0" marL="0">
              <a:buNone/>
            </a:pPr>
            <a:r>
              <a:rPr lang="en-US" sz="3000" dirty="0">
                <a:solidFill>
                  <a:schemeClr val="tx1"/>
                </a:solidFill>
                <a:latin typeface="Outfit" pitchFamily="34" charset="0"/>
                <a:ea typeface="Outfit" pitchFamily="34" charset="-122"/>
                <a:cs typeface="Outfit" pitchFamily="34" charset="-120"/>
              </a:rPr>
              <a:t>Three users, one registry</a:t>
            </a:r>
            <a:endParaRPr lang="en-US" sz="3000" dirty="0"/>
          </a:p>
        </p:txBody>
      </p:sp>
      <p:sp>
        <p:nvSpPr>
          <p:cNvPr id="5" name="User card Company"/>
          <p:cNvSpPr/>
          <p:nvPr/>
        </p:nvSpPr>
        <p:spPr>
          <a:xfrm>
            <a:off x="950976" y="2011680"/>
            <a:ext cx="3246120" cy="2651760"/>
          </a:xfrm>
          <a:prstGeom prst="roundRect">
            <a:avLst>
              <a:gd name="adj" fmla="val 6897"/>
            </a:avLst>
          </a:prstGeom>
          <a:solidFill>
            <a:schemeClr val="accent3"/>
          </a:solidFill>
          <a:ln/>
        </p:spPr>
      </p:sp>
      <p:sp>
        <p:nvSpPr>
          <p:cNvPr id="6" name="Icon disc Company"/>
          <p:cNvSpPr/>
          <p:nvPr/>
        </p:nvSpPr>
        <p:spPr>
          <a:xfrm>
            <a:off x="2208276" y="2286000"/>
            <a:ext cx="731520" cy="731520"/>
          </a:xfrm>
          <a:prstGeom prst="ellipse">
            <a:avLst/>
          </a:prstGeom>
          <a:solidFill>
            <a:schemeClr val="accent1"/>
          </a:solidFill>
          <a:ln/>
        </p:spPr>
      </p:sp>
      <p:pic>
        <p:nvPicPr>
          <p:cNvPr id="7" name="Icon: Company" descr="Icon: Company">    </p:cNvPr>
          <p:cNvPicPr>
            <a:picLocks noChangeAspect="1"/>
          </p:cNvPicPr>
          <p:nvPr/>
        </p:nvPicPr>
        <p:blipFill>
          <a:blip r:embed="rId1"/>
          <a:stretch>
            <a:fillRect/>
          </a:stretch>
        </p:blipFill>
        <p:spPr>
          <a:xfrm>
            <a:off x="2372868" y="2450592"/>
            <a:ext cx="402336" cy="402336"/>
          </a:xfrm>
          <a:prstGeom prst="rect">
            <a:avLst/>
          </a:prstGeom>
        </p:spPr>
      </p:pic>
      <p:sp>
        <p:nvSpPr>
          <p:cNvPr id="8" name="Text"/>
          <p:cNvSpPr txBox="1"/>
          <p:nvPr/>
        </p:nvSpPr>
        <p:spPr>
          <a:xfrm>
            <a:off x="1225296" y="3200400"/>
            <a:ext cx="269748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Outfit" pitchFamily="34" charset="0"/>
                <a:ea typeface="Outfit" pitchFamily="34" charset="-122"/>
                <a:cs typeface="Outfit" pitchFamily="34" charset="-120"/>
              </a:rPr>
              <a:t>Company</a:t>
            </a:r>
            <a:endParaRPr lang="en-US" sz="1800" dirty="0"/>
          </a:p>
        </p:txBody>
      </p:sp>
      <p:sp>
        <p:nvSpPr>
          <p:cNvPr id="9" name="Text"/>
          <p:cNvSpPr txBox="1"/>
          <p:nvPr/>
        </p:nvSpPr>
        <p:spPr>
          <a:xfrm>
            <a:off x="1271016" y="3611880"/>
            <a:ext cx="2606040" cy="914400"/>
          </a:xfrm>
          <a:prstGeom prst="rect">
            <a:avLst/>
          </a:prstGeom>
          <a:noFill/>
          <a:ln/>
        </p:spPr>
        <p:txBody>
          <a:bodyPr wrap="square" lIns="0" tIns="0" rIns="0" bIns="0" rtlCol="0" anchor="t"/>
          <a:lstStyle/>
          <a:p>
            <a:pPr algn="ctr" indent="0" marL="0">
              <a:buNone/>
            </a:pPr>
            <a:r>
              <a:rPr lang="en-US" sz="1300" dirty="0">
                <a:solidFill>
                  <a:schemeClr val="accent6"/>
                </a:solidFill>
                <a:latin typeface="Outfit" pitchFamily="34" charset="0"/>
                <a:ea typeface="Outfit" pitchFamily="34" charset="-122"/>
                <a:cs typeface="Outfit" pitchFamily="34" charset="-120"/>
              </a:rPr>
              <a:t>Live map, area report and every warranty on record. Desktop first.</a:t>
            </a:r>
            <a:endParaRPr lang="en-US" sz="1300" dirty="0"/>
          </a:p>
        </p:txBody>
      </p:sp>
      <p:sp>
        <p:nvSpPr>
          <p:cNvPr id="10" name="User card Dealer"/>
          <p:cNvSpPr/>
          <p:nvPr/>
        </p:nvSpPr>
        <p:spPr>
          <a:xfrm>
            <a:off x="4471416" y="2011680"/>
            <a:ext cx="3246120" cy="2651760"/>
          </a:xfrm>
          <a:prstGeom prst="roundRect">
            <a:avLst>
              <a:gd name="adj" fmla="val 6897"/>
            </a:avLst>
          </a:prstGeom>
          <a:solidFill>
            <a:schemeClr val="accent3"/>
          </a:solidFill>
          <a:ln/>
        </p:spPr>
      </p:sp>
      <p:sp>
        <p:nvSpPr>
          <p:cNvPr id="11" name="Icon disc Dealer"/>
          <p:cNvSpPr/>
          <p:nvPr/>
        </p:nvSpPr>
        <p:spPr>
          <a:xfrm>
            <a:off x="5728716" y="2286000"/>
            <a:ext cx="731520" cy="731520"/>
          </a:xfrm>
          <a:prstGeom prst="ellipse">
            <a:avLst/>
          </a:prstGeom>
          <a:solidFill>
            <a:schemeClr val="accent1"/>
          </a:solidFill>
          <a:ln/>
        </p:spPr>
      </p:sp>
      <p:pic>
        <p:nvPicPr>
          <p:cNvPr id="12" name="Icon: Dealer" descr="Icon: Dealer">    </p:cNvPr>
          <p:cNvPicPr>
            <a:picLocks noChangeAspect="1"/>
          </p:cNvPicPr>
          <p:nvPr/>
        </p:nvPicPr>
        <p:blipFill>
          <a:blip r:embed="rId2"/>
          <a:stretch>
            <a:fillRect/>
          </a:stretch>
        </p:blipFill>
        <p:spPr>
          <a:xfrm>
            <a:off x="5893308" y="2450592"/>
            <a:ext cx="402336" cy="402336"/>
          </a:xfrm>
          <a:prstGeom prst="rect">
            <a:avLst/>
          </a:prstGeom>
        </p:spPr>
      </p:pic>
      <p:sp>
        <p:nvSpPr>
          <p:cNvPr id="13" name="Text"/>
          <p:cNvSpPr txBox="1"/>
          <p:nvPr/>
        </p:nvSpPr>
        <p:spPr>
          <a:xfrm>
            <a:off x="4745736" y="3200400"/>
            <a:ext cx="269748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Outfit" pitchFamily="34" charset="0"/>
                <a:ea typeface="Outfit" pitchFamily="34" charset="-122"/>
                <a:cs typeface="Outfit" pitchFamily="34" charset="-120"/>
              </a:rPr>
              <a:t>Dealer</a:t>
            </a:r>
            <a:endParaRPr lang="en-US" sz="1800" dirty="0"/>
          </a:p>
        </p:txBody>
      </p:sp>
      <p:sp>
        <p:nvSpPr>
          <p:cNvPr id="14" name="Text"/>
          <p:cNvSpPr txBox="1"/>
          <p:nvPr/>
        </p:nvSpPr>
        <p:spPr>
          <a:xfrm>
            <a:off x="4791456" y="3611880"/>
            <a:ext cx="2606040" cy="914400"/>
          </a:xfrm>
          <a:prstGeom prst="rect">
            <a:avLst/>
          </a:prstGeom>
          <a:noFill/>
          <a:ln/>
        </p:spPr>
        <p:txBody>
          <a:bodyPr wrap="square" lIns="0" tIns="0" rIns="0" bIns="0" rtlCol="0" anchor="t"/>
          <a:lstStyle/>
          <a:p>
            <a:pPr algn="ctr" indent="0" marL="0">
              <a:buNone/>
            </a:pPr>
            <a:r>
              <a:rPr lang="en-US" sz="1300" dirty="0">
                <a:solidFill>
                  <a:schemeClr val="accent6"/>
                </a:solidFill>
                <a:latin typeface="Outfit" pitchFamily="34" charset="0"/>
                <a:ea typeface="Outfit" pitchFamily="34" charset="-122"/>
                <a:cs typeface="Outfit" pitchFamily="34" charset="-120"/>
              </a:rPr>
              <a:t>Register before selling, scan the plate, log part swaps. Phone and tablet.</a:t>
            </a:r>
            <a:endParaRPr lang="en-US" sz="1300" dirty="0"/>
          </a:p>
        </p:txBody>
      </p:sp>
      <p:sp>
        <p:nvSpPr>
          <p:cNvPr id="15" name="User card Vehicle owner"/>
          <p:cNvSpPr/>
          <p:nvPr/>
        </p:nvSpPr>
        <p:spPr>
          <a:xfrm>
            <a:off x="7991856" y="2011680"/>
            <a:ext cx="3246120" cy="2651760"/>
          </a:xfrm>
          <a:prstGeom prst="roundRect">
            <a:avLst>
              <a:gd name="adj" fmla="val 6897"/>
            </a:avLst>
          </a:prstGeom>
          <a:solidFill>
            <a:schemeClr val="accent3"/>
          </a:solidFill>
          <a:ln/>
        </p:spPr>
      </p:sp>
      <p:sp>
        <p:nvSpPr>
          <p:cNvPr id="16" name="Icon disc Vehicle owner"/>
          <p:cNvSpPr/>
          <p:nvPr/>
        </p:nvSpPr>
        <p:spPr>
          <a:xfrm>
            <a:off x="9249156" y="2286000"/>
            <a:ext cx="731520" cy="731520"/>
          </a:xfrm>
          <a:prstGeom prst="ellipse">
            <a:avLst/>
          </a:prstGeom>
          <a:solidFill>
            <a:schemeClr val="accent1"/>
          </a:solidFill>
          <a:ln/>
        </p:spPr>
      </p:sp>
      <p:pic>
        <p:nvPicPr>
          <p:cNvPr id="17" name="Icon: Vehicle owner" descr="Icon: Vehicle owner">    </p:cNvPr>
          <p:cNvPicPr>
            <a:picLocks noChangeAspect="1"/>
          </p:cNvPicPr>
          <p:nvPr/>
        </p:nvPicPr>
        <p:blipFill>
          <a:blip r:embed="rId3"/>
          <a:stretch>
            <a:fillRect/>
          </a:stretch>
        </p:blipFill>
        <p:spPr>
          <a:xfrm>
            <a:off x="9413748" y="2450592"/>
            <a:ext cx="402336" cy="402336"/>
          </a:xfrm>
          <a:prstGeom prst="rect">
            <a:avLst/>
          </a:prstGeom>
        </p:spPr>
      </p:pic>
      <p:sp>
        <p:nvSpPr>
          <p:cNvPr id="18" name="Text"/>
          <p:cNvSpPr txBox="1"/>
          <p:nvPr/>
        </p:nvSpPr>
        <p:spPr>
          <a:xfrm>
            <a:off x="8266176" y="3200400"/>
            <a:ext cx="269748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Outfit" pitchFamily="34" charset="0"/>
                <a:ea typeface="Outfit" pitchFamily="34" charset="-122"/>
                <a:cs typeface="Outfit" pitchFamily="34" charset="-120"/>
              </a:rPr>
              <a:t>Vehicle owner</a:t>
            </a:r>
            <a:endParaRPr lang="en-US" sz="1800" dirty="0"/>
          </a:p>
        </p:txBody>
      </p:sp>
      <p:sp>
        <p:nvSpPr>
          <p:cNvPr id="19" name="Text"/>
          <p:cNvSpPr txBox="1"/>
          <p:nvPr/>
        </p:nvSpPr>
        <p:spPr>
          <a:xfrm>
            <a:off x="8311896" y="3611880"/>
            <a:ext cx="2606040" cy="914400"/>
          </a:xfrm>
          <a:prstGeom prst="rect">
            <a:avLst/>
          </a:prstGeom>
          <a:noFill/>
          <a:ln/>
        </p:spPr>
        <p:txBody>
          <a:bodyPr wrap="square" lIns="0" tIns="0" rIns="0" bIns="0" rtlCol="0" anchor="t"/>
          <a:lstStyle/>
          <a:p>
            <a:pPr algn="ctr" indent="0" marL="0">
              <a:buNone/>
            </a:pPr>
            <a:r>
              <a:rPr lang="en-US" sz="1300" dirty="0">
                <a:solidFill>
                  <a:schemeClr val="accent6"/>
                </a:solidFill>
                <a:latin typeface="Outfit" pitchFamily="34" charset="0"/>
                <a:ea typeface="Outfit" pitchFamily="34" charset="-122"/>
                <a:cs typeface="Outfit" pitchFamily="34" charset="-120"/>
              </a:rPr>
              <a:t>Registration period, warranty per part and parts history. On the phone.</a:t>
            </a:r>
            <a:endParaRPr lang="en-US" sz="1300" dirty="0"/>
          </a:p>
        </p:txBody>
      </p:sp>
      <p:sp>
        <p:nvSpPr>
          <p:cNvPr id="20" name="Text"/>
          <p:cNvSpPr txBox="1"/>
          <p:nvPr/>
        </p:nvSpPr>
        <p:spPr>
          <a:xfrm>
            <a:off x="777240" y="5120640"/>
            <a:ext cx="10634472" cy="36576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Built for the control room, the shop counter and the owner's pocket</a:t>
            </a:r>
            <a:endParaRPr lang="en-US" sz="14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ill"/>
          <p:cNvSpPr/>
          <p:nvPr/>
        </p:nvSpPr>
        <p:spPr>
          <a:xfrm>
            <a:off x="777240" y="502920"/>
            <a:ext cx="1065276" cy="274320"/>
          </a:xfrm>
          <a:prstGeom prst="roundRect">
            <a:avLst>
              <a:gd name="adj" fmla="val 50000"/>
            </a:avLst>
          </a:prstGeom>
          <a:solidFill>
            <a:schemeClr val="accent1"/>
          </a:solidFill>
          <a:ln/>
        </p:spPr>
      </p:sp>
      <p:sp>
        <p:nvSpPr>
          <p:cNvPr id="3" name="Tag: Company"/>
          <p:cNvSpPr txBox="1"/>
          <p:nvPr/>
        </p:nvSpPr>
        <p:spPr>
          <a:xfrm>
            <a:off x="777240" y="502920"/>
            <a:ext cx="106527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COMPANY</a:t>
            </a:r>
            <a:endParaRPr lang="en-US" sz="1000" dirty="0"/>
          </a:p>
        </p:txBody>
      </p:sp>
      <p:sp>
        <p:nvSpPr>
          <p:cNvPr id="4" name="Text 0"/>
          <p:cNvSpPr/>
          <p:nvPr>
            <p:ph idx="100" type="title" hasCustomPrompt="1"/>
          </p:nvPr>
        </p:nvSpPr>
        <p:spPr>
          <a:xfrm>
            <a:off x="777240" y="868680"/>
            <a:ext cx="10607040" cy="868680"/>
          </a:xfrm>
          <a:prstGeom prst="rect">
            <a:avLst/>
          </a:prstGeom>
          <a:noFill/>
          <a:ln/>
        </p:spPr>
        <p:txBody>
          <a:bodyPr wrap="square" lIns="0" tIns="0" rIns="0" bIns="0" rtlCol="0" anchor="t"/>
          <a:lstStyle/>
          <a:p>
            <a:pPr algn="l" indent="0" marL="0">
              <a:buNone/>
            </a:pPr>
            <a:r>
              <a:rPr lang="en-US" sz="3000" dirty="0">
                <a:solidFill>
                  <a:schemeClr val="bg1"/>
                </a:solidFill>
                <a:latin typeface="Outfit" pitchFamily="34" charset="0"/>
                <a:ea typeface="Outfit" pitchFamily="34" charset="-122"/>
                <a:cs typeface="Outfit" pitchFamily="34" charset="-120"/>
              </a:rPr>
              <a:t>Registrations by state, as they happen</a:t>
            </a:r>
            <a:endParaRPr lang="en-US" sz="3000" dirty="0"/>
          </a:p>
        </p:txBody>
      </p:sp>
      <p:sp>
        <p:nvSpPr>
          <p:cNvPr id="5" name="Text"/>
          <p:cNvSpPr txBox="1"/>
          <p:nvPr/>
        </p:nvSpPr>
        <p:spPr>
          <a:xfrm>
            <a:off x="777240" y="1920240"/>
            <a:ext cx="4206240" cy="1097280"/>
          </a:xfrm>
          <a:prstGeom prst="rect">
            <a:avLst/>
          </a:prstGeom>
          <a:noFill/>
          <a:ln/>
        </p:spPr>
        <p:txBody>
          <a:bodyPr wrap="square" lIns="0" tIns="0" rIns="0" bIns="0" rtlCol="0" anchor="t"/>
          <a:lstStyle/>
          <a:p>
            <a:pPr indent="0" marL="0">
              <a:buNone/>
            </a:pPr>
            <a:r>
              <a:rPr lang="en-US" sz="1500" dirty="0">
                <a:solidFill>
                  <a:schemeClr val="accent5"/>
                </a:solidFill>
                <a:latin typeface="Outfit" pitchFamily="34" charset="0"/>
                <a:ea typeface="Outfit" pitchFamily="34" charset="-122"/>
                <a:cs typeface="Outfit" pitchFamily="34" charset="-120"/>
              </a:rPr>
              <a:t>Every state and union territory, with its districts underneath. Totals move as dealers register bikes.</a:t>
            </a:r>
            <a:endParaRPr lang="en-US" sz="1500" dirty="0"/>
          </a:p>
        </p:txBody>
      </p:sp>
      <p:sp>
        <p:nvSpPr>
          <p:cNvPr id="6" name="Text"/>
          <p:cNvSpPr txBox="1"/>
          <p:nvPr/>
        </p:nvSpPr>
        <p:spPr>
          <a:xfrm>
            <a:off x="777240" y="3931920"/>
            <a:ext cx="36576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Outfit" pitchFamily="34" charset="0"/>
                <a:ea typeface="Outfit" pitchFamily="34" charset="-122"/>
                <a:cs typeface="Outfit" pitchFamily="34" charset="-120"/>
              </a:rPr>
              <a:t>REGISTERED IN THE DEMO</a:t>
            </a:r>
            <a:endParaRPr lang="en-US" sz="1000" dirty="0"/>
          </a:p>
        </p:txBody>
      </p:sp>
      <p:sp>
        <p:nvSpPr>
          <p:cNvPr id="7" name="Text"/>
          <p:cNvSpPr txBox="1"/>
          <p:nvPr/>
        </p:nvSpPr>
        <p:spPr>
          <a:xfrm>
            <a:off x="777240" y="4206240"/>
            <a:ext cx="4206240" cy="822960"/>
          </a:xfrm>
          <a:prstGeom prst="rect">
            <a:avLst/>
          </a:prstGeom>
          <a:noFill/>
          <a:ln/>
        </p:spPr>
        <p:txBody>
          <a:bodyPr wrap="square" lIns="0" tIns="0" rIns="0" bIns="0" rtlCol="0" anchor="t"/>
          <a:lstStyle/>
          <a:p>
            <a:pPr indent="0" marL="0">
              <a:buNone/>
            </a:pPr>
            <a:r>
              <a:rPr lang="en-US" sz="4400" b="1" dirty="0">
                <a:solidFill>
                  <a:schemeClr val="bg1"/>
                </a:solidFill>
                <a:latin typeface="Outfit" pitchFamily="34" charset="0"/>
                <a:ea typeface="Outfit" pitchFamily="34" charset="-122"/>
                <a:cs typeface="Outfit" pitchFamily="34" charset="-120"/>
              </a:rPr>
              <a:t>1,48,000+</a:t>
            </a:r>
            <a:endParaRPr lang="en-US" sz="4400" dirty="0"/>
          </a:p>
        </p:txBody>
      </p:sp>
      <p:sp>
        <p:nvSpPr>
          <p:cNvPr id="8" name="Sample badge"/>
          <p:cNvSpPr/>
          <p:nvPr/>
        </p:nvSpPr>
        <p:spPr>
          <a:xfrm>
            <a:off x="777240" y="5120640"/>
            <a:ext cx="1325880" cy="274320"/>
          </a:xfrm>
          <a:prstGeom prst="roundRect">
            <a:avLst>
              <a:gd name="adj" fmla="val 50000"/>
            </a:avLst>
          </a:prstGeom>
          <a:solidFill>
            <a:schemeClr val="accent4"/>
          </a:solidFill>
          <a:ln/>
        </p:spPr>
      </p:sp>
      <p:sp>
        <p:nvSpPr>
          <p:cNvPr id="9" name="Text"/>
          <p:cNvSpPr txBox="1"/>
          <p:nvPr/>
        </p:nvSpPr>
        <p:spPr>
          <a:xfrm>
            <a:off x="777240" y="5120640"/>
            <a:ext cx="132588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latin typeface="Outfit" pitchFamily="34" charset="0"/>
                <a:ea typeface="Outfit" pitchFamily="34" charset="-122"/>
                <a:cs typeface="Outfit" pitchFamily="34" charset="-120"/>
              </a:rPr>
              <a:t>SAMPLE DATA</a:t>
            </a:r>
            <a:endParaRPr lang="en-US" sz="1000" dirty="0"/>
          </a:p>
        </p:txBody>
      </p:sp>
      <p:sp>
        <p:nvSpPr>
          <p:cNvPr id="10" name="Text"/>
          <p:cNvSpPr txBox="1"/>
          <p:nvPr/>
        </p:nvSpPr>
        <p:spPr>
          <a:xfrm>
            <a:off x="5852160" y="1783080"/>
            <a:ext cx="5486400" cy="274320"/>
          </a:xfrm>
          <a:prstGeom prst="rect">
            <a:avLst/>
          </a:prstGeom>
          <a:noFill/>
          <a:ln/>
        </p:spPr>
        <p:txBody>
          <a:bodyPr wrap="square" lIns="0" tIns="0" rIns="0" bIns="0" rtlCol="0" anchor="t"/>
          <a:lstStyle/>
          <a:p>
            <a:pPr indent="0" marL="0">
              <a:buNone/>
            </a:pPr>
            <a:r>
              <a:rPr lang="en-US" sz="1200" dirty="0">
                <a:solidFill>
                  <a:schemeClr val="accent5"/>
                </a:solidFill>
                <a:latin typeface="Outfit" pitchFamily="34" charset="0"/>
                <a:ea typeface="Outfit" pitchFamily="34" charset="-122"/>
                <a:cs typeface="Outfit" pitchFamily="34" charset="-120"/>
              </a:rPr>
              <a:t>Top five states in the demo</a:t>
            </a:r>
            <a:endParaRPr lang="en-US" sz="1200" dirty="0"/>
          </a:p>
        </p:txBody>
      </p:sp>
      <p:graphicFrame>
        <p:nvGraphicFramePr>
          <p:cNvPr id="11" name="Chart 0" descr=""/>
          <p:cNvGraphicFramePr/>
          <p:nvPr/>
        </p:nvGraphicFramePr>
        <p:xfrm>
          <a:off x="5760720" y="210312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Outfit"/>
                <a:ea typeface="Outfit"/>
                <a:cs typeface="Outfi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pill"/>
          <p:cNvSpPr/>
          <p:nvPr/>
        </p:nvSpPr>
        <p:spPr>
          <a:xfrm>
            <a:off x="777240" y="502920"/>
            <a:ext cx="1065276" cy="274320"/>
          </a:xfrm>
          <a:prstGeom prst="roundRect">
            <a:avLst>
              <a:gd name="adj" fmla="val 50000"/>
            </a:avLst>
          </a:prstGeom>
          <a:solidFill>
            <a:schemeClr val="accent1"/>
          </a:solidFill>
          <a:ln/>
        </p:spPr>
      </p:sp>
      <p:sp>
        <p:nvSpPr>
          <p:cNvPr id="3" name="Tag: Company"/>
          <p:cNvSpPr txBox="1"/>
          <p:nvPr/>
        </p:nvSpPr>
        <p:spPr>
          <a:xfrm>
            <a:off x="777240" y="502920"/>
            <a:ext cx="106527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COMPANY</a:t>
            </a:r>
            <a:endParaRPr lang="en-US" sz="1000" dirty="0"/>
          </a:p>
        </p:txBody>
      </p:sp>
      <p:sp>
        <p:nvSpPr>
          <p:cNvPr id="4" name="Text 0"/>
          <p:cNvSpPr/>
          <p:nvPr>
            <p:ph idx="100" type="title" hasCustomPrompt="1"/>
          </p:nvPr>
        </p:nvSpPr>
        <p:spPr>
          <a:xfrm>
            <a:off x="777240" y="868680"/>
            <a:ext cx="10607040" cy="868680"/>
          </a:xfrm>
          <a:prstGeom prst="rect">
            <a:avLst/>
          </a:prstGeom>
          <a:noFill/>
          <a:ln/>
        </p:spPr>
        <p:txBody>
          <a:bodyPr wrap="square" lIns="0" tIns="0" rIns="0" bIns="0" rtlCol="0" anchor="t"/>
          <a:lstStyle/>
          <a:p>
            <a:pPr algn="l" indent="0" marL="0">
              <a:buNone/>
            </a:pPr>
            <a:r>
              <a:rPr lang="en-US" sz="3000" dirty="0">
                <a:solidFill>
                  <a:schemeClr val="tx1"/>
                </a:solidFill>
                <a:latin typeface="Outfit" pitchFamily="34" charset="0"/>
                <a:ea typeface="Outfit" pitchFamily="34" charset="-122"/>
                <a:cs typeface="Outfit" pitchFamily="34" charset="-120"/>
              </a:rPr>
              <a:t>Every district on one live map</a:t>
            </a:r>
            <a:endParaRPr lang="en-US" sz="3000" dirty="0"/>
          </a:p>
        </p:txBody>
      </p:sp>
      <p:sp>
        <p:nvSpPr>
          <p:cNvPr id="5" name="Text"/>
          <p:cNvSpPr txBox="1"/>
          <p:nvPr/>
        </p:nvSpPr>
        <p:spPr>
          <a:xfrm>
            <a:off x="777240" y="1920240"/>
            <a:ext cx="3931920" cy="1463040"/>
          </a:xfrm>
          <a:prstGeom prst="rect">
            <a:avLst/>
          </a:prstGeom>
          <a:noFill/>
          <a:ln/>
        </p:spPr>
        <p:txBody>
          <a:bodyPr wrap="square" lIns="0" tIns="0" rIns="0" bIns="0" rtlCol="0" anchor="t"/>
          <a:lstStyle/>
          <a:p>
            <a:pPr indent="0" marL="0">
              <a:buNone/>
            </a:pPr>
            <a:r>
              <a:rPr lang="en-US" sz="1500" dirty="0">
                <a:solidFill>
                  <a:schemeClr val="accent6"/>
                </a:solidFill>
                <a:latin typeface="Outfit" pitchFamily="34" charset="0"/>
                <a:ea typeface="Outfit" pitchFamily="34" charset="-122"/>
                <a:cs typeface="Outfit" pitchFamily="34" charset="-120"/>
              </a:rPr>
              <a:t>One circle per district. A deeper shade means more registrations. Click a state to zoom in, and watch new bikes pulse onto the map.</a:t>
            </a:r>
            <a:endParaRPr lang="en-US" sz="1500" dirty="0"/>
          </a:p>
        </p:txBody>
      </p:sp>
      <p:sp>
        <p:nvSpPr>
          <p:cNvPr id="6" name="Text"/>
          <p:cNvSpPr txBox="1"/>
          <p:nvPr/>
        </p:nvSpPr>
        <p:spPr>
          <a:xfrm>
            <a:off x="777240" y="3657600"/>
            <a:ext cx="1828800" cy="731520"/>
          </a:xfrm>
          <a:prstGeom prst="rect">
            <a:avLst/>
          </a:prstGeom>
          <a:noFill/>
          <a:ln/>
        </p:spPr>
        <p:txBody>
          <a:bodyPr wrap="square" lIns="0" tIns="0" rIns="0" bIns="0" rtlCol="0" anchor="t"/>
          <a:lstStyle/>
          <a:p>
            <a:pPr indent="0" marL="0">
              <a:buNone/>
            </a:pPr>
            <a:r>
              <a:rPr lang="en-US" sz="4400" b="1" dirty="0">
                <a:solidFill>
                  <a:schemeClr val="tx1"/>
                </a:solidFill>
                <a:latin typeface="Outfit" pitchFamily="34" charset="0"/>
                <a:ea typeface="Outfit" pitchFamily="34" charset="-122"/>
                <a:cs typeface="Outfit" pitchFamily="34" charset="-120"/>
              </a:rPr>
              <a:t>36</a:t>
            </a:r>
            <a:endParaRPr lang="en-US" sz="4400" dirty="0"/>
          </a:p>
        </p:txBody>
      </p:sp>
      <p:sp>
        <p:nvSpPr>
          <p:cNvPr id="7" name="Text"/>
          <p:cNvSpPr txBox="1"/>
          <p:nvPr/>
        </p:nvSpPr>
        <p:spPr>
          <a:xfrm>
            <a:off x="777240" y="4389120"/>
            <a:ext cx="1828800" cy="548640"/>
          </a:xfrm>
          <a:prstGeom prst="rect">
            <a:avLst/>
          </a:prstGeom>
          <a:noFill/>
          <a:ln/>
        </p:spPr>
        <p:txBody>
          <a:bodyPr wrap="square" lIns="0" tIns="0" rIns="0" bIns="0" rtlCol="0" anchor="t"/>
          <a:lstStyle/>
          <a:p>
            <a:pPr indent="0" marL="0">
              <a:buNone/>
            </a:pPr>
            <a:r>
              <a:rPr lang="en-US" sz="1200" dirty="0">
                <a:solidFill>
                  <a:schemeClr val="accent6"/>
                </a:solidFill>
                <a:latin typeface="Outfit" pitchFamily="34" charset="0"/>
                <a:ea typeface="Outfit" pitchFamily="34" charset="-122"/>
                <a:cs typeface="Outfit" pitchFamily="34" charset="-120"/>
              </a:rPr>
              <a:t>states and union territories</a:t>
            </a:r>
            <a:endParaRPr lang="en-US" sz="1200" dirty="0"/>
          </a:p>
        </p:txBody>
      </p:sp>
      <p:sp>
        <p:nvSpPr>
          <p:cNvPr id="8" name="Text"/>
          <p:cNvSpPr txBox="1"/>
          <p:nvPr/>
        </p:nvSpPr>
        <p:spPr>
          <a:xfrm>
            <a:off x="2880360" y="3657600"/>
            <a:ext cx="1828800" cy="731520"/>
          </a:xfrm>
          <a:prstGeom prst="rect">
            <a:avLst/>
          </a:prstGeom>
          <a:noFill/>
          <a:ln/>
        </p:spPr>
        <p:txBody>
          <a:bodyPr wrap="square" lIns="0" tIns="0" rIns="0" bIns="0" rtlCol="0" anchor="t"/>
          <a:lstStyle/>
          <a:p>
            <a:pPr indent="0" marL="0">
              <a:buNone/>
            </a:pPr>
            <a:r>
              <a:rPr lang="en-US" sz="4400" b="1" dirty="0">
                <a:solidFill>
                  <a:schemeClr val="tx1"/>
                </a:solidFill>
                <a:latin typeface="Outfit" pitchFamily="34" charset="0"/>
                <a:ea typeface="Outfit" pitchFamily="34" charset="-122"/>
                <a:cs typeface="Outfit" pitchFamily="34" charset="-120"/>
              </a:rPr>
              <a:t>726</a:t>
            </a:r>
            <a:endParaRPr lang="en-US" sz="4400" dirty="0"/>
          </a:p>
        </p:txBody>
      </p:sp>
      <p:sp>
        <p:nvSpPr>
          <p:cNvPr id="9" name="Text"/>
          <p:cNvSpPr txBox="1"/>
          <p:nvPr/>
        </p:nvSpPr>
        <p:spPr>
          <a:xfrm>
            <a:off x="2880360" y="4389120"/>
            <a:ext cx="1828800" cy="548640"/>
          </a:xfrm>
          <a:prstGeom prst="rect">
            <a:avLst/>
          </a:prstGeom>
          <a:noFill/>
          <a:ln/>
        </p:spPr>
        <p:txBody>
          <a:bodyPr wrap="square" lIns="0" tIns="0" rIns="0" bIns="0" rtlCol="0" anchor="t"/>
          <a:lstStyle/>
          <a:p>
            <a:pPr indent="0" marL="0">
              <a:buNone/>
            </a:pPr>
            <a:r>
              <a:rPr lang="en-US" sz="1200" dirty="0">
                <a:solidFill>
                  <a:schemeClr val="accent6"/>
                </a:solidFill>
                <a:latin typeface="Outfit" pitchFamily="34" charset="0"/>
                <a:ea typeface="Outfit" pitchFamily="34" charset="-122"/>
                <a:cs typeface="Outfit" pitchFamily="34" charset="-120"/>
              </a:rPr>
              <a:t>districts, one circle each</a:t>
            </a:r>
            <a:endParaRPr lang="en-US" sz="1200" dirty="0"/>
          </a:p>
        </p:txBody>
      </p:sp>
      <p:sp>
        <p:nvSpPr>
          <p:cNvPr id="10" name="Image panel"/>
          <p:cNvSpPr/>
          <p:nvPr/>
        </p:nvSpPr>
        <p:spPr>
          <a:xfrm>
            <a:off x="5262866" y="1508760"/>
            <a:ext cx="6331726" cy="4937760"/>
          </a:xfrm>
          <a:prstGeom prst="roundRect">
            <a:avLst>
              <a:gd name="adj" fmla="val 4630"/>
            </a:avLst>
          </a:prstGeom>
          <a:solidFill>
            <a:schemeClr val="accent3"/>
          </a:solidFill>
          <a:ln/>
        </p:spPr>
      </p:sp>
      <p:pic>
        <p:nvPicPr>
          <p:cNvPr id="11" name="India map" descr="India map with one circle per district; deeper shade means more registrations">    </p:cNvPr>
          <p:cNvPicPr>
            <a:picLocks noChangeAspect="1"/>
          </p:cNvPicPr>
          <p:nvPr/>
        </p:nvPicPr>
        <p:blipFill>
          <a:blip r:embed="rId1"/>
          <a:stretch>
            <a:fillRect/>
          </a:stretch>
        </p:blipFill>
        <p:spPr>
          <a:xfrm>
            <a:off x="5445746" y="1691640"/>
            <a:ext cx="3737693" cy="4572000"/>
          </a:xfrm>
          <a:prstGeom prst="rect">
            <a:avLst/>
          </a:prstGeom>
        </p:spPr>
      </p:pic>
      <p:pic>
        <p:nvPicPr>
          <p:cNvPr id="12" name="Top states and live feed" descr="Top states ranking and live feed">    </p:cNvPr>
          <p:cNvPicPr>
            <a:picLocks noChangeAspect="1"/>
          </p:cNvPicPr>
          <p:nvPr/>
        </p:nvPicPr>
        <p:blipFill>
          <a:blip r:embed="rId2"/>
          <a:stretch>
            <a:fillRect/>
          </a:stretch>
        </p:blipFill>
        <p:spPr>
          <a:xfrm>
            <a:off x="9412039" y="1691640"/>
            <a:ext cx="1999673" cy="4572000"/>
          </a:xfrm>
          <a:prstGeom prst="rect">
            <a:avLst/>
          </a:prstGeom>
        </p:spPr>
      </p:pic>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ill"/>
          <p:cNvSpPr/>
          <p:nvPr/>
        </p:nvSpPr>
        <p:spPr>
          <a:xfrm>
            <a:off x="777240" y="502920"/>
            <a:ext cx="1152144" cy="274320"/>
          </a:xfrm>
          <a:prstGeom prst="roundRect">
            <a:avLst>
              <a:gd name="adj" fmla="val 50000"/>
            </a:avLst>
          </a:prstGeom>
          <a:solidFill>
            <a:schemeClr val="accent1"/>
          </a:solidFill>
          <a:ln/>
        </p:spPr>
      </p:sp>
      <p:sp>
        <p:nvSpPr>
          <p:cNvPr id="3" name="Tag: Warranty"/>
          <p:cNvSpPr txBox="1"/>
          <p:nvPr/>
        </p:nvSpPr>
        <p:spPr>
          <a:xfrm>
            <a:off x="777240" y="502920"/>
            <a:ext cx="1152144"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WARRANTY</a:t>
            </a:r>
            <a:endParaRPr lang="en-US" sz="1000" dirty="0"/>
          </a:p>
        </p:txBody>
      </p:sp>
      <p:sp>
        <p:nvSpPr>
          <p:cNvPr id="4" name="Text 0"/>
          <p:cNvSpPr/>
          <p:nvPr>
            <p:ph idx="100" type="title" hasCustomPrompt="1"/>
          </p:nvPr>
        </p:nvSpPr>
        <p:spPr>
          <a:xfrm>
            <a:off x="777240" y="868680"/>
            <a:ext cx="10607040" cy="868680"/>
          </a:xfrm>
          <a:prstGeom prst="rect">
            <a:avLst/>
          </a:prstGeom>
          <a:noFill/>
          <a:ln/>
        </p:spPr>
        <p:txBody>
          <a:bodyPr wrap="square" lIns="0" tIns="0" rIns="0" bIns="0" rtlCol="0" anchor="t"/>
          <a:lstStyle/>
          <a:p>
            <a:pPr algn="l" indent="0" marL="0">
              <a:buNone/>
            </a:pPr>
            <a:r>
              <a:rPr lang="en-US" sz="3000" dirty="0">
                <a:solidFill>
                  <a:schemeClr val="tx1"/>
                </a:solidFill>
                <a:latin typeface="Outfit" pitchFamily="34" charset="0"/>
                <a:ea typeface="Outfit" pitchFamily="34" charset="-122"/>
                <a:cs typeface="Outfit" pitchFamily="34" charset="-120"/>
              </a:rPr>
              <a:t>Warranty status across every vehicle</a:t>
            </a:r>
            <a:endParaRPr lang="en-US" sz="3000" dirty="0"/>
          </a:p>
        </p:txBody>
      </p:sp>
      <p:sp>
        <p:nvSpPr>
          <p:cNvPr id="5" name="Text"/>
          <p:cNvSpPr txBox="1"/>
          <p:nvPr/>
        </p:nvSpPr>
        <p:spPr>
          <a:xfrm>
            <a:off x="777240" y="1920240"/>
            <a:ext cx="4389120" cy="1371600"/>
          </a:xfrm>
          <a:prstGeom prst="rect">
            <a:avLst/>
          </a:prstGeom>
          <a:noFill/>
          <a:ln/>
        </p:spPr>
        <p:txBody>
          <a:bodyPr wrap="square" lIns="0" tIns="0" rIns="0" bIns="0" rtlCol="0" anchor="t"/>
          <a:lstStyle/>
          <a:p>
            <a:pPr indent="0" marL="0">
              <a:buNone/>
            </a:pPr>
            <a:r>
              <a:rPr lang="en-US" sz="1500" dirty="0">
                <a:solidFill>
                  <a:schemeClr val="accent6"/>
                </a:solidFill>
                <a:latin typeface="Outfit" pitchFamily="34" charset="0"/>
                <a:ea typeface="Outfit" pitchFamily="34" charset="-122"/>
                <a:cs typeface="Outfit" pitchFamily="34" charset="-120"/>
              </a:rPr>
              <a:t>The register lists each bike with motor, controller and battery status. Filter by active, expiring soon or expired, or search by serial number.</a:t>
            </a:r>
            <a:endParaRPr lang="en-US" sz="1500" dirty="0"/>
          </a:p>
        </p:txBody>
      </p:sp>
      <p:sp>
        <p:nvSpPr>
          <p:cNvPr id="6" name="Text"/>
          <p:cNvSpPr txBox="1"/>
          <p:nvPr/>
        </p:nvSpPr>
        <p:spPr>
          <a:xfrm>
            <a:off x="777240" y="3840480"/>
            <a:ext cx="4572000" cy="228600"/>
          </a:xfrm>
          <a:prstGeom prst="rect">
            <a:avLst/>
          </a:prstGeom>
          <a:noFill/>
          <a:ln/>
        </p:spPr>
        <p:txBody>
          <a:bodyPr wrap="square" lIns="0" tIns="0" rIns="0" bIns="0" rtlCol="0" anchor="t"/>
          <a:lstStyle/>
          <a:p>
            <a:pPr indent="0" marL="0">
              <a:buNone/>
            </a:pPr>
            <a:r>
              <a:rPr lang="en-US" sz="1000" b="1" spc="100" kern="0" dirty="0">
                <a:solidFill>
                  <a:schemeClr val="accent2"/>
                </a:solidFill>
                <a:latin typeface="Outfit" pitchFamily="34" charset="0"/>
                <a:ea typeface="Outfit" pitchFamily="34" charset="-122"/>
                <a:cs typeface="Outfit" pitchFamily="34" charset="-120"/>
              </a:rPr>
              <a:t>VEHICLES IN THE SAMPLE REGISTER</a:t>
            </a:r>
            <a:endParaRPr lang="en-US" sz="1000" dirty="0"/>
          </a:p>
        </p:txBody>
      </p:sp>
      <p:sp>
        <p:nvSpPr>
          <p:cNvPr id="7" name="Text"/>
          <p:cNvSpPr txBox="1"/>
          <p:nvPr/>
        </p:nvSpPr>
        <p:spPr>
          <a:xfrm>
            <a:off x="777240" y="4114800"/>
            <a:ext cx="2743200" cy="822960"/>
          </a:xfrm>
          <a:prstGeom prst="rect">
            <a:avLst/>
          </a:prstGeom>
          <a:noFill/>
          <a:ln/>
        </p:spPr>
        <p:txBody>
          <a:bodyPr wrap="square" lIns="0" tIns="0" rIns="0" bIns="0" rtlCol="0" anchor="t"/>
          <a:lstStyle/>
          <a:p>
            <a:pPr indent="0" marL="0">
              <a:buNone/>
            </a:pPr>
            <a:r>
              <a:rPr lang="en-US" sz="4400" b="1" dirty="0">
                <a:solidFill>
                  <a:schemeClr val="tx1"/>
                </a:solidFill>
                <a:latin typeface="Outfit" pitchFamily="34" charset="0"/>
                <a:ea typeface="Outfit" pitchFamily="34" charset="-122"/>
                <a:cs typeface="Outfit" pitchFamily="34" charset="-120"/>
              </a:rPr>
              <a:t>540</a:t>
            </a:r>
            <a:endParaRPr lang="en-US" sz="4400" dirty="0"/>
          </a:p>
        </p:txBody>
      </p:sp>
      <p:graphicFrame>
        <p:nvGraphicFramePr>
          <p:cNvPr id="8" name="Chart 0" descr=""/>
          <p:cNvGraphicFramePr/>
          <p:nvPr/>
        </p:nvGraphicFramePr>
        <p:xfrm>
          <a:off x="5852160" y="1554480"/>
          <a:ext cx="3291840" cy="3474720"/>
        </p:xfrm>
        <a:graphic xmlns:a="http://schemas.openxmlformats.org/drawingml/2006/main">
          <a:graphicData uri="http://schemas.openxmlformats.org/drawingml/2006/chart">
            <c:chart xmlns:c="http://schemas.openxmlformats.org/drawingml/2006/chart" r:id="rId1"/>
          </a:graphicData>
        </a:graphic>
      </p:graphicFrame>
      <p:sp>
        <p:nvSpPr>
          <p:cNvPr id="9" name="Legend dot Active"/>
          <p:cNvSpPr/>
          <p:nvPr/>
        </p:nvSpPr>
        <p:spPr>
          <a:xfrm>
            <a:off x="9418320" y="2176272"/>
            <a:ext cx="201168" cy="201168"/>
          </a:xfrm>
          <a:prstGeom prst="ellipse">
            <a:avLst/>
          </a:prstGeom>
          <a:solidFill>
            <a:srgbClr val="0E3D3A"/>
          </a:solidFill>
          <a:ln w="6350">
            <a:solidFill>
              <a:srgbClr val="0E3D3A"/>
            </a:solidFill>
            <a:prstDash val="solid"/>
          </a:ln>
        </p:spPr>
      </p:sp>
      <p:sp>
        <p:nvSpPr>
          <p:cNvPr id="10" name="Text"/>
          <p:cNvSpPr txBox="1"/>
          <p:nvPr/>
        </p:nvSpPr>
        <p:spPr>
          <a:xfrm>
            <a:off x="9738360" y="2103120"/>
            <a:ext cx="1828800" cy="274320"/>
          </a:xfrm>
          <a:prstGeom prst="rect">
            <a:avLst/>
          </a:prstGeom>
          <a:noFill/>
          <a:ln/>
        </p:spPr>
        <p:txBody>
          <a:bodyPr wrap="square" lIns="0" tIns="0" rIns="0" bIns="0" rtlCol="0" anchor="t"/>
          <a:lstStyle/>
          <a:p>
            <a:pPr indent="0" marL="0">
              <a:buNone/>
            </a:pPr>
            <a:r>
              <a:rPr lang="en-US" sz="1300" dirty="0">
                <a:solidFill>
                  <a:schemeClr val="accent6"/>
                </a:solidFill>
                <a:latin typeface="Outfit" pitchFamily="34" charset="0"/>
                <a:ea typeface="Outfit" pitchFamily="34" charset="-122"/>
                <a:cs typeface="Outfit" pitchFamily="34" charset="-120"/>
              </a:rPr>
              <a:t>Active</a:t>
            </a:r>
            <a:endParaRPr lang="en-US" sz="1300" dirty="0"/>
          </a:p>
        </p:txBody>
      </p:sp>
      <p:sp>
        <p:nvSpPr>
          <p:cNvPr id="11" name="Text"/>
          <p:cNvSpPr txBox="1"/>
          <p:nvPr/>
        </p:nvSpPr>
        <p:spPr>
          <a:xfrm>
            <a:off x="9738360" y="2359152"/>
            <a:ext cx="1828800" cy="457200"/>
          </a:xfrm>
          <a:prstGeom prst="rect">
            <a:avLst/>
          </a:prstGeom>
          <a:noFill/>
          <a:ln/>
        </p:spPr>
        <p:txBody>
          <a:bodyPr wrap="square" lIns="0" tIns="0" rIns="0" bIns="0" rtlCol="0" anchor="t"/>
          <a:lstStyle/>
          <a:p>
            <a:pPr indent="0" marL="0">
              <a:buNone/>
            </a:pPr>
            <a:r>
              <a:rPr lang="en-US" sz="2400" b="1" dirty="0">
                <a:solidFill>
                  <a:schemeClr val="tx1"/>
                </a:solidFill>
                <a:latin typeface="Outfit" pitchFamily="34" charset="0"/>
                <a:ea typeface="Outfit" pitchFamily="34" charset="-122"/>
                <a:cs typeface="Outfit" pitchFamily="34" charset="-120"/>
              </a:rPr>
              <a:t>485</a:t>
            </a:r>
            <a:endParaRPr lang="en-US" sz="2400" dirty="0"/>
          </a:p>
        </p:txBody>
      </p:sp>
      <p:sp>
        <p:nvSpPr>
          <p:cNvPr id="12" name="Legend dot Expiring soon"/>
          <p:cNvSpPr/>
          <p:nvPr/>
        </p:nvSpPr>
        <p:spPr>
          <a:xfrm>
            <a:off x="9418320" y="3090672"/>
            <a:ext cx="201168" cy="201168"/>
          </a:xfrm>
          <a:prstGeom prst="ellipse">
            <a:avLst/>
          </a:prstGeom>
          <a:solidFill>
            <a:srgbClr val="8BE07F"/>
          </a:solidFill>
          <a:ln w="6350">
            <a:solidFill>
              <a:srgbClr val="0E3D3A"/>
            </a:solidFill>
            <a:prstDash val="solid"/>
          </a:ln>
        </p:spPr>
      </p:sp>
      <p:sp>
        <p:nvSpPr>
          <p:cNvPr id="13" name="Text"/>
          <p:cNvSpPr txBox="1"/>
          <p:nvPr/>
        </p:nvSpPr>
        <p:spPr>
          <a:xfrm>
            <a:off x="9738360" y="3017520"/>
            <a:ext cx="1828800" cy="274320"/>
          </a:xfrm>
          <a:prstGeom prst="rect">
            <a:avLst/>
          </a:prstGeom>
          <a:noFill/>
          <a:ln/>
        </p:spPr>
        <p:txBody>
          <a:bodyPr wrap="square" lIns="0" tIns="0" rIns="0" bIns="0" rtlCol="0" anchor="t"/>
          <a:lstStyle/>
          <a:p>
            <a:pPr indent="0" marL="0">
              <a:buNone/>
            </a:pPr>
            <a:r>
              <a:rPr lang="en-US" sz="1300" dirty="0">
                <a:solidFill>
                  <a:schemeClr val="accent6"/>
                </a:solidFill>
                <a:latin typeface="Outfit" pitchFamily="34" charset="0"/>
                <a:ea typeface="Outfit" pitchFamily="34" charset="-122"/>
                <a:cs typeface="Outfit" pitchFamily="34" charset="-120"/>
              </a:rPr>
              <a:t>Expiring soon</a:t>
            </a:r>
            <a:endParaRPr lang="en-US" sz="1300" dirty="0"/>
          </a:p>
        </p:txBody>
      </p:sp>
      <p:sp>
        <p:nvSpPr>
          <p:cNvPr id="14" name="Text"/>
          <p:cNvSpPr txBox="1"/>
          <p:nvPr/>
        </p:nvSpPr>
        <p:spPr>
          <a:xfrm>
            <a:off x="9738360" y="3273552"/>
            <a:ext cx="1828800" cy="457200"/>
          </a:xfrm>
          <a:prstGeom prst="rect">
            <a:avLst/>
          </a:prstGeom>
          <a:noFill/>
          <a:ln/>
        </p:spPr>
        <p:txBody>
          <a:bodyPr wrap="square" lIns="0" tIns="0" rIns="0" bIns="0" rtlCol="0" anchor="t"/>
          <a:lstStyle/>
          <a:p>
            <a:pPr indent="0" marL="0">
              <a:buNone/>
            </a:pPr>
            <a:r>
              <a:rPr lang="en-US" sz="2400" b="1" dirty="0">
                <a:solidFill>
                  <a:schemeClr val="tx1"/>
                </a:solidFill>
                <a:latin typeface="Outfit" pitchFamily="34" charset="0"/>
                <a:ea typeface="Outfit" pitchFamily="34" charset="-122"/>
                <a:cs typeface="Outfit" pitchFamily="34" charset="-120"/>
              </a:rPr>
              <a:t>38</a:t>
            </a:r>
            <a:endParaRPr lang="en-US" sz="2400" dirty="0"/>
          </a:p>
        </p:txBody>
      </p:sp>
      <p:sp>
        <p:nvSpPr>
          <p:cNvPr id="15" name="Legend dot Expired"/>
          <p:cNvSpPr/>
          <p:nvPr/>
        </p:nvSpPr>
        <p:spPr>
          <a:xfrm>
            <a:off x="9418320" y="4005072"/>
            <a:ext cx="201168" cy="201168"/>
          </a:xfrm>
          <a:prstGeom prst="ellipse">
            <a:avLst/>
          </a:prstGeom>
          <a:solidFill>
            <a:srgbClr val="DAF5D3"/>
          </a:solidFill>
          <a:ln w="6350">
            <a:solidFill>
              <a:srgbClr val="0E3D3A"/>
            </a:solidFill>
            <a:prstDash val="solid"/>
          </a:ln>
        </p:spPr>
      </p:sp>
      <p:sp>
        <p:nvSpPr>
          <p:cNvPr id="16" name="Text"/>
          <p:cNvSpPr txBox="1"/>
          <p:nvPr/>
        </p:nvSpPr>
        <p:spPr>
          <a:xfrm>
            <a:off x="9738360" y="3931920"/>
            <a:ext cx="1828800" cy="274320"/>
          </a:xfrm>
          <a:prstGeom prst="rect">
            <a:avLst/>
          </a:prstGeom>
          <a:noFill/>
          <a:ln/>
        </p:spPr>
        <p:txBody>
          <a:bodyPr wrap="square" lIns="0" tIns="0" rIns="0" bIns="0" rtlCol="0" anchor="t"/>
          <a:lstStyle/>
          <a:p>
            <a:pPr indent="0" marL="0">
              <a:buNone/>
            </a:pPr>
            <a:r>
              <a:rPr lang="en-US" sz="1300" dirty="0">
                <a:solidFill>
                  <a:schemeClr val="accent6"/>
                </a:solidFill>
                <a:latin typeface="Outfit" pitchFamily="34" charset="0"/>
                <a:ea typeface="Outfit" pitchFamily="34" charset="-122"/>
                <a:cs typeface="Outfit" pitchFamily="34" charset="-120"/>
              </a:rPr>
              <a:t>Expired</a:t>
            </a:r>
            <a:endParaRPr lang="en-US" sz="1300" dirty="0"/>
          </a:p>
        </p:txBody>
      </p:sp>
      <p:sp>
        <p:nvSpPr>
          <p:cNvPr id="17" name="Text"/>
          <p:cNvSpPr txBox="1"/>
          <p:nvPr/>
        </p:nvSpPr>
        <p:spPr>
          <a:xfrm>
            <a:off x="9738360" y="4187952"/>
            <a:ext cx="1828800" cy="457200"/>
          </a:xfrm>
          <a:prstGeom prst="rect">
            <a:avLst/>
          </a:prstGeom>
          <a:noFill/>
          <a:ln/>
        </p:spPr>
        <p:txBody>
          <a:bodyPr wrap="square" lIns="0" tIns="0" rIns="0" bIns="0" rtlCol="0" anchor="t"/>
          <a:lstStyle/>
          <a:p>
            <a:pPr indent="0" marL="0">
              <a:buNone/>
            </a:pPr>
            <a:r>
              <a:rPr lang="en-US" sz="2400" b="1" dirty="0">
                <a:solidFill>
                  <a:schemeClr val="tx1"/>
                </a:solidFill>
                <a:latin typeface="Outfit" pitchFamily="34" charset="0"/>
                <a:ea typeface="Outfit" pitchFamily="34" charset="-122"/>
                <a:cs typeface="Outfit" pitchFamily="34" charset="-120"/>
              </a:rPr>
              <a:t>17</a:t>
            </a:r>
            <a:endParaRPr lang="en-US" sz="24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ill"/>
          <p:cNvSpPr/>
          <p:nvPr/>
        </p:nvSpPr>
        <p:spPr>
          <a:xfrm>
            <a:off x="5648706" y="502920"/>
            <a:ext cx="891540" cy="274320"/>
          </a:xfrm>
          <a:prstGeom prst="roundRect">
            <a:avLst>
              <a:gd name="adj" fmla="val 50000"/>
            </a:avLst>
          </a:prstGeom>
          <a:solidFill>
            <a:schemeClr val="accent1"/>
          </a:solidFill>
          <a:ln/>
        </p:spPr>
      </p:sp>
      <p:sp>
        <p:nvSpPr>
          <p:cNvPr id="3" name="Tag: Parts"/>
          <p:cNvSpPr txBox="1"/>
          <p:nvPr/>
        </p:nvSpPr>
        <p:spPr>
          <a:xfrm>
            <a:off x="5648706" y="502920"/>
            <a:ext cx="891540"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PARTS</a:t>
            </a:r>
            <a:endParaRPr lang="en-US" sz="1000" dirty="0"/>
          </a:p>
        </p:txBody>
      </p:sp>
      <p:sp>
        <p:nvSpPr>
          <p:cNvPr id="4" name="Text 0"/>
          <p:cNvSpPr/>
          <p:nvPr>
            <p:ph idx="100" type="title" hasCustomPrompt="1"/>
          </p:nvPr>
        </p:nvSpPr>
        <p:spPr>
          <a:xfrm>
            <a:off x="777240" y="868680"/>
            <a:ext cx="10634472" cy="868680"/>
          </a:xfrm>
          <a:prstGeom prst="rect">
            <a:avLst/>
          </a:prstGeom>
          <a:noFill/>
          <a:ln/>
        </p:spPr>
        <p:txBody>
          <a:bodyPr wrap="square" lIns="0" tIns="0" rIns="0" bIns="0" rtlCol="0" anchor="t"/>
          <a:lstStyle/>
          <a:p>
            <a:pPr algn="ctr" indent="0" marL="0">
              <a:buNone/>
            </a:pPr>
            <a:r>
              <a:rPr lang="en-US" sz="3000" dirty="0">
                <a:solidFill>
                  <a:schemeClr val="tx1"/>
                </a:solidFill>
                <a:latin typeface="Outfit" pitchFamily="34" charset="0"/>
                <a:ea typeface="Outfit" pitchFamily="34" charset="-122"/>
                <a:cs typeface="Outfit" pitchFamily="34" charset="-120"/>
              </a:rPr>
              <a:t>Three parts, each with its own warranty</a:t>
            </a:r>
            <a:endParaRPr lang="en-US" sz="3000" dirty="0"/>
          </a:p>
        </p:txBody>
      </p:sp>
      <p:sp>
        <p:nvSpPr>
          <p:cNvPr id="5" name="Part card Motor"/>
          <p:cNvSpPr/>
          <p:nvPr/>
        </p:nvSpPr>
        <p:spPr>
          <a:xfrm>
            <a:off x="1088136" y="1965960"/>
            <a:ext cx="3154680" cy="3566160"/>
          </a:xfrm>
          <a:prstGeom prst="roundRect">
            <a:avLst>
              <a:gd name="adj" fmla="val 6377"/>
            </a:avLst>
          </a:prstGeom>
          <a:solidFill>
            <a:schemeClr val="bg1"/>
          </a:solidFill>
          <a:ln w="15875">
            <a:solidFill>
              <a:schemeClr val="accent3"/>
            </a:solidFill>
            <a:prstDash val="solid"/>
          </a:ln>
        </p:spPr>
      </p:sp>
      <p:sp>
        <p:nvSpPr>
          <p:cNvPr id="6" name="Text"/>
          <p:cNvSpPr txBox="1"/>
          <p:nvPr/>
        </p:nvSpPr>
        <p:spPr>
          <a:xfrm>
            <a:off x="1088136" y="2286000"/>
            <a:ext cx="3154680" cy="274320"/>
          </a:xfrm>
          <a:prstGeom prst="rect">
            <a:avLst/>
          </a:prstGeom>
          <a:noFill/>
          <a:ln/>
        </p:spPr>
        <p:txBody>
          <a:bodyPr wrap="square" lIns="0" tIns="0" rIns="0" bIns="0" rtlCol="0" anchor="t"/>
          <a:lstStyle/>
          <a:p>
            <a:pPr algn="ctr" indent="0" marL="0">
              <a:buNone/>
            </a:pPr>
            <a:r>
              <a:rPr lang="en-US" sz="1100" b="1" spc="150" kern="0" dirty="0">
                <a:solidFill>
                  <a:schemeClr val="accent2"/>
                </a:solidFill>
                <a:latin typeface="Outfit" pitchFamily="34" charset="0"/>
                <a:ea typeface="Outfit" pitchFamily="34" charset="-122"/>
                <a:cs typeface="Outfit" pitchFamily="34" charset="-120"/>
              </a:rPr>
              <a:t>MOTOR</a:t>
            </a:r>
            <a:endParaRPr lang="en-US" sz="1100" dirty="0"/>
          </a:p>
        </p:txBody>
      </p:sp>
      <p:sp>
        <p:nvSpPr>
          <p:cNvPr id="7" name="Term pill Motor"/>
          <p:cNvSpPr/>
          <p:nvPr/>
        </p:nvSpPr>
        <p:spPr>
          <a:xfrm>
            <a:off x="1499616" y="2697480"/>
            <a:ext cx="2331720" cy="731520"/>
          </a:xfrm>
          <a:prstGeom prst="roundRect">
            <a:avLst>
              <a:gd name="adj" fmla="val 50000"/>
            </a:avLst>
          </a:prstGeom>
          <a:solidFill>
            <a:schemeClr val="accent3"/>
          </a:solidFill>
          <a:ln/>
        </p:spPr>
      </p:sp>
      <p:sp>
        <p:nvSpPr>
          <p:cNvPr id="8" name="Text"/>
          <p:cNvSpPr txBox="1"/>
          <p:nvPr/>
        </p:nvSpPr>
        <p:spPr>
          <a:xfrm>
            <a:off x="1499616" y="2697480"/>
            <a:ext cx="233172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Outfit" pitchFamily="34" charset="0"/>
                <a:ea typeface="Outfit" pitchFamily="34" charset="-122"/>
                <a:cs typeface="Outfit" pitchFamily="34" charset="-120"/>
              </a:rPr>
              <a:t>24-36 months</a:t>
            </a:r>
            <a:endParaRPr lang="en-US" sz="2200" dirty="0"/>
          </a:p>
        </p:txBody>
      </p:sp>
      <p:sp>
        <p:nvSpPr>
          <p:cNvPr id="9" name="Text"/>
          <p:cNvSpPr txBox="1"/>
          <p:nvPr/>
        </p:nvSpPr>
        <p:spPr>
          <a:xfrm>
            <a:off x="1362456" y="3749040"/>
            <a:ext cx="2606040" cy="320040"/>
          </a:xfrm>
          <a:prstGeom prst="rect">
            <a:avLst/>
          </a:prstGeom>
          <a:noFill/>
          <a:ln/>
        </p:spPr>
        <p:txBody>
          <a:bodyPr wrap="square" lIns="0" tIns="0" rIns="0" bIns="0" rtlCol="0" anchor="t"/>
          <a:lstStyle/>
          <a:p>
            <a:pPr algn="ctr" indent="0" marL="0">
              <a:buNone/>
            </a:pPr>
            <a:r>
              <a:rPr lang="en-US" sz="1400" dirty="0">
                <a:solidFill>
                  <a:schemeClr val="tx1"/>
                </a:solidFill>
                <a:latin typeface="Outfit" pitchFamily="34" charset="0"/>
                <a:ea typeface="Outfit" pitchFamily="34" charset="-122"/>
                <a:cs typeface="Outfit" pitchFamily="34" charset="-120"/>
              </a:rPr>
              <a:t>Tracked by motor number</a:t>
            </a:r>
            <a:endParaRPr lang="en-US" sz="1400" dirty="0"/>
          </a:p>
        </p:txBody>
      </p:sp>
      <p:sp>
        <p:nvSpPr>
          <p:cNvPr id="10" name="Text"/>
          <p:cNvSpPr txBox="1"/>
          <p:nvPr/>
        </p:nvSpPr>
        <p:spPr>
          <a:xfrm>
            <a:off x="1362456" y="4160520"/>
            <a:ext cx="260604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ourier New" pitchFamily="34" charset="0"/>
                <a:ea typeface="Courier New" pitchFamily="34" charset="-122"/>
                <a:cs typeface="Courier New" pitchFamily="34" charset="-120"/>
              </a:rPr>
              <a:t>MTR-250-8695278</a:t>
            </a:r>
            <a:endParaRPr lang="en-US" sz="1300" dirty="0"/>
          </a:p>
        </p:txBody>
      </p:sp>
      <p:sp>
        <p:nvSpPr>
          <p:cNvPr id="11" name="Text"/>
          <p:cNvSpPr txBox="1"/>
          <p:nvPr/>
        </p:nvSpPr>
        <p:spPr>
          <a:xfrm>
            <a:off x="1362456" y="4663440"/>
            <a:ext cx="260604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Outfit" pitchFamily="34" charset="0"/>
                <a:ea typeface="Outfit" pitchFamily="34" charset="-122"/>
                <a:cs typeface="Outfit" pitchFamily="34" charset="-120"/>
              </a:rPr>
              <a:t>A replacement starts a new warranty</a:t>
            </a:r>
            <a:endParaRPr lang="en-US" sz="1300" dirty="0"/>
          </a:p>
        </p:txBody>
      </p:sp>
      <p:sp>
        <p:nvSpPr>
          <p:cNvPr id="12" name="Part card Controller"/>
          <p:cNvSpPr/>
          <p:nvPr/>
        </p:nvSpPr>
        <p:spPr>
          <a:xfrm>
            <a:off x="4517136" y="1783080"/>
            <a:ext cx="3154680" cy="3931920"/>
          </a:xfrm>
          <a:prstGeom prst="roundRect">
            <a:avLst>
              <a:gd name="adj" fmla="val 6377"/>
            </a:avLst>
          </a:prstGeom>
          <a:solidFill>
            <a:schemeClr val="tx2"/>
          </a:solidFill>
          <a:ln/>
        </p:spPr>
      </p:sp>
      <p:sp>
        <p:nvSpPr>
          <p:cNvPr id="13" name="Text"/>
          <p:cNvSpPr txBox="1"/>
          <p:nvPr/>
        </p:nvSpPr>
        <p:spPr>
          <a:xfrm>
            <a:off x="4517136" y="2103120"/>
            <a:ext cx="3154680" cy="274320"/>
          </a:xfrm>
          <a:prstGeom prst="rect">
            <a:avLst/>
          </a:prstGeom>
          <a:noFill/>
          <a:ln/>
        </p:spPr>
        <p:txBody>
          <a:bodyPr wrap="square" lIns="0" tIns="0" rIns="0" bIns="0" rtlCol="0" anchor="t"/>
          <a:lstStyle/>
          <a:p>
            <a:pPr algn="ctr" indent="0" marL="0">
              <a:buNone/>
            </a:pPr>
            <a:r>
              <a:rPr lang="en-US" sz="1100" b="1" spc="150" kern="0" dirty="0">
                <a:solidFill>
                  <a:schemeClr val="accent1"/>
                </a:solidFill>
                <a:latin typeface="Outfit" pitchFamily="34" charset="0"/>
                <a:ea typeface="Outfit" pitchFamily="34" charset="-122"/>
                <a:cs typeface="Outfit" pitchFamily="34" charset="-120"/>
              </a:rPr>
              <a:t>CONTROLLER</a:t>
            </a:r>
            <a:endParaRPr lang="en-US" sz="1100" dirty="0"/>
          </a:p>
        </p:txBody>
      </p:sp>
      <p:sp>
        <p:nvSpPr>
          <p:cNvPr id="14" name="Term pill Controller"/>
          <p:cNvSpPr/>
          <p:nvPr/>
        </p:nvSpPr>
        <p:spPr>
          <a:xfrm>
            <a:off x="4928616" y="2514600"/>
            <a:ext cx="2331720" cy="731520"/>
          </a:xfrm>
          <a:prstGeom prst="roundRect">
            <a:avLst>
              <a:gd name="adj" fmla="val 50000"/>
            </a:avLst>
          </a:prstGeom>
          <a:solidFill>
            <a:schemeClr val="accent4"/>
          </a:solidFill>
          <a:ln/>
        </p:spPr>
      </p:sp>
      <p:sp>
        <p:nvSpPr>
          <p:cNvPr id="15" name="Text"/>
          <p:cNvSpPr txBox="1"/>
          <p:nvPr/>
        </p:nvSpPr>
        <p:spPr>
          <a:xfrm>
            <a:off x="4928616" y="2514600"/>
            <a:ext cx="23317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Outfit" pitchFamily="34" charset="0"/>
                <a:ea typeface="Outfit" pitchFamily="34" charset="-122"/>
                <a:cs typeface="Outfit" pitchFamily="34" charset="-120"/>
              </a:rPr>
              <a:t>24 months</a:t>
            </a:r>
            <a:endParaRPr lang="en-US" sz="2200" dirty="0"/>
          </a:p>
        </p:txBody>
      </p:sp>
      <p:sp>
        <p:nvSpPr>
          <p:cNvPr id="16" name="Text"/>
          <p:cNvSpPr txBox="1"/>
          <p:nvPr/>
        </p:nvSpPr>
        <p:spPr>
          <a:xfrm>
            <a:off x="4791456" y="3566160"/>
            <a:ext cx="2606040" cy="320040"/>
          </a:xfrm>
          <a:prstGeom prst="rect">
            <a:avLst/>
          </a:prstGeom>
          <a:noFill/>
          <a:ln/>
        </p:spPr>
        <p:txBody>
          <a:bodyPr wrap="square" lIns="0" tIns="0" rIns="0" bIns="0" rtlCol="0" anchor="t"/>
          <a:lstStyle/>
          <a:p>
            <a:pPr algn="ctr" indent="0" marL="0">
              <a:buNone/>
            </a:pPr>
            <a:r>
              <a:rPr lang="en-US" sz="1400" dirty="0">
                <a:solidFill>
                  <a:schemeClr val="bg1"/>
                </a:solidFill>
                <a:latin typeface="Outfit" pitchFamily="34" charset="0"/>
                <a:ea typeface="Outfit" pitchFamily="34" charset="-122"/>
                <a:cs typeface="Outfit" pitchFamily="34" charset="-120"/>
              </a:rPr>
              <a:t>Tracked by controller serial</a:t>
            </a:r>
            <a:endParaRPr lang="en-US" sz="1400" dirty="0"/>
          </a:p>
        </p:txBody>
      </p:sp>
      <p:sp>
        <p:nvSpPr>
          <p:cNvPr id="17" name="Text"/>
          <p:cNvSpPr txBox="1"/>
          <p:nvPr/>
        </p:nvSpPr>
        <p:spPr>
          <a:xfrm>
            <a:off x="4791456" y="3977640"/>
            <a:ext cx="26060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ourier New" pitchFamily="34" charset="0"/>
                <a:ea typeface="Courier New" pitchFamily="34" charset="-122"/>
                <a:cs typeface="Courier New" pitchFamily="34" charset="-120"/>
              </a:rPr>
              <a:t>CTL-48V-725741</a:t>
            </a:r>
            <a:endParaRPr lang="en-US" sz="1300" dirty="0"/>
          </a:p>
        </p:txBody>
      </p:sp>
      <p:sp>
        <p:nvSpPr>
          <p:cNvPr id="18" name="Text"/>
          <p:cNvSpPr txBox="1"/>
          <p:nvPr/>
        </p:nvSpPr>
        <p:spPr>
          <a:xfrm>
            <a:off x="4791456" y="4480560"/>
            <a:ext cx="26060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Outfit" pitchFamily="34" charset="0"/>
                <a:ea typeface="Outfit" pitchFamily="34" charset="-122"/>
                <a:cs typeface="Outfit" pitchFamily="34" charset="-120"/>
              </a:rPr>
              <a:t>A replacement starts a new warranty</a:t>
            </a:r>
            <a:endParaRPr lang="en-US" sz="1300" dirty="0"/>
          </a:p>
        </p:txBody>
      </p:sp>
      <p:sp>
        <p:nvSpPr>
          <p:cNvPr id="19" name="Part card Battery"/>
          <p:cNvSpPr/>
          <p:nvPr/>
        </p:nvSpPr>
        <p:spPr>
          <a:xfrm>
            <a:off x="7946136" y="1965960"/>
            <a:ext cx="3154680" cy="3566160"/>
          </a:xfrm>
          <a:prstGeom prst="roundRect">
            <a:avLst>
              <a:gd name="adj" fmla="val 6377"/>
            </a:avLst>
          </a:prstGeom>
          <a:solidFill>
            <a:schemeClr val="bg1"/>
          </a:solidFill>
          <a:ln w="15875">
            <a:solidFill>
              <a:schemeClr val="accent3"/>
            </a:solidFill>
            <a:prstDash val="solid"/>
          </a:ln>
        </p:spPr>
      </p:sp>
      <p:sp>
        <p:nvSpPr>
          <p:cNvPr id="20" name="Text"/>
          <p:cNvSpPr txBox="1"/>
          <p:nvPr/>
        </p:nvSpPr>
        <p:spPr>
          <a:xfrm>
            <a:off x="7946136" y="2286000"/>
            <a:ext cx="3154680" cy="274320"/>
          </a:xfrm>
          <a:prstGeom prst="rect">
            <a:avLst/>
          </a:prstGeom>
          <a:noFill/>
          <a:ln/>
        </p:spPr>
        <p:txBody>
          <a:bodyPr wrap="square" lIns="0" tIns="0" rIns="0" bIns="0" rtlCol="0" anchor="t"/>
          <a:lstStyle/>
          <a:p>
            <a:pPr algn="ctr" indent="0" marL="0">
              <a:buNone/>
            </a:pPr>
            <a:r>
              <a:rPr lang="en-US" sz="1100" b="1" spc="150" kern="0" dirty="0">
                <a:solidFill>
                  <a:schemeClr val="accent2"/>
                </a:solidFill>
                <a:latin typeface="Outfit" pitchFamily="34" charset="0"/>
                <a:ea typeface="Outfit" pitchFamily="34" charset="-122"/>
                <a:cs typeface="Outfit" pitchFamily="34" charset="-120"/>
              </a:rPr>
              <a:t>BATTERY</a:t>
            </a:r>
            <a:endParaRPr lang="en-US" sz="1100" dirty="0"/>
          </a:p>
        </p:txBody>
      </p:sp>
      <p:sp>
        <p:nvSpPr>
          <p:cNvPr id="21" name="Term pill Battery"/>
          <p:cNvSpPr/>
          <p:nvPr/>
        </p:nvSpPr>
        <p:spPr>
          <a:xfrm>
            <a:off x="8357616" y="2697480"/>
            <a:ext cx="2331720" cy="731520"/>
          </a:xfrm>
          <a:prstGeom prst="roundRect">
            <a:avLst>
              <a:gd name="adj" fmla="val 50000"/>
            </a:avLst>
          </a:prstGeom>
          <a:solidFill>
            <a:schemeClr val="accent3"/>
          </a:solidFill>
          <a:ln/>
        </p:spPr>
      </p:sp>
      <p:sp>
        <p:nvSpPr>
          <p:cNvPr id="22" name="Text"/>
          <p:cNvSpPr txBox="1"/>
          <p:nvPr/>
        </p:nvSpPr>
        <p:spPr>
          <a:xfrm>
            <a:off x="8357616" y="2697480"/>
            <a:ext cx="2331720" cy="731520"/>
          </a:xfrm>
          <a:prstGeom prst="rect">
            <a:avLst/>
          </a:prstGeom>
          <a:noFill/>
          <a:ln/>
        </p:spPr>
        <p:txBody>
          <a:bodyPr wrap="square" lIns="0" tIns="0" rIns="0" bIns="0" rtlCol="0" anchor="ctr"/>
          <a:lstStyle/>
          <a:p>
            <a:pPr algn="ctr" indent="0" marL="0">
              <a:buNone/>
            </a:pPr>
            <a:r>
              <a:rPr lang="en-US" sz="2200" b="1" dirty="0">
                <a:solidFill>
                  <a:schemeClr val="tx1"/>
                </a:solidFill>
                <a:latin typeface="Outfit" pitchFamily="34" charset="0"/>
                <a:ea typeface="Outfit" pitchFamily="34" charset="-122"/>
                <a:cs typeface="Outfit" pitchFamily="34" charset="-120"/>
              </a:rPr>
              <a:t>18-30 months</a:t>
            </a:r>
            <a:endParaRPr lang="en-US" sz="2200" dirty="0"/>
          </a:p>
        </p:txBody>
      </p:sp>
      <p:sp>
        <p:nvSpPr>
          <p:cNvPr id="23" name="Text"/>
          <p:cNvSpPr txBox="1"/>
          <p:nvPr/>
        </p:nvSpPr>
        <p:spPr>
          <a:xfrm>
            <a:off x="8220456" y="3749040"/>
            <a:ext cx="2606040" cy="320040"/>
          </a:xfrm>
          <a:prstGeom prst="rect">
            <a:avLst/>
          </a:prstGeom>
          <a:noFill/>
          <a:ln/>
        </p:spPr>
        <p:txBody>
          <a:bodyPr wrap="square" lIns="0" tIns="0" rIns="0" bIns="0" rtlCol="0" anchor="t"/>
          <a:lstStyle/>
          <a:p>
            <a:pPr algn="ctr" indent="0" marL="0">
              <a:buNone/>
            </a:pPr>
            <a:r>
              <a:rPr lang="en-US" sz="1400" dirty="0">
                <a:solidFill>
                  <a:schemeClr val="tx1"/>
                </a:solidFill>
                <a:latin typeface="Outfit" pitchFamily="34" charset="0"/>
                <a:ea typeface="Outfit" pitchFamily="34" charset="-122"/>
                <a:cs typeface="Outfit" pitchFamily="34" charset="-120"/>
              </a:rPr>
              <a:t>Tracked by battery serial</a:t>
            </a:r>
            <a:endParaRPr lang="en-US" sz="1400" dirty="0"/>
          </a:p>
        </p:txBody>
      </p:sp>
      <p:sp>
        <p:nvSpPr>
          <p:cNvPr id="24" name="Text"/>
          <p:cNvSpPr txBox="1"/>
          <p:nvPr/>
        </p:nvSpPr>
        <p:spPr>
          <a:xfrm>
            <a:off x="8220456" y="4160520"/>
            <a:ext cx="260604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ourier New" pitchFamily="34" charset="0"/>
                <a:ea typeface="Courier New" pitchFamily="34" charset="-122"/>
                <a:cs typeface="Courier New" pitchFamily="34" charset="-120"/>
              </a:rPr>
              <a:t>BAT-48V20-7257410</a:t>
            </a:r>
            <a:endParaRPr lang="en-US" sz="1300" dirty="0"/>
          </a:p>
        </p:txBody>
      </p:sp>
      <p:sp>
        <p:nvSpPr>
          <p:cNvPr id="25" name="Text"/>
          <p:cNvSpPr txBox="1"/>
          <p:nvPr/>
        </p:nvSpPr>
        <p:spPr>
          <a:xfrm>
            <a:off x="8220456" y="4663440"/>
            <a:ext cx="260604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Outfit" pitchFamily="34" charset="0"/>
                <a:ea typeface="Outfit" pitchFamily="34" charset="-122"/>
                <a:cs typeface="Outfit" pitchFamily="34" charset="-120"/>
              </a:rPr>
              <a:t>A replacement starts a new warranty</a:t>
            </a:r>
            <a:endParaRPr lang="en-US" sz="1300" dirty="0"/>
          </a:p>
        </p:txBody>
      </p:sp>
      <p:sp>
        <p:nvSpPr>
          <p:cNvPr id="26" name="Text"/>
          <p:cNvSpPr txBox="1"/>
          <p:nvPr/>
        </p:nvSpPr>
        <p:spPr>
          <a:xfrm>
            <a:off x="777240" y="5897880"/>
            <a:ext cx="10634472"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Terms vary by model. Shown from the demo's model list.</a:t>
            </a:r>
            <a:endParaRPr lang="en-US" sz="12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ill"/>
          <p:cNvSpPr/>
          <p:nvPr/>
        </p:nvSpPr>
        <p:spPr>
          <a:xfrm>
            <a:off x="5344668" y="502920"/>
            <a:ext cx="1499616" cy="274320"/>
          </a:xfrm>
          <a:prstGeom prst="roundRect">
            <a:avLst>
              <a:gd name="adj" fmla="val 50000"/>
            </a:avLst>
          </a:prstGeom>
          <a:solidFill>
            <a:schemeClr val="accent1"/>
          </a:solidFill>
          <a:ln/>
        </p:spPr>
      </p:sp>
      <p:sp>
        <p:nvSpPr>
          <p:cNvPr id="3" name="Tag: On the phone"/>
          <p:cNvSpPr txBox="1"/>
          <p:nvPr/>
        </p:nvSpPr>
        <p:spPr>
          <a:xfrm>
            <a:off x="5344668" y="502920"/>
            <a:ext cx="149961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ON THE PHONE</a:t>
            </a:r>
            <a:endParaRPr lang="en-US" sz="1000" dirty="0"/>
          </a:p>
        </p:txBody>
      </p:sp>
      <p:sp>
        <p:nvSpPr>
          <p:cNvPr id="4" name="Text 0"/>
          <p:cNvSpPr/>
          <p:nvPr>
            <p:ph idx="100" type="title" hasCustomPrompt="1"/>
          </p:nvPr>
        </p:nvSpPr>
        <p:spPr>
          <a:xfrm>
            <a:off x="777240" y="868680"/>
            <a:ext cx="10634472" cy="868680"/>
          </a:xfrm>
          <a:prstGeom prst="rect">
            <a:avLst/>
          </a:prstGeom>
          <a:noFill/>
          <a:ln/>
        </p:spPr>
        <p:txBody>
          <a:bodyPr wrap="square" lIns="0" tIns="0" rIns="0" bIns="0" rtlCol="0" anchor="t"/>
          <a:lstStyle/>
          <a:p>
            <a:pPr algn="ctr" indent="0" marL="0">
              <a:buNone/>
            </a:pPr>
            <a:r>
              <a:rPr lang="en-US" sz="3000" dirty="0">
                <a:solidFill>
                  <a:schemeClr val="tx1"/>
                </a:solidFill>
                <a:latin typeface="Outfit" pitchFamily="34" charset="0"/>
                <a:ea typeface="Outfit" pitchFamily="34" charset="-122"/>
                <a:cs typeface="Outfit" pitchFamily="34" charset="-120"/>
              </a:rPr>
              <a:t>Built for the shop counter and the owner's pocket</a:t>
            </a:r>
            <a:endParaRPr lang="en-US" sz="3000" dirty="0"/>
          </a:p>
        </p:txBody>
      </p:sp>
      <p:sp>
        <p:nvSpPr>
          <p:cNvPr id="5" name="Header Dealers"/>
          <p:cNvSpPr/>
          <p:nvPr/>
        </p:nvSpPr>
        <p:spPr>
          <a:xfrm>
            <a:off x="745236" y="1783080"/>
            <a:ext cx="5212080" cy="411480"/>
          </a:xfrm>
          <a:prstGeom prst="roundRect">
            <a:avLst>
              <a:gd name="adj" fmla="val 22222"/>
            </a:avLst>
          </a:prstGeom>
          <a:solidFill>
            <a:schemeClr val="accent3"/>
          </a:solidFill>
          <a:ln/>
        </p:spPr>
      </p:sp>
      <p:sp>
        <p:nvSpPr>
          <p:cNvPr id="6" name="Text"/>
          <p:cNvSpPr txBox="1"/>
          <p:nvPr/>
        </p:nvSpPr>
        <p:spPr>
          <a:xfrm>
            <a:off x="745236" y="1783080"/>
            <a:ext cx="5212080" cy="41148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Dealers</a:t>
            </a:r>
            <a:endParaRPr lang="en-US" sz="1400" dirty="0"/>
          </a:p>
        </p:txBody>
      </p:sp>
      <p:sp>
        <p:nvSpPr>
          <p:cNvPr id="7" name="Dealers: Register in one form frame"/>
          <p:cNvSpPr/>
          <p:nvPr/>
        </p:nvSpPr>
        <p:spPr>
          <a:xfrm>
            <a:off x="1231417" y="2377440"/>
            <a:ext cx="1633677" cy="3429000"/>
          </a:xfrm>
          <a:prstGeom prst="roundRect">
            <a:avLst>
              <a:gd name="adj" fmla="val 12314"/>
            </a:avLst>
          </a:prstGeom>
          <a:solidFill>
            <a:schemeClr val="tx1"/>
          </a:solidFill>
          <a:ln/>
          <a:effectLst>
            <a:outerShdw sx="100000" sy="100000" kx="0" ky="0" algn="bl" rotWithShape="0" blurRad="152400" dist="38100" dir="5400000">
              <a:srgbClr val="0E3D3A">
                <a:alpha val="12000"/>
              </a:srgbClr>
            </a:outerShdw>
          </a:effectLst>
        </p:spPr>
      </p:sp>
      <p:pic>
        <p:nvPicPr>
          <p:cNvPr id="8" name="Dealers: Register in one form" descr="Dealers: Register in one form">    </p:cNvPr>
          <p:cNvPicPr>
            <a:picLocks noChangeAspect="1"/>
          </p:cNvPicPr>
          <p:nvPr/>
        </p:nvPicPr>
        <p:blipFill>
          <a:blip r:embed="rId1"/>
          <a:stretch>
            <a:fillRect/>
          </a:stretch>
        </p:blipFill>
        <p:spPr>
          <a:xfrm>
            <a:off x="1277137" y="2423160"/>
            <a:ext cx="1542237" cy="3337560"/>
          </a:xfrm>
          <a:prstGeom prst="rect">
            <a:avLst/>
          </a:prstGeom>
        </p:spPr>
      </p:pic>
      <p:sp>
        <p:nvSpPr>
          <p:cNvPr id="9" name="Text"/>
          <p:cNvSpPr txBox="1"/>
          <p:nvPr/>
        </p:nvSpPr>
        <p:spPr>
          <a:xfrm>
            <a:off x="859536" y="5943600"/>
            <a:ext cx="23774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Outfit" pitchFamily="34" charset="0"/>
                <a:ea typeface="Outfit" pitchFamily="34" charset="-122"/>
                <a:cs typeface="Outfit" pitchFamily="34" charset="-120"/>
              </a:rPr>
              <a:t>Register in one form</a:t>
            </a:r>
            <a:endParaRPr lang="en-US" sz="1200" dirty="0"/>
          </a:p>
        </p:txBody>
      </p:sp>
      <p:sp>
        <p:nvSpPr>
          <p:cNvPr id="10" name="Dealers: Scan the plate QR frame"/>
          <p:cNvSpPr/>
          <p:nvPr/>
        </p:nvSpPr>
        <p:spPr>
          <a:xfrm>
            <a:off x="3837457" y="2377440"/>
            <a:ext cx="1633677" cy="3429000"/>
          </a:xfrm>
          <a:prstGeom prst="roundRect">
            <a:avLst>
              <a:gd name="adj" fmla="val 12314"/>
            </a:avLst>
          </a:prstGeom>
          <a:solidFill>
            <a:schemeClr val="tx1"/>
          </a:solidFill>
          <a:ln/>
          <a:effectLst>
            <a:outerShdw sx="100000" sy="100000" kx="0" ky="0" algn="bl" rotWithShape="0" blurRad="152400" dist="38100" dir="5400000">
              <a:srgbClr val="0E3D3A">
                <a:alpha val="12000"/>
              </a:srgbClr>
            </a:outerShdw>
          </a:effectLst>
        </p:spPr>
      </p:sp>
      <p:pic>
        <p:nvPicPr>
          <p:cNvPr id="11" name="Dealers: Scan the plate QR" descr="Dealers: Scan the plate QR">    </p:cNvPr>
          <p:cNvPicPr>
            <a:picLocks noChangeAspect="1"/>
          </p:cNvPicPr>
          <p:nvPr/>
        </p:nvPicPr>
        <p:blipFill>
          <a:blip r:embed="rId2"/>
          <a:stretch>
            <a:fillRect/>
          </a:stretch>
        </p:blipFill>
        <p:spPr>
          <a:xfrm>
            <a:off x="3883177" y="2423160"/>
            <a:ext cx="1542237" cy="3337560"/>
          </a:xfrm>
          <a:prstGeom prst="rect">
            <a:avLst/>
          </a:prstGeom>
        </p:spPr>
      </p:pic>
      <p:sp>
        <p:nvSpPr>
          <p:cNvPr id="12" name="Text"/>
          <p:cNvSpPr txBox="1"/>
          <p:nvPr/>
        </p:nvSpPr>
        <p:spPr>
          <a:xfrm>
            <a:off x="3465576" y="5943600"/>
            <a:ext cx="23774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Outfit" pitchFamily="34" charset="0"/>
                <a:ea typeface="Outfit" pitchFamily="34" charset="-122"/>
                <a:cs typeface="Outfit" pitchFamily="34" charset="-120"/>
              </a:rPr>
              <a:t>Scan the plate QR</a:t>
            </a:r>
            <a:endParaRPr lang="en-US" sz="1200" dirty="0"/>
          </a:p>
        </p:txBody>
      </p:sp>
      <p:sp>
        <p:nvSpPr>
          <p:cNvPr id="13" name="Header Vehicle owners"/>
          <p:cNvSpPr/>
          <p:nvPr/>
        </p:nvSpPr>
        <p:spPr>
          <a:xfrm>
            <a:off x="6231636" y="1783080"/>
            <a:ext cx="5212080" cy="411480"/>
          </a:xfrm>
          <a:prstGeom prst="roundRect">
            <a:avLst>
              <a:gd name="adj" fmla="val 22222"/>
            </a:avLst>
          </a:prstGeom>
          <a:solidFill>
            <a:schemeClr val="accent3"/>
          </a:solidFill>
          <a:ln/>
        </p:spPr>
      </p:sp>
      <p:sp>
        <p:nvSpPr>
          <p:cNvPr id="14" name="Text"/>
          <p:cNvSpPr txBox="1"/>
          <p:nvPr/>
        </p:nvSpPr>
        <p:spPr>
          <a:xfrm>
            <a:off x="6231636" y="1783080"/>
            <a:ext cx="5212080" cy="41148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Vehicle owners</a:t>
            </a:r>
            <a:endParaRPr lang="en-US" sz="1400" dirty="0"/>
          </a:p>
        </p:txBody>
      </p:sp>
      <p:sp>
        <p:nvSpPr>
          <p:cNvPr id="15" name="Vehicle owners: Registration and QR frame"/>
          <p:cNvSpPr/>
          <p:nvPr/>
        </p:nvSpPr>
        <p:spPr>
          <a:xfrm>
            <a:off x="6717817" y="2377440"/>
            <a:ext cx="1633677" cy="3429000"/>
          </a:xfrm>
          <a:prstGeom prst="roundRect">
            <a:avLst>
              <a:gd name="adj" fmla="val 12314"/>
            </a:avLst>
          </a:prstGeom>
          <a:solidFill>
            <a:schemeClr val="tx1"/>
          </a:solidFill>
          <a:ln/>
          <a:effectLst>
            <a:outerShdw sx="100000" sy="100000" kx="0" ky="0" algn="bl" rotWithShape="0" blurRad="152400" dist="38100" dir="5400000">
              <a:srgbClr val="0E3D3A">
                <a:alpha val="12000"/>
              </a:srgbClr>
            </a:outerShdw>
          </a:effectLst>
        </p:spPr>
      </p:sp>
      <p:pic>
        <p:nvPicPr>
          <p:cNvPr id="16" name="Vehicle owners: Registration and QR" descr="Vehicle owners: Registration and QR">    </p:cNvPr>
          <p:cNvPicPr>
            <a:picLocks noChangeAspect="1"/>
          </p:cNvPicPr>
          <p:nvPr/>
        </p:nvPicPr>
        <p:blipFill>
          <a:blip r:embed="rId3"/>
          <a:stretch>
            <a:fillRect/>
          </a:stretch>
        </p:blipFill>
        <p:spPr>
          <a:xfrm>
            <a:off x="6763537" y="2423160"/>
            <a:ext cx="1542237" cy="3337560"/>
          </a:xfrm>
          <a:prstGeom prst="rect">
            <a:avLst/>
          </a:prstGeom>
        </p:spPr>
      </p:pic>
      <p:sp>
        <p:nvSpPr>
          <p:cNvPr id="17" name="Text"/>
          <p:cNvSpPr txBox="1"/>
          <p:nvPr/>
        </p:nvSpPr>
        <p:spPr>
          <a:xfrm>
            <a:off x="6345936" y="5943600"/>
            <a:ext cx="23774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Outfit" pitchFamily="34" charset="0"/>
                <a:ea typeface="Outfit" pitchFamily="34" charset="-122"/>
                <a:cs typeface="Outfit" pitchFamily="34" charset="-120"/>
              </a:rPr>
              <a:t>Registration and QR</a:t>
            </a:r>
            <a:endParaRPr lang="en-US" sz="1200" dirty="0"/>
          </a:p>
        </p:txBody>
      </p:sp>
      <p:sp>
        <p:nvSpPr>
          <p:cNvPr id="18" name="Vehicle owners: Warranty per part frame"/>
          <p:cNvSpPr/>
          <p:nvPr/>
        </p:nvSpPr>
        <p:spPr>
          <a:xfrm>
            <a:off x="9323857" y="2377440"/>
            <a:ext cx="1633677" cy="3429000"/>
          </a:xfrm>
          <a:prstGeom prst="roundRect">
            <a:avLst>
              <a:gd name="adj" fmla="val 12314"/>
            </a:avLst>
          </a:prstGeom>
          <a:solidFill>
            <a:schemeClr val="tx1"/>
          </a:solidFill>
          <a:ln/>
          <a:effectLst>
            <a:outerShdw sx="100000" sy="100000" kx="0" ky="0" algn="bl" rotWithShape="0" blurRad="152400" dist="38100" dir="5400000">
              <a:srgbClr val="0E3D3A">
                <a:alpha val="12000"/>
              </a:srgbClr>
            </a:outerShdw>
          </a:effectLst>
        </p:spPr>
      </p:sp>
      <p:pic>
        <p:nvPicPr>
          <p:cNvPr id="19" name="Vehicle owners: Warranty per part" descr="Vehicle owners: Warranty per part">    </p:cNvPr>
          <p:cNvPicPr>
            <a:picLocks noChangeAspect="1"/>
          </p:cNvPicPr>
          <p:nvPr/>
        </p:nvPicPr>
        <p:blipFill>
          <a:blip r:embed="rId4"/>
          <a:stretch>
            <a:fillRect/>
          </a:stretch>
        </p:blipFill>
        <p:spPr>
          <a:xfrm>
            <a:off x="9369577" y="2423160"/>
            <a:ext cx="1542237" cy="3337560"/>
          </a:xfrm>
          <a:prstGeom prst="rect">
            <a:avLst/>
          </a:prstGeom>
        </p:spPr>
      </p:pic>
      <p:sp>
        <p:nvSpPr>
          <p:cNvPr id="20" name="Text"/>
          <p:cNvSpPr txBox="1"/>
          <p:nvPr/>
        </p:nvSpPr>
        <p:spPr>
          <a:xfrm>
            <a:off x="8951976" y="5943600"/>
            <a:ext cx="23774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Outfit" pitchFamily="34" charset="0"/>
                <a:ea typeface="Outfit" pitchFamily="34" charset="-122"/>
                <a:cs typeface="Outfit" pitchFamily="34" charset="-120"/>
              </a:rPr>
              <a:t>Warranty per part</a:t>
            </a:r>
            <a:endParaRPr lang="en-US" sz="12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ill"/>
          <p:cNvSpPr/>
          <p:nvPr/>
        </p:nvSpPr>
        <p:spPr>
          <a:xfrm>
            <a:off x="777240" y="502920"/>
            <a:ext cx="1847088" cy="274320"/>
          </a:xfrm>
          <a:prstGeom prst="roundRect">
            <a:avLst>
              <a:gd name="adj" fmla="val 50000"/>
            </a:avLst>
          </a:prstGeom>
          <a:solidFill>
            <a:schemeClr val="accent1"/>
          </a:solidFill>
          <a:ln/>
        </p:spPr>
      </p:sp>
      <p:sp>
        <p:nvSpPr>
          <p:cNvPr id="3" name="Tag: Before and after"/>
          <p:cNvSpPr txBox="1"/>
          <p:nvPr/>
        </p:nvSpPr>
        <p:spPr>
          <a:xfrm>
            <a:off x="777240" y="502920"/>
            <a:ext cx="1847088"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BEFORE AND AFTER</a:t>
            </a:r>
            <a:endParaRPr lang="en-US" sz="1000" dirty="0"/>
          </a:p>
        </p:txBody>
      </p:sp>
      <p:sp>
        <p:nvSpPr>
          <p:cNvPr id="4" name="Text 0"/>
          <p:cNvSpPr/>
          <p:nvPr>
            <p:ph idx="100" type="title" hasCustomPrompt="1"/>
          </p:nvPr>
        </p:nvSpPr>
        <p:spPr>
          <a:xfrm>
            <a:off x="777240" y="868680"/>
            <a:ext cx="10607040" cy="868680"/>
          </a:xfrm>
          <a:prstGeom prst="rect">
            <a:avLst/>
          </a:prstGeom>
          <a:noFill/>
          <a:ln/>
        </p:spPr>
        <p:txBody>
          <a:bodyPr wrap="square" lIns="0" tIns="0" rIns="0" bIns="0" rtlCol="0" anchor="t"/>
          <a:lstStyle/>
          <a:p>
            <a:pPr algn="l" indent="0" marL="0">
              <a:buNone/>
            </a:pPr>
            <a:r>
              <a:rPr lang="en-US" sz="3000" dirty="0">
                <a:solidFill>
                  <a:schemeClr val="bg1"/>
                </a:solidFill>
                <a:latin typeface="Outfit" pitchFamily="34" charset="0"/>
                <a:ea typeface="Outfit" pitchFamily="34" charset="-122"/>
                <a:cs typeface="Outfit" pitchFamily="34" charset="-120"/>
              </a:rPr>
              <a:t>From scattered paper to one registry</a:t>
            </a:r>
            <a:endParaRPr lang="en-US" sz="3000" dirty="0"/>
          </a:p>
        </p:txBody>
      </p:sp>
      <p:sp>
        <p:nvSpPr>
          <p:cNvPr id="5" name="Text"/>
          <p:cNvSpPr txBox="1"/>
          <p:nvPr/>
        </p:nvSpPr>
        <p:spPr>
          <a:xfrm>
            <a:off x="777240" y="1920240"/>
            <a:ext cx="3840480" cy="1188720"/>
          </a:xfrm>
          <a:prstGeom prst="rect">
            <a:avLst/>
          </a:prstGeom>
          <a:noFill/>
          <a:ln/>
        </p:spPr>
        <p:txBody>
          <a:bodyPr wrap="square" lIns="0" tIns="0" rIns="0" bIns="0" rtlCol="0" anchor="t"/>
          <a:lstStyle/>
          <a:p>
            <a:pPr indent="0" marL="0">
              <a:buNone/>
            </a:pPr>
            <a:r>
              <a:rPr lang="en-US" sz="1500" dirty="0">
                <a:solidFill>
                  <a:schemeClr val="accent5"/>
                </a:solidFill>
                <a:latin typeface="Outfit" pitchFamily="34" charset="0"/>
                <a:ea typeface="Outfit" pitchFamily="34" charset="-122"/>
                <a:cs typeface="Outfit" pitchFamily="34" charset="-120"/>
              </a:rPr>
              <a:t>What changes for a small e-bike once it has a plate that opens a record.</a:t>
            </a:r>
            <a:endParaRPr lang="en-US" sz="1500" dirty="0"/>
          </a:p>
        </p:txBody>
      </p:sp>
      <p:graphicFrame>
        <p:nvGraphicFramePr>
          <p:cNvPr id="11" name="Comparison table"/>
          <p:cNvGraphicFramePr>
            <a:graphicFrameLocks noGrp="1"/>
          </p:cNvGraphicFramePr>
          <p:nvPr>
            <p:extLst>
              <p:ext uri="{D42A27DB-BD31-4B8C-83A1-F6EECF244321}">
                <p14:modId xmlns:p14="http://schemas.microsoft.com/office/powerpoint/2010/main" val="1579011935"/>
              </p:ext>
            </p:extLst>
          </p:nvPr>
        </p:nvGraphicFramePr>
        <p:xfrm>
          <a:off x="5120640" y="1783080"/>
          <a:ext cx="6309360" cy="914400"/>
        </p:xfrm>
        <a:graphic>
          <a:graphicData uri="http://schemas.openxmlformats.org/drawingml/2006/table">
            <a:tbl>
              <a:tblPr/>
              <a:tblGrid>
                <a:gridCol w="3383280"/>
                <a:gridCol w="1463040"/>
                <a:gridCol w="1463040"/>
              </a:tblGrid>
              <a:tr h="566928">
                <a:tc>
                  <a:txBody>
                    <a:bodyPr/>
                    <a:lstStyle/>
                    <a:p>
                      <a:pPr algn="l" indent="0" marL="0">
                        <a:buNone/>
                      </a:pPr>
                      <a:r>
                        <a:rPr lang="en-US" sz="1300" b="1" dirty="0">
                          <a:solidFill>
                            <a:srgbClr val="0E3D3A"/>
                          </a:solidFill>
                          <a:latin typeface="Outfit" pitchFamily="34" charset="0"/>
                          <a:ea typeface="Outfit" pitchFamily="34" charset="-122"/>
                          <a:cs typeface="Outfit" pitchFamily="34" charset="-120"/>
                        </a:rPr>
                        <a:t>Feature</a:t>
                      </a:r>
                      <a:endParaRPr lang="en-US" sz="13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DAF5D3"/>
                    </a:solidFill>
                  </a:tcPr>
                </a:tc>
                <a:tc>
                  <a:txBody>
                    <a:bodyPr/>
                    <a:lstStyle/>
                    <a:p>
                      <a:pPr algn="ctr" indent="0" marL="0">
                        <a:buNone/>
                      </a:pPr>
                      <a:r>
                        <a:rPr lang="en-US" sz="1300" b="1" dirty="0">
                          <a:solidFill>
                            <a:srgbClr val="0E3D3A"/>
                          </a:solidFill>
                          <a:latin typeface="Outfit" pitchFamily="34" charset="0"/>
                          <a:ea typeface="Outfit" pitchFamily="34" charset="-122"/>
                          <a:cs typeface="Outfit" pitchFamily="34" charset="-120"/>
                        </a:rPr>
                        <a:t>Paper and memory</a:t>
                      </a:r>
                      <a:endParaRPr lang="en-US" sz="13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DAF5D3"/>
                    </a:solidFill>
                  </a:tcPr>
                </a:tc>
                <a:tc>
                  <a:txBody>
                    <a:bodyPr/>
                    <a:lstStyle/>
                    <a:p>
                      <a:pPr algn="ctr" indent="0" marL="0">
                        <a:buNone/>
                      </a:pPr>
                      <a:r>
                        <a:rPr lang="en-US" sz="1300" b="1" dirty="0">
                          <a:solidFill>
                            <a:srgbClr val="0E3D3A"/>
                          </a:solidFill>
                          <a:latin typeface="Outfit" pitchFamily="34" charset="0"/>
                          <a:ea typeface="Outfit" pitchFamily="34" charset="-122"/>
                          <a:cs typeface="Outfit" pitchFamily="34" charset="-120"/>
                        </a:rPr>
                        <a:t>syfr.live</a:t>
                      </a:r>
                      <a:endParaRPr lang="en-US" sz="13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DAF5D3"/>
                    </a:solidFill>
                  </a:tcPr>
                </a:tc>
              </a:tr>
              <a:tr h="566928">
                <a:tc>
                  <a:txBody>
                    <a:bodyPr/>
                    <a:lstStyle/>
                    <a:p>
                      <a:pPr algn="l" indent="0" marL="0">
                        <a:buNone/>
                      </a:pPr>
                      <a:r>
                        <a:rPr lang="en-US" sz="1400" dirty="0">
                          <a:solidFill>
                            <a:srgbClr val="FFFFFF"/>
                          </a:solidFill>
                          <a:latin typeface="Outfit" pitchFamily="34" charset="0"/>
                          <a:ea typeface="Outfit" pitchFamily="34" charset="-122"/>
                          <a:cs typeface="Outfit" pitchFamily="34" charset="-120"/>
                        </a:rPr>
                        <a:t>Central record of every bike</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F4A3A3"/>
                          </a:solidFill>
                          <a:latin typeface="Outfit" pitchFamily="34" charset="0"/>
                          <a:ea typeface="Outfit" pitchFamily="34" charset="-122"/>
                          <a:cs typeface="Outfit" pitchFamily="34" charset="-120"/>
                        </a:rPr>
                        <a:t>No</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8BE07F"/>
                          </a:solidFill>
                          <a:latin typeface="Outfit" pitchFamily="34" charset="0"/>
                          <a:ea typeface="Outfit" pitchFamily="34" charset="-122"/>
                          <a:cs typeface="Outfit" pitchFamily="34" charset="-120"/>
                        </a:rPr>
                        <a:t>Yes</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r>
              <a:tr h="566928">
                <a:tc>
                  <a:txBody>
                    <a:bodyPr/>
                    <a:lstStyle/>
                    <a:p>
                      <a:pPr algn="l" indent="0" marL="0">
                        <a:buNone/>
                      </a:pPr>
                      <a:r>
                        <a:rPr lang="en-US" sz="1400" dirty="0">
                          <a:solidFill>
                            <a:srgbClr val="FFFFFF"/>
                          </a:solidFill>
                          <a:latin typeface="Outfit" pitchFamily="34" charset="0"/>
                          <a:ea typeface="Outfit" pitchFamily="34" charset="-122"/>
                          <a:cs typeface="Outfit" pitchFamily="34" charset="-120"/>
                        </a:rPr>
                        <a:t>Warranty visible to the owner</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F4A3A3"/>
                          </a:solidFill>
                          <a:latin typeface="Outfit" pitchFamily="34" charset="0"/>
                          <a:ea typeface="Outfit" pitchFamily="34" charset="-122"/>
                          <a:cs typeface="Outfit" pitchFamily="34" charset="-120"/>
                        </a:rPr>
                        <a:t>No</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8BE07F"/>
                          </a:solidFill>
                          <a:latin typeface="Outfit" pitchFamily="34" charset="0"/>
                          <a:ea typeface="Outfit" pitchFamily="34" charset="-122"/>
                          <a:cs typeface="Outfit" pitchFamily="34" charset="-120"/>
                        </a:rPr>
                        <a:t>Yes</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r>
              <a:tr h="566928">
                <a:tc>
                  <a:txBody>
                    <a:bodyPr/>
                    <a:lstStyle/>
                    <a:p>
                      <a:pPr algn="l" indent="0" marL="0">
                        <a:buNone/>
                      </a:pPr>
                      <a:r>
                        <a:rPr lang="en-US" sz="1400" dirty="0">
                          <a:solidFill>
                            <a:srgbClr val="FFFFFF"/>
                          </a:solidFill>
                          <a:latin typeface="Outfit" pitchFamily="34" charset="0"/>
                          <a:ea typeface="Outfit" pitchFamily="34" charset="-122"/>
                          <a:cs typeface="Outfit" pitchFamily="34" charset="-120"/>
                        </a:rPr>
                        <a:t>Part replacement history</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F4A3A3"/>
                          </a:solidFill>
                          <a:latin typeface="Outfit" pitchFamily="34" charset="0"/>
                          <a:ea typeface="Outfit" pitchFamily="34" charset="-122"/>
                          <a:cs typeface="Outfit" pitchFamily="34" charset="-120"/>
                        </a:rPr>
                        <a:t>No</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8BE07F"/>
                          </a:solidFill>
                          <a:latin typeface="Outfit" pitchFamily="34" charset="0"/>
                          <a:ea typeface="Outfit" pitchFamily="34" charset="-122"/>
                          <a:cs typeface="Outfit" pitchFamily="34" charset="-120"/>
                        </a:rPr>
                        <a:t>Yes</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r>
              <a:tr h="566928">
                <a:tc>
                  <a:txBody>
                    <a:bodyPr/>
                    <a:lstStyle/>
                    <a:p>
                      <a:pPr algn="l" indent="0" marL="0">
                        <a:buNone/>
                      </a:pPr>
                      <a:r>
                        <a:rPr lang="en-US" sz="1400" dirty="0">
                          <a:solidFill>
                            <a:srgbClr val="FFFFFF"/>
                          </a:solidFill>
                          <a:latin typeface="Outfit" pitchFamily="34" charset="0"/>
                          <a:ea typeface="Outfit" pitchFamily="34" charset="-122"/>
                          <a:cs typeface="Outfit" pitchFamily="34" charset="-120"/>
                        </a:rPr>
                        <a:t>Live area-wise numbers</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F4A3A3"/>
                          </a:solidFill>
                          <a:latin typeface="Outfit" pitchFamily="34" charset="0"/>
                          <a:ea typeface="Outfit" pitchFamily="34" charset="-122"/>
                          <a:cs typeface="Outfit" pitchFamily="34" charset="-120"/>
                        </a:rPr>
                        <a:t>No</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8BE07F"/>
                          </a:solidFill>
                          <a:latin typeface="Outfit" pitchFamily="34" charset="0"/>
                          <a:ea typeface="Outfit" pitchFamily="34" charset="-122"/>
                          <a:cs typeface="Outfit" pitchFamily="34" charset="-120"/>
                        </a:rPr>
                        <a:t>Yes</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r>
              <a:tr h="566928">
                <a:tc>
                  <a:txBody>
                    <a:bodyPr/>
                    <a:lstStyle/>
                    <a:p>
                      <a:pPr algn="l" indent="0" marL="0">
                        <a:buNone/>
                      </a:pPr>
                      <a:r>
                        <a:rPr lang="en-US" sz="1400" dirty="0">
                          <a:solidFill>
                            <a:srgbClr val="FFFFFF"/>
                          </a:solidFill>
                          <a:latin typeface="Outfit" pitchFamily="34" charset="0"/>
                          <a:ea typeface="Outfit" pitchFamily="34" charset="-122"/>
                          <a:cs typeface="Outfit" pitchFamily="34" charset="-120"/>
                        </a:rPr>
                        <a:t>Plate that opens the record</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F4A3A3"/>
                          </a:solidFill>
                          <a:latin typeface="Outfit" pitchFamily="34" charset="0"/>
                          <a:ea typeface="Outfit" pitchFamily="34" charset="-122"/>
                          <a:cs typeface="Outfit" pitchFamily="34" charset="-120"/>
                        </a:rPr>
                        <a:t>No</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c>
                  <a:txBody>
                    <a:bodyPr/>
                    <a:lstStyle/>
                    <a:p>
                      <a:pPr algn="ctr" indent="0" marL="0">
                        <a:buNone/>
                      </a:pPr>
                      <a:r>
                        <a:rPr lang="en-US" sz="1400" b="1" dirty="0">
                          <a:solidFill>
                            <a:srgbClr val="8BE07F"/>
                          </a:solidFill>
                          <a:latin typeface="Outfit" pitchFamily="34" charset="0"/>
                          <a:ea typeface="Outfit" pitchFamily="34" charset="-122"/>
                          <a:cs typeface="Outfit" pitchFamily="34" charset="-120"/>
                        </a:rPr>
                        <a:t>Yes</a:t>
                      </a:r>
                      <a:endParaRPr lang="en-US" sz="1400" dirty="0">
                        <a:latin typeface="Outfit" charset="0"/>
                        <a:ea typeface="Outfit" charset="0"/>
                        <a:cs typeface="Outfit" charset="0"/>
                      </a:endParaRPr>
                    </a:p>
                  </a:txBody>
                  <a:tcPr marL="137160" marR="137160" marT="0" marB="0" anchor="ctr">
                    <a:lnL w="9525" cap="flat" cmpd="sng" algn="ctr">
                      <a:solidFill>
                        <a:srgbClr val="1F5C57"/>
                      </a:solidFill>
                      <a:prstDash val="solid"/>
                      <a:round/>
                      <a:headEnd type="none" w="med" len="med"/>
                      <a:tailEnd type="none" w="med" len="med"/>
                    </a:lnL>
                    <a:lnR w="9525" cap="flat" cmpd="sng" algn="ctr">
                      <a:solidFill>
                        <a:srgbClr val="1F5C57"/>
                      </a:solidFill>
                      <a:prstDash val="solid"/>
                      <a:round/>
                      <a:headEnd type="none" w="med" len="med"/>
                      <a:tailEnd type="none" w="med" len="med"/>
                    </a:lnR>
                    <a:lnT w="9525" cap="flat" cmpd="sng" algn="ctr">
                      <a:solidFill>
                        <a:srgbClr val="1F5C57"/>
                      </a:solidFill>
                      <a:prstDash val="solid"/>
                      <a:round/>
                      <a:headEnd type="none" w="med" len="med"/>
                      <a:tailEnd type="none" w="med" len="med"/>
                    </a:lnT>
                    <a:lnB w="9525" cap="flat" cmpd="sng" algn="ctr">
                      <a:solidFill>
                        <a:srgbClr val="1F5C57"/>
                      </a:solidFill>
                      <a:prstDash val="solid"/>
                      <a:round/>
                      <a:headEnd type="none" w="med" len="med"/>
                      <a:tailEnd type="none" w="med" len="med"/>
                    </a:lnB>
                    <a:solidFill>
                      <a:srgbClr val="0E3D3A"/>
                    </a:solidFill>
                  </a:tcPr>
                </a:tc>
              </a:tr>
            </a:tbl>
          </a:graphicData>
        </a:graphic>
      </p:graphicFrame>
      <p:sp>
        <p:nvSpPr>
          <p:cNvPr id="7" name="Callout"/>
          <p:cNvSpPr/>
          <p:nvPr/>
        </p:nvSpPr>
        <p:spPr>
          <a:xfrm>
            <a:off x="5120640" y="5486400"/>
            <a:ext cx="6309360" cy="548640"/>
          </a:xfrm>
          <a:prstGeom prst="roundRect">
            <a:avLst>
              <a:gd name="adj" fmla="val 20000"/>
            </a:avLst>
          </a:prstGeom>
          <a:solidFill>
            <a:schemeClr val="accent4"/>
          </a:solidFill>
          <a:ln/>
        </p:spPr>
      </p:sp>
      <p:sp>
        <p:nvSpPr>
          <p:cNvPr id="8" name="Text"/>
          <p:cNvSpPr txBox="1"/>
          <p:nvPr/>
        </p:nvSpPr>
        <p:spPr>
          <a:xfrm>
            <a:off x="5120640" y="5486400"/>
            <a:ext cx="6309360" cy="548640"/>
          </a:xfrm>
          <a:prstGeom prst="rect">
            <a:avLst/>
          </a:prstGeom>
          <a:noFill/>
          <a:ln/>
        </p:spPr>
        <p:txBody>
          <a:bodyPr wrap="square" lIns="0" tIns="0" rIns="0" bIns="0" rtlCol="0" anchor="ctr"/>
          <a:lstStyle/>
          <a:p>
            <a:pPr algn="ctr" indent="0" marL="0">
              <a:buNone/>
            </a:pPr>
            <a:r>
              <a:rPr lang="en-US" sz="1400" i="1" dirty="0">
                <a:solidFill>
                  <a:schemeClr val="accent5"/>
                </a:solidFill>
                <a:latin typeface="Outfit" pitchFamily="34" charset="0"/>
                <a:ea typeface="Outfit" pitchFamily="34" charset="-122"/>
                <a:cs typeface="Outfit" pitchFamily="34" charset="-120"/>
              </a:rPr>
              <a:t>One record that company, dealer and owner can all read.</a:t>
            </a:r>
            <a:endParaRPr lang="en-US" sz="14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Outfit"/>
                <a:ea typeface="Outfit"/>
                <a:cs typeface="Outfi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ill"/>
          <p:cNvSpPr/>
          <p:nvPr/>
        </p:nvSpPr>
        <p:spPr>
          <a:xfrm>
            <a:off x="5561838" y="502920"/>
            <a:ext cx="1065276" cy="274320"/>
          </a:xfrm>
          <a:prstGeom prst="roundRect">
            <a:avLst>
              <a:gd name="adj" fmla="val 50000"/>
            </a:avLst>
          </a:prstGeom>
          <a:solidFill>
            <a:schemeClr val="accent1"/>
          </a:solidFill>
          <a:ln/>
        </p:spPr>
      </p:sp>
      <p:sp>
        <p:nvSpPr>
          <p:cNvPr id="3" name="Tag: Roadmap"/>
          <p:cNvSpPr txBox="1"/>
          <p:nvPr/>
        </p:nvSpPr>
        <p:spPr>
          <a:xfrm>
            <a:off x="5561838" y="502920"/>
            <a:ext cx="1065276"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ROADMAP</a:t>
            </a:r>
            <a:endParaRPr lang="en-US" sz="1000" dirty="0"/>
          </a:p>
        </p:txBody>
      </p:sp>
      <p:sp>
        <p:nvSpPr>
          <p:cNvPr id="4" name="Text 0"/>
          <p:cNvSpPr/>
          <p:nvPr>
            <p:ph idx="100" type="title" hasCustomPrompt="1"/>
          </p:nvPr>
        </p:nvSpPr>
        <p:spPr>
          <a:xfrm>
            <a:off x="777240" y="868680"/>
            <a:ext cx="10634472" cy="868680"/>
          </a:xfrm>
          <a:prstGeom prst="rect">
            <a:avLst/>
          </a:prstGeom>
          <a:noFill/>
          <a:ln/>
        </p:spPr>
        <p:txBody>
          <a:bodyPr wrap="square" lIns="0" tIns="0" rIns="0" bIns="0" rtlCol="0" anchor="t"/>
          <a:lstStyle/>
          <a:p>
            <a:pPr algn="ctr" indent="0" marL="0">
              <a:buNone/>
            </a:pPr>
            <a:r>
              <a:rPr lang="en-US" sz="3000" dirty="0">
                <a:solidFill>
                  <a:schemeClr val="tx1"/>
                </a:solidFill>
                <a:latin typeface="Outfit" pitchFamily="34" charset="0"/>
                <a:ea typeface="Outfit" pitchFamily="34" charset="-122"/>
                <a:cs typeface="Outfit" pitchFamily="34" charset="-120"/>
              </a:rPr>
              <a:t>What is built, and what comes next</a:t>
            </a:r>
            <a:endParaRPr lang="en-US" sz="3000" dirty="0"/>
          </a:p>
        </p:txBody>
      </p:sp>
      <p:sp>
        <p:nvSpPr>
          <p:cNvPr id="5" name="Timeline line"/>
          <p:cNvSpPr/>
          <p:nvPr/>
        </p:nvSpPr>
        <p:spPr>
          <a:xfrm>
            <a:off x="1663446" y="3291840"/>
            <a:ext cx="8862060" cy="0"/>
          </a:xfrm>
          <a:prstGeom prst="line">
            <a:avLst/>
          </a:prstGeom>
          <a:noFill/>
          <a:ln w="25400">
            <a:solidFill>
              <a:schemeClr val="accent1"/>
            </a:solidFill>
            <a:prstDash val="solid"/>
          </a:ln>
        </p:spPr>
      </p:sp>
      <p:sp>
        <p:nvSpPr>
          <p:cNvPr id="6" name="Text"/>
          <p:cNvSpPr txBox="1"/>
          <p:nvPr/>
        </p:nvSpPr>
        <p:spPr>
          <a:xfrm>
            <a:off x="777240" y="2240280"/>
            <a:ext cx="1772412" cy="228600"/>
          </a:xfrm>
          <a:prstGeom prst="rect">
            <a:avLst/>
          </a:prstGeom>
          <a:noFill/>
          <a:ln/>
        </p:spPr>
        <p:txBody>
          <a:bodyPr wrap="square" lIns="0" tIns="0" rIns="0" bIns="0" rtlCol="0" anchor="t"/>
          <a:lstStyle/>
          <a:p>
            <a:pPr algn="ctr" indent="0" marL="0">
              <a:buNone/>
            </a:pPr>
            <a:r>
              <a:rPr lang="en-US" sz="1000" b="1" spc="100" kern="0" dirty="0">
                <a:solidFill>
                  <a:schemeClr val="accent2"/>
                </a:solidFill>
                <a:latin typeface="Outfit" pitchFamily="34" charset="0"/>
                <a:ea typeface="Outfit" pitchFamily="34" charset="-122"/>
                <a:cs typeface="Outfit" pitchFamily="34" charset="-120"/>
              </a:rPr>
              <a:t>BUILT</a:t>
            </a:r>
            <a:endParaRPr lang="en-US" sz="1000" dirty="0"/>
          </a:p>
        </p:txBody>
      </p:sp>
      <p:sp>
        <p:nvSpPr>
          <p:cNvPr id="7" name="Node 1"/>
          <p:cNvSpPr/>
          <p:nvPr/>
        </p:nvSpPr>
        <p:spPr>
          <a:xfrm>
            <a:off x="1389126" y="3017520"/>
            <a:ext cx="548640" cy="548640"/>
          </a:xfrm>
          <a:prstGeom prst="ellipse">
            <a:avLst/>
          </a:prstGeom>
          <a:solidFill>
            <a:schemeClr val="accent1"/>
          </a:solidFill>
          <a:ln w="25400">
            <a:solidFill>
              <a:schemeClr val="accent1"/>
            </a:solidFill>
            <a:prstDash val="solid"/>
          </a:ln>
        </p:spPr>
      </p:sp>
      <p:pic>
        <p:nvPicPr>
          <p:cNvPr id="8" name="Done 1" descr="Done 1">    </p:cNvPr>
          <p:cNvPicPr>
            <a:picLocks noChangeAspect="1"/>
          </p:cNvPicPr>
          <p:nvPr/>
        </p:nvPicPr>
        <p:blipFill>
          <a:blip r:embed="rId1"/>
          <a:stretch>
            <a:fillRect/>
          </a:stretch>
        </p:blipFill>
        <p:spPr>
          <a:xfrm>
            <a:off x="1517142" y="3145536"/>
            <a:ext cx="292608" cy="292608"/>
          </a:xfrm>
          <a:prstGeom prst="rect">
            <a:avLst/>
          </a:prstGeom>
        </p:spPr>
      </p:pic>
      <p:sp>
        <p:nvSpPr>
          <p:cNvPr id="9" name="Text"/>
          <p:cNvSpPr txBox="1"/>
          <p:nvPr/>
        </p:nvSpPr>
        <p:spPr>
          <a:xfrm>
            <a:off x="850392" y="3840480"/>
            <a:ext cx="1626108" cy="54864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Demo UI</a:t>
            </a:r>
            <a:endParaRPr lang="en-US" sz="1400" dirty="0"/>
          </a:p>
        </p:txBody>
      </p:sp>
      <p:sp>
        <p:nvSpPr>
          <p:cNvPr id="10" name="Text"/>
          <p:cNvSpPr txBox="1"/>
          <p:nvPr/>
        </p:nvSpPr>
        <p:spPr>
          <a:xfrm>
            <a:off x="868680" y="4434840"/>
            <a:ext cx="1589532" cy="109728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Three role views with sample data</a:t>
            </a:r>
            <a:endParaRPr lang="en-US" sz="1200" dirty="0"/>
          </a:p>
        </p:txBody>
      </p:sp>
      <p:sp>
        <p:nvSpPr>
          <p:cNvPr id="11" name="Text"/>
          <p:cNvSpPr txBox="1"/>
          <p:nvPr/>
        </p:nvSpPr>
        <p:spPr>
          <a:xfrm>
            <a:off x="2549652" y="2240280"/>
            <a:ext cx="1772412" cy="228600"/>
          </a:xfrm>
          <a:prstGeom prst="rect">
            <a:avLst/>
          </a:prstGeom>
          <a:noFill/>
          <a:ln/>
        </p:spPr>
        <p:txBody>
          <a:bodyPr wrap="square" lIns="0" tIns="0" rIns="0" bIns="0" rtlCol="0" anchor="t"/>
          <a:lstStyle/>
          <a:p>
            <a:pPr algn="ctr" indent="0" marL="0">
              <a:buNone/>
            </a:pPr>
            <a:r>
              <a:rPr lang="en-US" sz="1000" b="1" spc="100" kern="0" dirty="0">
                <a:solidFill>
                  <a:schemeClr val="accent2"/>
                </a:solidFill>
                <a:latin typeface="Outfit" pitchFamily="34" charset="0"/>
                <a:ea typeface="Outfit" pitchFamily="34" charset="-122"/>
                <a:cs typeface="Outfit" pitchFamily="34" charset="-120"/>
              </a:rPr>
              <a:t>BUILT</a:t>
            </a:r>
            <a:endParaRPr lang="en-US" sz="1000" dirty="0"/>
          </a:p>
        </p:txBody>
      </p:sp>
      <p:sp>
        <p:nvSpPr>
          <p:cNvPr id="12" name="Node 2"/>
          <p:cNvSpPr/>
          <p:nvPr/>
        </p:nvSpPr>
        <p:spPr>
          <a:xfrm>
            <a:off x="3161538" y="3017520"/>
            <a:ext cx="548640" cy="548640"/>
          </a:xfrm>
          <a:prstGeom prst="ellipse">
            <a:avLst/>
          </a:prstGeom>
          <a:solidFill>
            <a:schemeClr val="accent1"/>
          </a:solidFill>
          <a:ln w="25400">
            <a:solidFill>
              <a:schemeClr val="accent1"/>
            </a:solidFill>
            <a:prstDash val="solid"/>
          </a:ln>
        </p:spPr>
      </p:sp>
      <p:pic>
        <p:nvPicPr>
          <p:cNvPr id="13" name="Done 2" descr="Done 2">    </p:cNvPr>
          <p:cNvPicPr>
            <a:picLocks noChangeAspect="1"/>
          </p:cNvPicPr>
          <p:nvPr/>
        </p:nvPicPr>
        <p:blipFill>
          <a:blip r:embed="rId2"/>
          <a:stretch>
            <a:fillRect/>
          </a:stretch>
        </p:blipFill>
        <p:spPr>
          <a:xfrm>
            <a:off x="3289554" y="3145536"/>
            <a:ext cx="292608" cy="292608"/>
          </a:xfrm>
          <a:prstGeom prst="rect">
            <a:avLst/>
          </a:prstGeom>
        </p:spPr>
      </p:pic>
      <p:sp>
        <p:nvSpPr>
          <p:cNvPr id="14" name="Text"/>
          <p:cNvSpPr txBox="1"/>
          <p:nvPr/>
        </p:nvSpPr>
        <p:spPr>
          <a:xfrm>
            <a:off x="2622804" y="3840480"/>
            <a:ext cx="1626108" cy="54864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QR plate and scan</a:t>
            </a:r>
            <a:endParaRPr lang="en-US" sz="1400" dirty="0"/>
          </a:p>
        </p:txBody>
      </p:sp>
      <p:sp>
        <p:nvSpPr>
          <p:cNvPr id="15" name="Text"/>
          <p:cNvSpPr txBox="1"/>
          <p:nvPr/>
        </p:nvSpPr>
        <p:spPr>
          <a:xfrm>
            <a:off x="2641092" y="4434840"/>
            <a:ext cx="1589532" cy="109728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Logo and QR on the plate, camera or photo scan</a:t>
            </a:r>
            <a:endParaRPr lang="en-US" sz="1200" dirty="0"/>
          </a:p>
        </p:txBody>
      </p:sp>
      <p:sp>
        <p:nvSpPr>
          <p:cNvPr id="16" name="Text"/>
          <p:cNvSpPr txBox="1"/>
          <p:nvPr/>
        </p:nvSpPr>
        <p:spPr>
          <a:xfrm>
            <a:off x="4322064" y="2240280"/>
            <a:ext cx="1772412" cy="228600"/>
          </a:xfrm>
          <a:prstGeom prst="rect">
            <a:avLst/>
          </a:prstGeom>
          <a:noFill/>
          <a:ln/>
        </p:spPr>
        <p:txBody>
          <a:bodyPr wrap="square" lIns="0" tIns="0" rIns="0" bIns="0" rtlCol="0" anchor="t"/>
          <a:lstStyle/>
          <a:p>
            <a:pPr algn="ctr" indent="0" marL="0">
              <a:buNone/>
            </a:pPr>
            <a:r>
              <a:rPr lang="en-US" sz="1000" b="1" spc="100" kern="0" dirty="0">
                <a:solidFill>
                  <a:schemeClr val="accent6"/>
                </a:solidFill>
                <a:latin typeface="Outfit" pitchFamily="34" charset="0"/>
                <a:ea typeface="Outfit" pitchFamily="34" charset="-122"/>
                <a:cs typeface="Outfit" pitchFamily="34" charset="-120"/>
              </a:rPr>
              <a:t>PROPOSED</a:t>
            </a:r>
            <a:endParaRPr lang="en-US" sz="1000" dirty="0"/>
          </a:p>
        </p:txBody>
      </p:sp>
      <p:sp>
        <p:nvSpPr>
          <p:cNvPr id="17" name="Node 3"/>
          <p:cNvSpPr/>
          <p:nvPr/>
        </p:nvSpPr>
        <p:spPr>
          <a:xfrm>
            <a:off x="4933950" y="3017520"/>
            <a:ext cx="548640" cy="548640"/>
          </a:xfrm>
          <a:prstGeom prst="ellipse">
            <a:avLst/>
          </a:prstGeom>
          <a:solidFill>
            <a:schemeClr val="bg2"/>
          </a:solidFill>
          <a:ln w="25400">
            <a:solidFill>
              <a:schemeClr val="accent1"/>
            </a:solidFill>
            <a:prstDash val="solid"/>
          </a:ln>
        </p:spPr>
      </p:sp>
      <p:sp>
        <p:nvSpPr>
          <p:cNvPr id="18" name="Text"/>
          <p:cNvSpPr txBox="1"/>
          <p:nvPr/>
        </p:nvSpPr>
        <p:spPr>
          <a:xfrm>
            <a:off x="4933950" y="301752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3</a:t>
            </a:r>
            <a:endParaRPr lang="en-US" sz="1400" dirty="0"/>
          </a:p>
        </p:txBody>
      </p:sp>
      <p:sp>
        <p:nvSpPr>
          <p:cNvPr id="19" name="Text"/>
          <p:cNvSpPr txBox="1"/>
          <p:nvPr/>
        </p:nvSpPr>
        <p:spPr>
          <a:xfrm>
            <a:off x="4395216" y="3840480"/>
            <a:ext cx="1626108" cy="54864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Backend</a:t>
            </a:r>
            <a:endParaRPr lang="en-US" sz="1400" dirty="0"/>
          </a:p>
        </p:txBody>
      </p:sp>
      <p:sp>
        <p:nvSpPr>
          <p:cNvPr id="20" name="Text"/>
          <p:cNvSpPr txBox="1"/>
          <p:nvPr/>
        </p:nvSpPr>
        <p:spPr>
          <a:xfrm>
            <a:off x="4413504" y="4434840"/>
            <a:ext cx="1589532" cy="109728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Real database and API behind the screens</a:t>
            </a:r>
            <a:endParaRPr lang="en-US" sz="1200" dirty="0"/>
          </a:p>
        </p:txBody>
      </p:sp>
      <p:sp>
        <p:nvSpPr>
          <p:cNvPr id="21" name="Text"/>
          <p:cNvSpPr txBox="1"/>
          <p:nvPr/>
        </p:nvSpPr>
        <p:spPr>
          <a:xfrm>
            <a:off x="6094476" y="2240280"/>
            <a:ext cx="1772412" cy="228600"/>
          </a:xfrm>
          <a:prstGeom prst="rect">
            <a:avLst/>
          </a:prstGeom>
          <a:noFill/>
          <a:ln/>
        </p:spPr>
        <p:txBody>
          <a:bodyPr wrap="square" lIns="0" tIns="0" rIns="0" bIns="0" rtlCol="0" anchor="t"/>
          <a:lstStyle/>
          <a:p>
            <a:pPr algn="ctr" indent="0" marL="0">
              <a:buNone/>
            </a:pPr>
            <a:r>
              <a:rPr lang="en-US" sz="1000" b="1" spc="100" kern="0" dirty="0">
                <a:solidFill>
                  <a:schemeClr val="accent6"/>
                </a:solidFill>
                <a:latin typeface="Outfit" pitchFamily="34" charset="0"/>
                <a:ea typeface="Outfit" pitchFamily="34" charset="-122"/>
                <a:cs typeface="Outfit" pitchFamily="34" charset="-120"/>
              </a:rPr>
              <a:t>PROPOSED</a:t>
            </a:r>
            <a:endParaRPr lang="en-US" sz="1000" dirty="0"/>
          </a:p>
        </p:txBody>
      </p:sp>
      <p:sp>
        <p:nvSpPr>
          <p:cNvPr id="22" name="Node 4"/>
          <p:cNvSpPr/>
          <p:nvPr/>
        </p:nvSpPr>
        <p:spPr>
          <a:xfrm>
            <a:off x="6706362" y="3017520"/>
            <a:ext cx="548640" cy="548640"/>
          </a:xfrm>
          <a:prstGeom prst="ellipse">
            <a:avLst/>
          </a:prstGeom>
          <a:solidFill>
            <a:schemeClr val="bg2"/>
          </a:solidFill>
          <a:ln w="25400">
            <a:solidFill>
              <a:schemeClr val="accent1"/>
            </a:solidFill>
            <a:prstDash val="solid"/>
          </a:ln>
        </p:spPr>
      </p:sp>
      <p:sp>
        <p:nvSpPr>
          <p:cNvPr id="23" name="Text"/>
          <p:cNvSpPr txBox="1"/>
          <p:nvPr/>
        </p:nvSpPr>
        <p:spPr>
          <a:xfrm>
            <a:off x="6706362" y="301752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4</a:t>
            </a:r>
            <a:endParaRPr lang="en-US" sz="1400" dirty="0"/>
          </a:p>
        </p:txBody>
      </p:sp>
      <p:sp>
        <p:nvSpPr>
          <p:cNvPr id="24" name="Text"/>
          <p:cNvSpPr txBox="1"/>
          <p:nvPr/>
        </p:nvSpPr>
        <p:spPr>
          <a:xfrm>
            <a:off x="6167628" y="3840480"/>
            <a:ext cx="1626108" cy="54864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Sign-in</a:t>
            </a:r>
            <a:endParaRPr lang="en-US" sz="1400" dirty="0"/>
          </a:p>
        </p:txBody>
      </p:sp>
      <p:sp>
        <p:nvSpPr>
          <p:cNvPr id="25" name="Text"/>
          <p:cNvSpPr txBox="1"/>
          <p:nvPr/>
        </p:nvSpPr>
        <p:spPr>
          <a:xfrm>
            <a:off x="6185916" y="4434840"/>
            <a:ext cx="1589532" cy="109728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Role login, with OTP for owners</a:t>
            </a:r>
            <a:endParaRPr lang="en-US" sz="1200" dirty="0"/>
          </a:p>
        </p:txBody>
      </p:sp>
      <p:sp>
        <p:nvSpPr>
          <p:cNvPr id="26" name="Text"/>
          <p:cNvSpPr txBox="1"/>
          <p:nvPr/>
        </p:nvSpPr>
        <p:spPr>
          <a:xfrm>
            <a:off x="7866888" y="2240280"/>
            <a:ext cx="1772412" cy="228600"/>
          </a:xfrm>
          <a:prstGeom prst="rect">
            <a:avLst/>
          </a:prstGeom>
          <a:noFill/>
          <a:ln/>
        </p:spPr>
        <p:txBody>
          <a:bodyPr wrap="square" lIns="0" tIns="0" rIns="0" bIns="0" rtlCol="0" anchor="t"/>
          <a:lstStyle/>
          <a:p>
            <a:pPr algn="ctr" indent="0" marL="0">
              <a:buNone/>
            </a:pPr>
            <a:r>
              <a:rPr lang="en-US" sz="1000" b="1" spc="100" kern="0" dirty="0">
                <a:solidFill>
                  <a:schemeClr val="accent6"/>
                </a:solidFill>
                <a:latin typeface="Outfit" pitchFamily="34" charset="0"/>
                <a:ea typeface="Outfit" pitchFamily="34" charset="-122"/>
                <a:cs typeface="Outfit" pitchFamily="34" charset="-120"/>
              </a:rPr>
              <a:t>PROPOSED</a:t>
            </a:r>
            <a:endParaRPr lang="en-US" sz="1000" dirty="0"/>
          </a:p>
        </p:txBody>
      </p:sp>
      <p:sp>
        <p:nvSpPr>
          <p:cNvPr id="27" name="Node 5"/>
          <p:cNvSpPr/>
          <p:nvPr/>
        </p:nvSpPr>
        <p:spPr>
          <a:xfrm>
            <a:off x="8478774" y="3017520"/>
            <a:ext cx="548640" cy="548640"/>
          </a:xfrm>
          <a:prstGeom prst="ellipse">
            <a:avLst/>
          </a:prstGeom>
          <a:solidFill>
            <a:schemeClr val="bg2"/>
          </a:solidFill>
          <a:ln w="25400">
            <a:solidFill>
              <a:schemeClr val="accent1"/>
            </a:solidFill>
            <a:prstDash val="solid"/>
          </a:ln>
        </p:spPr>
      </p:sp>
      <p:sp>
        <p:nvSpPr>
          <p:cNvPr id="28" name="Text"/>
          <p:cNvSpPr txBox="1"/>
          <p:nvPr/>
        </p:nvSpPr>
        <p:spPr>
          <a:xfrm>
            <a:off x="8478774" y="301752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5</a:t>
            </a:r>
            <a:endParaRPr lang="en-US" sz="1400" dirty="0"/>
          </a:p>
        </p:txBody>
      </p:sp>
      <p:sp>
        <p:nvSpPr>
          <p:cNvPr id="29" name="Text"/>
          <p:cNvSpPr txBox="1"/>
          <p:nvPr/>
        </p:nvSpPr>
        <p:spPr>
          <a:xfrm>
            <a:off x="7940040" y="3840480"/>
            <a:ext cx="1626108" cy="54864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Dealer rollout</a:t>
            </a:r>
            <a:endParaRPr lang="en-US" sz="1400" dirty="0"/>
          </a:p>
        </p:txBody>
      </p:sp>
      <p:sp>
        <p:nvSpPr>
          <p:cNvPr id="30" name="Text"/>
          <p:cNvSpPr txBox="1"/>
          <p:nvPr/>
        </p:nvSpPr>
        <p:spPr>
          <a:xfrm>
            <a:off x="7958328" y="4434840"/>
            <a:ext cx="1589532" cy="109728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Onboarding and bulk QR plate printing</a:t>
            </a:r>
            <a:endParaRPr lang="en-US" sz="1200" dirty="0"/>
          </a:p>
        </p:txBody>
      </p:sp>
      <p:sp>
        <p:nvSpPr>
          <p:cNvPr id="31" name="Text"/>
          <p:cNvSpPr txBox="1"/>
          <p:nvPr/>
        </p:nvSpPr>
        <p:spPr>
          <a:xfrm>
            <a:off x="9639300" y="2240280"/>
            <a:ext cx="1772412" cy="228600"/>
          </a:xfrm>
          <a:prstGeom prst="rect">
            <a:avLst/>
          </a:prstGeom>
          <a:noFill/>
          <a:ln/>
        </p:spPr>
        <p:txBody>
          <a:bodyPr wrap="square" lIns="0" tIns="0" rIns="0" bIns="0" rtlCol="0" anchor="t"/>
          <a:lstStyle/>
          <a:p>
            <a:pPr algn="ctr" indent="0" marL="0">
              <a:buNone/>
            </a:pPr>
            <a:r>
              <a:rPr lang="en-US" sz="1000" b="1" spc="100" kern="0" dirty="0">
                <a:solidFill>
                  <a:schemeClr val="accent6"/>
                </a:solidFill>
                <a:latin typeface="Outfit" pitchFamily="34" charset="0"/>
                <a:ea typeface="Outfit" pitchFamily="34" charset="-122"/>
                <a:cs typeface="Outfit" pitchFamily="34" charset="-120"/>
              </a:rPr>
              <a:t>PROPOSED</a:t>
            </a:r>
            <a:endParaRPr lang="en-US" sz="1000" dirty="0"/>
          </a:p>
        </p:txBody>
      </p:sp>
      <p:sp>
        <p:nvSpPr>
          <p:cNvPr id="32" name="Node 6"/>
          <p:cNvSpPr/>
          <p:nvPr/>
        </p:nvSpPr>
        <p:spPr>
          <a:xfrm>
            <a:off x="10251186" y="3017520"/>
            <a:ext cx="548640" cy="548640"/>
          </a:xfrm>
          <a:prstGeom prst="ellipse">
            <a:avLst/>
          </a:prstGeom>
          <a:solidFill>
            <a:schemeClr val="bg2"/>
          </a:solidFill>
          <a:ln w="25400">
            <a:solidFill>
              <a:schemeClr val="accent1"/>
            </a:solidFill>
            <a:prstDash val="solid"/>
          </a:ln>
        </p:spPr>
      </p:sp>
      <p:sp>
        <p:nvSpPr>
          <p:cNvPr id="33" name="Text"/>
          <p:cNvSpPr txBox="1"/>
          <p:nvPr/>
        </p:nvSpPr>
        <p:spPr>
          <a:xfrm>
            <a:off x="10251186" y="301752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Outfit" pitchFamily="34" charset="0"/>
                <a:ea typeface="Outfit" pitchFamily="34" charset="-122"/>
                <a:cs typeface="Outfit" pitchFamily="34" charset="-120"/>
              </a:rPr>
              <a:t>6</a:t>
            </a:r>
            <a:endParaRPr lang="en-US" sz="1400" dirty="0"/>
          </a:p>
        </p:txBody>
      </p:sp>
      <p:sp>
        <p:nvSpPr>
          <p:cNvPr id="34" name="Text"/>
          <p:cNvSpPr txBox="1"/>
          <p:nvPr/>
        </p:nvSpPr>
        <p:spPr>
          <a:xfrm>
            <a:off x="9712452" y="3840480"/>
            <a:ext cx="1626108" cy="548640"/>
          </a:xfrm>
          <a:prstGeom prst="rect">
            <a:avLst/>
          </a:prstGeom>
          <a:noFill/>
          <a:ln/>
        </p:spPr>
        <p:txBody>
          <a:bodyPr wrap="square" lIns="0" tIns="0" rIns="0" bIns="0" rtlCol="0" anchor="t"/>
          <a:lstStyle/>
          <a:p>
            <a:pPr algn="ctr" indent="0" marL="0">
              <a:buNone/>
            </a:pPr>
            <a:r>
              <a:rPr lang="en-US" sz="1400" b="1" dirty="0">
                <a:solidFill>
                  <a:schemeClr val="tx1"/>
                </a:solidFill>
                <a:latin typeface="Outfit" pitchFamily="34" charset="0"/>
                <a:ea typeface="Outfit" pitchFamily="34" charset="-122"/>
                <a:cs typeface="Outfit" pitchFamily="34" charset="-120"/>
              </a:rPr>
              <a:t>Reminders and claims</a:t>
            </a:r>
            <a:endParaRPr lang="en-US" sz="1400" dirty="0"/>
          </a:p>
        </p:txBody>
      </p:sp>
      <p:sp>
        <p:nvSpPr>
          <p:cNvPr id="35" name="Text"/>
          <p:cNvSpPr txBox="1"/>
          <p:nvPr/>
        </p:nvSpPr>
        <p:spPr>
          <a:xfrm>
            <a:off x="9730740" y="4434840"/>
            <a:ext cx="1589532" cy="1097280"/>
          </a:xfrm>
          <a:prstGeom prst="rect">
            <a:avLst/>
          </a:prstGeom>
          <a:noFill/>
          <a:ln/>
        </p:spPr>
        <p:txBody>
          <a:bodyPr wrap="square" lIns="0" tIns="0" rIns="0" bIns="0" rtlCol="0" anchor="t"/>
          <a:lstStyle/>
          <a:p>
            <a:pPr algn="ctr" indent="0" marL="0">
              <a:buNone/>
            </a:pPr>
            <a:r>
              <a:rPr lang="en-US" sz="1200" dirty="0">
                <a:solidFill>
                  <a:schemeClr val="accent6"/>
                </a:solidFill>
                <a:latin typeface="Outfit" pitchFamily="34" charset="0"/>
                <a:ea typeface="Outfit" pitchFamily="34" charset="-122"/>
                <a:cs typeface="Outfit" pitchFamily="34" charset="-120"/>
              </a:rPr>
              <a:t>SMS or WhatsApp alerts, claim workflow</a:t>
            </a:r>
            <a:endParaRPr lang="en-US" sz="1200" dirty="0"/>
          </a:p>
        </p:txBody>
      </p:sp>
      <p:sp>
        <p:nvSpPr>
          <p:cNvPr id="25" name="Slide Number Placeholder 0"/>
          <p:cNvSpPr>
            <a:spLocks noGrp="1"/>
          </p:cNvSpPr>
          <p:nvPr>
            <p:ph type="sldNum" sz="quarter" idx="4294967295"/>
          </p:nvPr>
        </p:nvSpPr>
        <p:spPr>
          <a:xfrm>
            <a:off x="10863072"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Outfit"/>
                <a:ea typeface="Outfit"/>
                <a:cs typeface="Outfi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Closing panel" descr="Plate and scan screen">    </p:cNvPr>
          <p:cNvPicPr>
            <a:picLocks noChangeAspect="1"/>
          </p:cNvPicPr>
          <p:nvPr/>
        </p:nvPicPr>
        <p:blipFill>
          <a:blip r:embed="rId1"/>
          <a:stretch>
            <a:fillRect/>
          </a:stretch>
        </p:blipFill>
        <p:spPr>
          <a:xfrm>
            <a:off x="777240" y="548640"/>
            <a:ext cx="4937760" cy="5760720"/>
          </a:xfrm>
          <a:prstGeom prst="rect">
            <a:avLst/>
          </a:prstGeom>
        </p:spPr>
      </p:pic>
      <p:sp>
        <p:nvSpPr>
          <p:cNvPr id="3" name="Tag pill"/>
          <p:cNvSpPr/>
          <p:nvPr/>
        </p:nvSpPr>
        <p:spPr>
          <a:xfrm>
            <a:off x="6309360" y="1097280"/>
            <a:ext cx="978408" cy="274320"/>
          </a:xfrm>
          <a:prstGeom prst="roundRect">
            <a:avLst>
              <a:gd name="adj" fmla="val 50000"/>
            </a:avLst>
          </a:prstGeom>
          <a:solidFill>
            <a:schemeClr val="accent1"/>
          </a:solidFill>
          <a:ln/>
        </p:spPr>
      </p:sp>
      <p:sp>
        <p:nvSpPr>
          <p:cNvPr id="4" name="Tag: Try it"/>
          <p:cNvSpPr txBox="1"/>
          <p:nvPr/>
        </p:nvSpPr>
        <p:spPr>
          <a:xfrm>
            <a:off x="6309360" y="1097280"/>
            <a:ext cx="978408"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latin typeface="Outfit" pitchFamily="34" charset="0"/>
                <a:ea typeface="Outfit" pitchFamily="34" charset="-122"/>
                <a:cs typeface="Outfit" pitchFamily="34" charset="-120"/>
              </a:rPr>
              <a:t>TRY IT</a:t>
            </a:r>
            <a:endParaRPr lang="en-US" sz="1000" dirty="0"/>
          </a:p>
        </p:txBody>
      </p:sp>
      <p:sp>
        <p:nvSpPr>
          <p:cNvPr id="5" name="Text 0"/>
          <p:cNvSpPr/>
          <p:nvPr>
            <p:ph idx="100" type="title" hasCustomPrompt="1"/>
          </p:nvPr>
        </p:nvSpPr>
        <p:spPr>
          <a:xfrm>
            <a:off x="6309360" y="1554480"/>
            <a:ext cx="5120640" cy="2377440"/>
          </a:xfrm>
          <a:prstGeom prst="rect">
            <a:avLst/>
          </a:prstGeom>
          <a:noFill/>
          <a:ln/>
        </p:spPr>
        <p:txBody>
          <a:bodyPr wrap="square" lIns="0" tIns="0" rIns="0" bIns="0" rtlCol="0" anchor="t"/>
          <a:lstStyle/>
          <a:p>
            <a:pPr algn="l" indent="0" marL="0">
              <a:buNone/>
            </a:pPr>
            <a:r>
              <a:rPr lang="en-US" sz="4000" dirty="0">
                <a:solidFill>
                  <a:schemeClr val="tx1"/>
                </a:solidFill>
                <a:latin typeface="Outfit" pitchFamily="34" charset="0"/>
                <a:ea typeface="Outfit" pitchFamily="34" charset="-122"/>
                <a:cs typeface="Outfit" pitchFamily="34" charset="-120"/>
              </a:rPr>
              <a:t>One QR plate.</a:t>
            </a:r>
            <a:endParaRPr lang="en-US" sz="4000" dirty="0"/>
          </a:p>
          <a:p>
            <a:pPr algn="l" indent="0" marL="0">
              <a:buNone/>
            </a:pPr>
            <a:r>
              <a:rPr lang="en-US" sz="4000" dirty="0">
                <a:solidFill>
                  <a:schemeClr val="tx1"/>
                </a:solidFill>
                <a:latin typeface="Outfit" pitchFamily="34" charset="0"/>
                <a:ea typeface="Outfit" pitchFamily="34" charset="-122"/>
                <a:cs typeface="Outfit" pitchFamily="34" charset="-120"/>
              </a:rPr>
              <a:t>One registry.</a:t>
            </a:r>
            <a:endParaRPr lang="en-US" sz="4000" dirty="0"/>
          </a:p>
          <a:p>
            <a:pPr algn="l" indent="0" marL="0">
              <a:buNone/>
            </a:pPr>
            <a:r>
              <a:rPr lang="en-US" sz="4000" dirty="0">
                <a:solidFill>
                  <a:schemeClr val="accent2"/>
                </a:solidFill>
                <a:latin typeface="Outfit" pitchFamily="34" charset="0"/>
                <a:ea typeface="Outfit" pitchFamily="34" charset="-122"/>
                <a:cs typeface="Outfit" pitchFamily="34" charset="-120"/>
              </a:rPr>
              <a:t>syfr.live.</a:t>
            </a:r>
            <a:endParaRPr lang="en-US" sz="4000" dirty="0"/>
          </a:p>
        </p:txBody>
      </p:sp>
      <p:pic>
        <p:nvPicPr>
          <p:cNvPr id="6" name="Icon 1" descr="Icon 1">    </p:cNvPr>
          <p:cNvPicPr>
            <a:picLocks noChangeAspect="1"/>
          </p:cNvPicPr>
          <p:nvPr/>
        </p:nvPicPr>
        <p:blipFill>
          <a:blip r:embed="rId2"/>
          <a:stretch>
            <a:fillRect/>
          </a:stretch>
        </p:blipFill>
        <p:spPr>
          <a:xfrm>
            <a:off x="6309360" y="4178808"/>
            <a:ext cx="256032" cy="256032"/>
          </a:xfrm>
          <a:prstGeom prst="rect">
            <a:avLst/>
          </a:prstGeom>
        </p:spPr>
      </p:pic>
      <p:sp>
        <p:nvSpPr>
          <p:cNvPr id="7" name="Contact 1">
            <a:hlinkClick r:id="rId3" tooltip="Open the demo"/>
          </p:cNvPr>
          <p:cNvSpPr txBox="1"/>
          <p:nvPr/>
        </p:nvSpPr>
        <p:spPr>
          <a:xfrm>
            <a:off x="6720840" y="4160520"/>
            <a:ext cx="4846320" cy="292608"/>
          </a:xfrm>
          <a:prstGeom prst="rect">
            <a:avLst/>
          </a:prstGeom>
          <a:noFill/>
          <a:ln/>
        </p:spPr>
        <p:txBody>
          <a:bodyPr wrap="square" lIns="0" tIns="0" rIns="0" bIns="0" rtlCol="0" anchor="ctr"/>
          <a:lstStyle/>
          <a:p>
            <a:pPr indent="0" marL="0">
              <a:buNone/>
            </a:pPr>
            <a:r>
              <a:rPr lang="en-US" sz="1300" u="sng" dirty="0">
                <a:solidFill>
                  <a:schemeClr val="tx1"/>
                </a:solidFill>
                <a:latin typeface="Outfit" pitchFamily="34" charset="0"/>
                <a:ea typeface="Outfit" pitchFamily="34" charset="-122"/>
                <a:cs typeface="Outfit" pitchFamily="34" charset="-120"/>
                <a:hlinkClick r:id="rId3" invalidUrl="" action="" tgtFrame="" tooltip="Open the demo" history="1" highlightClick="0" endSnd="0">
                  <a:extLst>
                    <a:ext uri="{A12FA001-AC4F-418D-AE19-62706E023703}">
                      <ahyp:hlinkClr xmlns:ahyp="http://schemas.microsoft.com/office/drawing/2018/hyperlinkcolor" val="tx"/>
                    </a:ext>
                  </a:extLst>
                </a:hlinkClick>
              </a:rPr>
              <a:t>Live demo: claude.ai/artifact/76eZmTT9gninNENMKdFitt</a:t>
            </a:r>
            <a:endParaRPr lang="en-US" sz="1300" dirty="0"/>
          </a:p>
        </p:txBody>
      </p:sp>
      <p:pic>
        <p:nvPicPr>
          <p:cNvPr id="8" name="Icon 2" descr="Icon 2">    </p:cNvPr>
          <p:cNvPicPr>
            <a:picLocks noChangeAspect="1"/>
          </p:cNvPicPr>
          <p:nvPr/>
        </p:nvPicPr>
        <p:blipFill>
          <a:blip r:embed="rId4"/>
          <a:stretch>
            <a:fillRect/>
          </a:stretch>
        </p:blipFill>
        <p:spPr>
          <a:xfrm>
            <a:off x="6309360" y="4636008"/>
            <a:ext cx="256032" cy="256032"/>
          </a:xfrm>
          <a:prstGeom prst="rect">
            <a:avLst/>
          </a:prstGeom>
        </p:spPr>
      </p:pic>
      <p:sp>
        <p:nvSpPr>
          <p:cNvPr id="9" name="Contact 2"/>
          <p:cNvSpPr txBox="1"/>
          <p:nvPr/>
        </p:nvSpPr>
        <p:spPr>
          <a:xfrm>
            <a:off x="6720840" y="4617720"/>
            <a:ext cx="4846320" cy="292608"/>
          </a:xfrm>
          <a:prstGeom prst="rect">
            <a:avLst/>
          </a:prstGeom>
          <a:noFill/>
          <a:ln/>
        </p:spPr>
        <p:txBody>
          <a:bodyPr wrap="square" lIns="0" tIns="0" rIns="0" bIns="0" rtlCol="0" anchor="ctr"/>
          <a:lstStyle/>
          <a:p>
            <a:pPr indent="0" marL="0">
              <a:buNone/>
            </a:pPr>
            <a:r>
              <a:rPr lang="en-US" sz="1300" dirty="0">
                <a:solidFill>
                  <a:schemeClr val="tx1"/>
                </a:solidFill>
                <a:latin typeface="Outfit" pitchFamily="34" charset="0"/>
                <a:ea typeface="Outfit" pitchFamily="34" charset="-122"/>
                <a:cs typeface="Outfit" pitchFamily="34" charset="-120"/>
              </a:rPr>
              <a:t>Built for Ereganto electric scooters</a:t>
            </a:r>
            <a:endParaRPr lang="en-US" sz="1300" dirty="0"/>
          </a:p>
        </p:txBody>
      </p:sp>
      <p:pic>
        <p:nvPicPr>
          <p:cNvPr id="10" name="Icon 3" descr="Icon 3">    </p:cNvPr>
          <p:cNvPicPr>
            <a:picLocks noChangeAspect="1"/>
          </p:cNvPicPr>
          <p:nvPr/>
        </p:nvPicPr>
        <p:blipFill>
          <a:blip r:embed="rId5"/>
          <a:stretch>
            <a:fillRect/>
          </a:stretch>
        </p:blipFill>
        <p:spPr>
          <a:xfrm>
            <a:off x="6309360" y="5093208"/>
            <a:ext cx="256032" cy="256032"/>
          </a:xfrm>
          <a:prstGeom prst="rect">
            <a:avLst/>
          </a:prstGeom>
        </p:spPr>
      </p:pic>
      <p:sp>
        <p:nvSpPr>
          <p:cNvPr id="11" name="Contact 3"/>
          <p:cNvSpPr txBox="1"/>
          <p:nvPr/>
        </p:nvSpPr>
        <p:spPr>
          <a:xfrm>
            <a:off x="6720840" y="5074920"/>
            <a:ext cx="4846320" cy="292608"/>
          </a:xfrm>
          <a:prstGeom prst="rect">
            <a:avLst/>
          </a:prstGeom>
          <a:noFill/>
          <a:ln/>
        </p:spPr>
        <p:txBody>
          <a:bodyPr wrap="square" lIns="0" tIns="0" rIns="0" bIns="0" rtlCol="0" anchor="ctr"/>
          <a:lstStyle/>
          <a:p>
            <a:pPr indent="0" marL="0">
              <a:buNone/>
            </a:pPr>
            <a:r>
              <a:rPr lang="en-US" sz="1300" dirty="0">
                <a:solidFill>
                  <a:schemeClr val="tx1"/>
                </a:solidFill>
                <a:latin typeface="Outfit" pitchFamily="34" charset="0"/>
                <a:ea typeface="Outfit" pitchFamily="34" charset="-122"/>
                <a:cs typeface="Outfit" pitchFamily="34" charset="-120"/>
              </a:rPr>
              <a:t>All data shown is sample data</a:t>
            </a:r>
            <a:endParaRPr lang="en-US" sz="1300" dirty="0"/>
          </a:p>
        </p:txBody>
      </p:sp>
    </p:spTree>
  </p:cSld>
  <p:clrMapOvr>
    <a:masterClrMapping/>
  </p:clrMapOvr>
</p:sld>
</file>

<file path=ppt/theme/theme1.xml><?xml version="1.0" encoding="utf-8"?>
<a:theme xmlns:a="http://schemas.openxmlformats.org/drawingml/2006/main" name="Ereganto Mint">
  <a:themeElements>
    <a:clrScheme name="Ereganto Mint">
      <a:dk1>
        <a:srgbClr val="0E3D3A"/>
      </a:dk1>
      <a:lt1>
        <a:srgbClr val="FFFFFF"/>
      </a:lt1>
      <a:dk2>
        <a:srgbClr val="0E3D3A"/>
      </a:dk2>
      <a:lt2>
        <a:srgbClr val="F2FBEE"/>
      </a:lt2>
      <a:accent1>
        <a:srgbClr val="8BE07F"/>
      </a:accent1>
      <a:accent2>
        <a:srgbClr val="2F9E57"/>
      </a:accent2>
      <a:accent3>
        <a:srgbClr val="DAF5D3"/>
      </a:accent3>
      <a:accent4>
        <a:srgbClr val="1F5C57"/>
      </a:accent4>
      <a:accent5>
        <a:srgbClr val="B7EEA9"/>
      </a:accent5>
      <a:accent6>
        <a:srgbClr val="5C7A76"/>
      </a:accent6>
      <a:hlink>
        <a:srgbClr val="2F9E57"/>
      </a:hlink>
      <a:folHlink>
        <a:srgbClr val="5C7A76"/>
      </a:folHlink>
    </a:clrScheme>
    <a:fontScheme name="Ereganto Mint">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utf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syfr.live</dc:title>
  <dc:subject>PptxGenJS Presentation</dc:subject>
  <dc:creator>syfr.live</dc:creator>
  <cp:lastModifiedBy>syfr.live</cp:lastModifiedBy>
  <cp:revision>1</cp:revision>
  <dcterms:created xsi:type="dcterms:W3CDTF">2026-10-17T05:30:17Z</dcterms:created>
  <dcterms:modified xsi:type="dcterms:W3CDTF">2026-10-17T05:30:17Z</dcterms:modified>
</cp:coreProperties>
</file>