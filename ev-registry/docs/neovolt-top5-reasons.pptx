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 5" id="{d28fc700-aa23-29b4-9c3e-8492a39e9d8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Poster-style deck: five reasons to buy a NeoVolt scooter, each tied to what the registry portal gives the owner. The scooter photo and logo come from the NeoVolt poster and are low resolution; replace them with originals if available. No specifications or prices are claimed.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reasons are about the registration and warranty record, because those are what the portal provides.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Reason 1: Registered before you ride away. Screens use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Reason 2: A QR plate that opens its record. Screens use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Reason 3: Warranty you can see. Screens use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Reason 4: Every part swap on record. Screens use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Reason 5: Any dealer can pick up where you left off. Screens use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demo link is a private page; share it from its Share menu before sending it to others.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234440"/>
            <a:ext cx="585216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640080"/>
            <a:ext cx="1054303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pic>
        <p:nvPicPr>
          <p:cNvPr id="3" name="Image 0" descr="/tmp/claude-0/-home-user-fans-app/34dcd851-4012-5285-8b19-5836f8a3c053/scratchpad/deck/img/nv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355080"/>
            <a:ext cx="329184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733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AS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31720"/>
            <a:ext cx="53949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pic>
        <p:nvPicPr>
          <p:cNvPr id="3" name="Image 0" descr="/tmp/claude-0/-home-user-fans-app/34dcd851-4012-5285-8b19-5836f8a3c053/scratchpad/deck/img/nv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355080"/>
            <a:ext cx="329184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733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371600"/>
            <a:ext cx="59436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733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claude.ai/artifact/76eZmTT9gninNENMKdFitt" TargetMode="External"/><Relationship Id="rId1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23444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Top 5</a:t>
            </a:r>
            <a:endParaRPr lang="en-US" sz="5600" dirty="0"/>
          </a:p>
          <a:p>
            <a:pPr algn="l" indent="0" marL="0">
              <a:buNone/>
            </a:pPr>
            <a:r>
              <a:rPr lang="en-US" sz="56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Reasons To Buy</a:t>
            </a:r>
            <a:endParaRPr lang="en-US" sz="5600" dirty="0"/>
          </a:p>
        </p:txBody>
      </p:sp>
      <p:pic>
        <p:nvPicPr>
          <p:cNvPr id="3" name="NeoVolt logo" descr="NeoVolt logo: Ride the fu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749040"/>
            <a:ext cx="2926080" cy="1755648"/>
          </a:xfrm>
          <a:prstGeom prst="rect">
            <a:avLst/>
          </a:prstGeom>
        </p:spPr>
      </p:pic>
      <p:pic>
        <p:nvPicPr>
          <p:cNvPr id="4" name="Scooter photo" descr="NeoVolt orange electric scooter in front of a smoky backdro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868680"/>
            <a:ext cx="4572000" cy="4708478"/>
          </a:xfrm>
          <a:prstGeom prst="rect">
            <a:avLst/>
          </a:prstGeom>
          <a:effectLst>
            <a:outerShdw sx="100000" sy="100000" kx="0" ky="0" algn="bl" rotWithShape="0" blurRad="228600" dist="101600" dir="5400000">
              <a:srgbClr val="000000">
                <a:alpha val="4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6400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Five reasons, at a glance</a:t>
            </a:r>
            <a:endParaRPr lang="en-US" sz="3400" dirty="0"/>
          </a:p>
        </p:txBody>
      </p:sp>
      <p:sp>
        <p:nvSpPr>
          <p:cNvPr id="3" name="Card 1"/>
          <p:cNvSpPr/>
          <p:nvPr/>
        </p:nvSpPr>
        <p:spPr>
          <a:xfrm>
            <a:off x="822960" y="1828800"/>
            <a:ext cx="1925726" cy="3840480"/>
          </a:xfrm>
          <a:prstGeom prst="roundRect">
            <a:avLst>
              <a:gd name="adj" fmla="val 9497"/>
            </a:avLst>
          </a:prstGeom>
          <a:solidFill>
            <a:schemeClr val="accent3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Text"/>
          <p:cNvSpPr txBox="1"/>
          <p:nvPr/>
        </p:nvSpPr>
        <p:spPr>
          <a:xfrm>
            <a:off x="1051560" y="2057400"/>
            <a:ext cx="14685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"/>
          <p:cNvSpPr txBox="1"/>
          <p:nvPr/>
        </p:nvSpPr>
        <p:spPr>
          <a:xfrm>
            <a:off x="1051560" y="3063240"/>
            <a:ext cx="14685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Registered first</a:t>
            </a:r>
            <a:endParaRPr lang="en-US" sz="1800" dirty="0"/>
          </a:p>
        </p:txBody>
      </p:sp>
      <p:sp>
        <p:nvSpPr>
          <p:cNvPr id="6" name="Text"/>
          <p:cNvSpPr txBox="1"/>
          <p:nvPr/>
        </p:nvSpPr>
        <p:spPr>
          <a:xfrm>
            <a:off x="1051560" y="3931920"/>
            <a:ext cx="146852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dealer registers the scooter before the sale.</a:t>
            </a:r>
            <a:endParaRPr lang="en-US" sz="1400" dirty="0"/>
          </a:p>
        </p:txBody>
      </p:sp>
      <p:sp>
        <p:nvSpPr>
          <p:cNvPr id="7" name="Card 2"/>
          <p:cNvSpPr/>
          <p:nvPr/>
        </p:nvSpPr>
        <p:spPr>
          <a:xfrm>
            <a:off x="2977286" y="1828800"/>
            <a:ext cx="1925726" cy="3840480"/>
          </a:xfrm>
          <a:prstGeom prst="roundRect">
            <a:avLst>
              <a:gd name="adj" fmla="val 9497"/>
            </a:avLst>
          </a:prstGeom>
          <a:solidFill>
            <a:schemeClr val="accent3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"/>
          <p:cNvSpPr txBox="1"/>
          <p:nvPr/>
        </p:nvSpPr>
        <p:spPr>
          <a:xfrm>
            <a:off x="3205886" y="2057400"/>
            <a:ext cx="14685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4400" dirty="0"/>
          </a:p>
        </p:txBody>
      </p:sp>
      <p:sp>
        <p:nvSpPr>
          <p:cNvPr id="9" name="Text"/>
          <p:cNvSpPr txBox="1"/>
          <p:nvPr/>
        </p:nvSpPr>
        <p:spPr>
          <a:xfrm>
            <a:off x="3205886" y="3063240"/>
            <a:ext cx="14685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QR plate</a:t>
            </a:r>
            <a:endParaRPr lang="en-US" sz="1800" dirty="0"/>
          </a:p>
        </p:txBody>
      </p:sp>
      <p:sp>
        <p:nvSpPr>
          <p:cNvPr id="10" name="Text"/>
          <p:cNvSpPr txBox="1"/>
          <p:nvPr/>
        </p:nvSpPr>
        <p:spPr>
          <a:xfrm>
            <a:off x="3205886" y="3931920"/>
            <a:ext cx="146852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Scan it to open the whole record.</a:t>
            </a:r>
            <a:endParaRPr lang="en-US" sz="1400" dirty="0"/>
          </a:p>
        </p:txBody>
      </p:sp>
      <p:sp>
        <p:nvSpPr>
          <p:cNvPr id="11" name="Card 3"/>
          <p:cNvSpPr/>
          <p:nvPr/>
        </p:nvSpPr>
        <p:spPr>
          <a:xfrm>
            <a:off x="5131613" y="1828800"/>
            <a:ext cx="1925726" cy="3840480"/>
          </a:xfrm>
          <a:prstGeom prst="roundRect">
            <a:avLst>
              <a:gd name="adj" fmla="val 9497"/>
            </a:avLst>
          </a:prstGeom>
          <a:solidFill>
            <a:schemeClr val="accent3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Text"/>
          <p:cNvSpPr txBox="1"/>
          <p:nvPr/>
        </p:nvSpPr>
        <p:spPr>
          <a:xfrm>
            <a:off x="5360213" y="2057400"/>
            <a:ext cx="14685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4400" dirty="0"/>
          </a:p>
        </p:txBody>
      </p:sp>
      <p:sp>
        <p:nvSpPr>
          <p:cNvPr id="13" name="Text"/>
          <p:cNvSpPr txBox="1"/>
          <p:nvPr/>
        </p:nvSpPr>
        <p:spPr>
          <a:xfrm>
            <a:off x="5360213" y="3063240"/>
            <a:ext cx="14685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Visible warranty</a:t>
            </a:r>
            <a:endParaRPr lang="en-US" sz="1800" dirty="0"/>
          </a:p>
        </p:txBody>
      </p:sp>
      <p:sp>
        <p:nvSpPr>
          <p:cNvPr id="14" name="Text"/>
          <p:cNvSpPr txBox="1"/>
          <p:nvPr/>
        </p:nvSpPr>
        <p:spPr>
          <a:xfrm>
            <a:off x="5360213" y="3931920"/>
            <a:ext cx="146852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Motor, controller and battery, each with time left.</a:t>
            </a:r>
            <a:endParaRPr lang="en-US" sz="1400" dirty="0"/>
          </a:p>
        </p:txBody>
      </p:sp>
      <p:sp>
        <p:nvSpPr>
          <p:cNvPr id="15" name="Card 4"/>
          <p:cNvSpPr/>
          <p:nvPr/>
        </p:nvSpPr>
        <p:spPr>
          <a:xfrm>
            <a:off x="7285939" y="1828800"/>
            <a:ext cx="1925726" cy="3840480"/>
          </a:xfrm>
          <a:prstGeom prst="roundRect">
            <a:avLst>
              <a:gd name="adj" fmla="val 9497"/>
            </a:avLst>
          </a:prstGeom>
          <a:solidFill>
            <a:schemeClr val="accent3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"/>
          <p:cNvSpPr txBox="1"/>
          <p:nvPr/>
        </p:nvSpPr>
        <p:spPr>
          <a:xfrm>
            <a:off x="7514539" y="2057400"/>
            <a:ext cx="14685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4400" dirty="0"/>
          </a:p>
        </p:txBody>
      </p:sp>
      <p:sp>
        <p:nvSpPr>
          <p:cNvPr id="17" name="Text"/>
          <p:cNvSpPr txBox="1"/>
          <p:nvPr/>
        </p:nvSpPr>
        <p:spPr>
          <a:xfrm>
            <a:off x="7514539" y="3063240"/>
            <a:ext cx="14685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Part history</a:t>
            </a:r>
            <a:endParaRPr lang="en-US" sz="1800" dirty="0"/>
          </a:p>
        </p:txBody>
      </p:sp>
      <p:sp>
        <p:nvSpPr>
          <p:cNvPr id="18" name="Text"/>
          <p:cNvSpPr txBox="1"/>
          <p:nvPr/>
        </p:nvSpPr>
        <p:spPr>
          <a:xfrm>
            <a:off x="7514539" y="3931920"/>
            <a:ext cx="146852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swap logged with old and new serial.</a:t>
            </a:r>
            <a:endParaRPr lang="en-US" sz="1400" dirty="0"/>
          </a:p>
        </p:txBody>
      </p:sp>
      <p:sp>
        <p:nvSpPr>
          <p:cNvPr id="19" name="Card 5"/>
          <p:cNvSpPr/>
          <p:nvPr/>
        </p:nvSpPr>
        <p:spPr>
          <a:xfrm>
            <a:off x="9440266" y="1828800"/>
            <a:ext cx="1925726" cy="3840480"/>
          </a:xfrm>
          <a:prstGeom prst="roundRect">
            <a:avLst>
              <a:gd name="adj" fmla="val 9497"/>
            </a:avLst>
          </a:prstGeom>
          <a:solidFill>
            <a:schemeClr val="accent3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Text"/>
          <p:cNvSpPr txBox="1"/>
          <p:nvPr/>
        </p:nvSpPr>
        <p:spPr>
          <a:xfrm>
            <a:off x="9668866" y="2057400"/>
            <a:ext cx="14685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05</a:t>
            </a:r>
            <a:endParaRPr lang="en-US" sz="4400" dirty="0"/>
          </a:p>
        </p:txBody>
      </p:sp>
      <p:sp>
        <p:nvSpPr>
          <p:cNvPr id="21" name="Text"/>
          <p:cNvSpPr txBox="1"/>
          <p:nvPr/>
        </p:nvSpPr>
        <p:spPr>
          <a:xfrm>
            <a:off x="9668866" y="3063240"/>
            <a:ext cx="14685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Dealer-ready</a:t>
            </a:r>
            <a:endParaRPr lang="en-US" sz="1800" dirty="0"/>
          </a:p>
        </p:txBody>
      </p:sp>
      <p:sp>
        <p:nvSpPr>
          <p:cNvPr id="22" name="Text"/>
          <p:cNvSpPr txBox="1"/>
          <p:nvPr/>
        </p:nvSpPr>
        <p:spPr>
          <a:xfrm>
            <a:off x="9668866" y="3931920"/>
            <a:ext cx="146852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Any dealer can scan and see the history.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733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 Reason 1 of 5"/>
          <p:cNvSpPr/>
          <p:nvPr/>
        </p:nvSpPr>
        <p:spPr>
          <a:xfrm>
            <a:off x="822960" y="685800"/>
            <a:ext cx="164592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"/>
          <p:cNvSpPr txBox="1"/>
          <p:nvPr/>
        </p:nvSpPr>
        <p:spPr>
          <a:xfrm>
            <a:off x="822960" y="6858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REASON 1 OF 5</a:t>
            </a:r>
            <a:endParaRPr lang="en-US" sz="1000" dirty="0"/>
          </a:p>
        </p:txBody>
      </p:sp>
      <p:sp>
        <p:nvSpPr>
          <p:cNvPr id="4" name="Text"/>
          <p:cNvSpPr txBox="1"/>
          <p:nvPr/>
        </p:nvSpPr>
        <p:spPr>
          <a:xfrm>
            <a:off x="822960" y="10515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23317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Registered before you ride away</a:t>
            </a:r>
            <a:endParaRPr lang="en-US" sz="3400" dirty="0"/>
          </a:p>
        </p:txBody>
      </p:sp>
      <p:sp>
        <p:nvSpPr>
          <p:cNvPr id="6" name="Text"/>
          <p:cNvSpPr txBox="1"/>
          <p:nvPr/>
        </p:nvSpPr>
        <p:spPr>
          <a:xfrm>
            <a:off x="822960" y="37947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Your dealer registers the scooter on the portal before the sale, so its record exists from day one.</a:t>
            </a:r>
            <a:endParaRPr lang="en-US" sz="1600" dirty="0"/>
          </a:p>
        </p:txBody>
      </p:sp>
      <p:pic>
        <p:nvPicPr>
          <p:cNvPr id="7" name="Check 1" descr="Check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873752"/>
            <a:ext cx="237744" cy="237744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188720" y="48463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Valid for five years in the demo</a:t>
            </a:r>
            <a:endParaRPr lang="en-US" sz="1400" dirty="0"/>
          </a:p>
        </p:txBody>
      </p:sp>
      <p:pic>
        <p:nvPicPr>
          <p:cNvPr id="9" name="Check 2" descr="Check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285232"/>
            <a:ext cx="237744" cy="237744"/>
          </a:xfrm>
          <a:prstGeom prst="rect">
            <a:avLst/>
          </a:prstGeom>
        </p:spPr>
      </p:pic>
      <p:sp>
        <p:nvSpPr>
          <p:cNvPr id="10" name="Text"/>
          <p:cNvSpPr txBox="1"/>
          <p:nvPr/>
        </p:nvSpPr>
        <p:spPr>
          <a:xfrm>
            <a:off x="1188720" y="5257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Model, chassis and owner on record</a:t>
            </a:r>
            <a:endParaRPr lang="en-US" sz="1400" dirty="0"/>
          </a:p>
        </p:txBody>
      </p:sp>
      <p:pic>
        <p:nvPicPr>
          <p:cNvPr id="11" name="Check 3" descr="Check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696712"/>
            <a:ext cx="237744" cy="237744"/>
          </a:xfrm>
          <a:prstGeom prst="rect">
            <a:avLst/>
          </a:prstGeom>
        </p:spPr>
      </p:pic>
      <p:sp>
        <p:nvSpPr>
          <p:cNvPr id="12" name="Text"/>
          <p:cNvSpPr txBox="1"/>
          <p:nvPr/>
        </p:nvSpPr>
        <p:spPr>
          <a:xfrm>
            <a:off x="1188720" y="56692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Registered and valid-till dates shown</a:t>
            </a:r>
            <a:endParaRPr lang="en-US" sz="1400" dirty="0"/>
          </a:p>
        </p:txBody>
      </p:sp>
      <p:sp>
        <p:nvSpPr>
          <p:cNvPr id="13" name="Screen for reason 1 frame"/>
          <p:cNvSpPr/>
          <p:nvPr/>
        </p:nvSpPr>
        <p:spPr>
          <a:xfrm>
            <a:off x="7631730" y="722376"/>
            <a:ext cx="2475901" cy="5230368"/>
          </a:xfrm>
          <a:prstGeom prst="roundRect">
            <a:avLst>
              <a:gd name="adj" fmla="val 9233"/>
            </a:avLst>
          </a:prstGeom>
          <a:solidFill>
            <a:schemeClr val="accent4"/>
          </a:solidFill>
          <a:ln w="190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45000"/>
              </a:srgbClr>
            </a:outerShdw>
          </a:effectLst>
        </p:spPr>
      </p:sp>
      <p:pic>
        <p:nvPicPr>
          <p:cNvPr id="14" name="Screen for reason 1" descr="Screen for reason 1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594" y="777240"/>
            <a:ext cx="2366173" cy="5120640"/>
          </a:xfrm>
          <a:prstGeom prst="rect">
            <a:avLst/>
          </a:prstGeom>
        </p:spPr>
      </p:pic>
      <p:sp>
        <p:nvSpPr>
          <p:cNvPr id="15" name="spacer"/>
          <p:cNvSpPr/>
          <p:nvPr/>
        </p:nvSpPr>
        <p:spPr>
          <a:xfrm>
            <a:off x="6126480" y="1188720"/>
            <a:ext cx="914" cy="914"/>
          </a:xfrm>
          <a:prstGeom prst="roundRect">
            <a:avLst>
              <a:gd name="adj" fmla="val 20008753"/>
            </a:avLst>
          </a:prstGeom>
          <a:solidFill>
            <a:schemeClr val="tx2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733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 Reason 2 of 5"/>
          <p:cNvSpPr/>
          <p:nvPr/>
        </p:nvSpPr>
        <p:spPr>
          <a:xfrm>
            <a:off x="822960" y="685800"/>
            <a:ext cx="164592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"/>
          <p:cNvSpPr txBox="1"/>
          <p:nvPr/>
        </p:nvSpPr>
        <p:spPr>
          <a:xfrm>
            <a:off x="822960" y="6858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REASON 2 OF 5</a:t>
            </a:r>
            <a:endParaRPr lang="en-US" sz="1000" dirty="0"/>
          </a:p>
        </p:txBody>
      </p:sp>
      <p:sp>
        <p:nvSpPr>
          <p:cNvPr id="4" name="Text"/>
          <p:cNvSpPr txBox="1"/>
          <p:nvPr/>
        </p:nvSpPr>
        <p:spPr>
          <a:xfrm>
            <a:off x="822960" y="10515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23317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QR plate that opens its record</a:t>
            </a:r>
            <a:endParaRPr lang="en-US" sz="3400" dirty="0"/>
          </a:p>
        </p:txBody>
      </p:sp>
      <p:sp>
        <p:nvSpPr>
          <p:cNvPr id="6" name="Text"/>
          <p:cNvSpPr txBox="1"/>
          <p:nvPr/>
        </p:nvSpPr>
        <p:spPr>
          <a:xfrm>
            <a:off x="822960" y="37947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plate carries the NeoVolt logo and a QR code. Scan it to see registration, warranty and history.</a:t>
            </a:r>
            <a:endParaRPr lang="en-US" sz="1600" dirty="0"/>
          </a:p>
        </p:txBody>
      </p:sp>
      <p:pic>
        <p:nvPicPr>
          <p:cNvPr id="7" name="Check 1" descr="Check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873752"/>
            <a:ext cx="237744" cy="237744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188720" y="48463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Logo on the left, QR on the right</a:t>
            </a:r>
            <a:endParaRPr lang="en-US" sz="1400" dirty="0"/>
          </a:p>
        </p:txBody>
      </p:sp>
      <p:pic>
        <p:nvPicPr>
          <p:cNvPr id="9" name="Check 2" descr="Check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285232"/>
            <a:ext cx="237744" cy="237744"/>
          </a:xfrm>
          <a:prstGeom prst="rect">
            <a:avLst/>
          </a:prstGeom>
        </p:spPr>
      </p:pic>
      <p:sp>
        <p:nvSpPr>
          <p:cNvPr id="10" name="Text"/>
          <p:cNvSpPr txBox="1"/>
          <p:nvPr/>
        </p:nvSpPr>
        <p:spPr>
          <a:xfrm>
            <a:off x="1188720" y="5257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Registration number printed below</a:t>
            </a:r>
            <a:endParaRPr lang="en-US" sz="1400" dirty="0"/>
          </a:p>
        </p:txBody>
      </p:sp>
      <p:pic>
        <p:nvPicPr>
          <p:cNvPr id="11" name="Check 3" descr="Check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696712"/>
            <a:ext cx="237744" cy="237744"/>
          </a:xfrm>
          <a:prstGeom prst="rect">
            <a:avLst/>
          </a:prstGeom>
        </p:spPr>
      </p:pic>
      <p:sp>
        <p:nvSpPr>
          <p:cNvPr id="12" name="Text"/>
          <p:cNvSpPr txBox="1"/>
          <p:nvPr/>
        </p:nvSpPr>
        <p:spPr>
          <a:xfrm>
            <a:off x="1188720" y="56692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Works with any phone camera</a:t>
            </a:r>
            <a:endParaRPr lang="en-US" sz="1400" dirty="0"/>
          </a:p>
        </p:txBody>
      </p:sp>
      <p:sp>
        <p:nvSpPr>
          <p:cNvPr id="13" name="Plate stage"/>
          <p:cNvSpPr/>
          <p:nvPr/>
        </p:nvSpPr>
        <p:spPr>
          <a:xfrm>
            <a:off x="6126480" y="1554480"/>
            <a:ext cx="5212080" cy="3017520"/>
          </a:xfrm>
          <a:prstGeom prst="roundRect">
            <a:avLst>
              <a:gd name="adj" fmla="val 7576"/>
            </a:avLst>
          </a:prstGeom>
          <a:solidFill>
            <a:schemeClr val="accent3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4" name="Plate" descr="Number plate with the NeoVolt logo and a QR co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103120"/>
            <a:ext cx="4480560" cy="1866900"/>
          </a:xfrm>
          <a:prstGeom prst="rect">
            <a:avLst/>
          </a:prstGeom>
          <a:effectLst>
            <a:outerShdw sx="100000" sy="100000" kx="0" ky="0" algn="bl" rotWithShape="0" blurRad="228600" dist="101600" dir="5400000">
              <a:srgbClr val="000000">
                <a:alpha val="45000"/>
              </a:srgbClr>
            </a:outerShdw>
          </a:effectLst>
        </p:spPr>
      </p:pic>
      <p:sp>
        <p:nvSpPr>
          <p:cNvPr id="15" name="Text"/>
          <p:cNvSpPr txBox="1"/>
          <p:nvPr/>
        </p:nvSpPr>
        <p:spPr>
          <a:xfrm>
            <a:off x="6492240" y="41605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EV-UP-24-004201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733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 Reason 3 of 5"/>
          <p:cNvSpPr/>
          <p:nvPr/>
        </p:nvSpPr>
        <p:spPr>
          <a:xfrm>
            <a:off x="822960" y="685800"/>
            <a:ext cx="164592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"/>
          <p:cNvSpPr txBox="1"/>
          <p:nvPr/>
        </p:nvSpPr>
        <p:spPr>
          <a:xfrm>
            <a:off x="822960" y="6858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REASON 3 OF 5</a:t>
            </a:r>
            <a:endParaRPr lang="en-US" sz="1000" dirty="0"/>
          </a:p>
        </p:txBody>
      </p:sp>
      <p:sp>
        <p:nvSpPr>
          <p:cNvPr id="4" name="Text"/>
          <p:cNvSpPr txBox="1"/>
          <p:nvPr/>
        </p:nvSpPr>
        <p:spPr>
          <a:xfrm>
            <a:off x="822960" y="10515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23317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Warranty you can see</a:t>
            </a:r>
            <a:endParaRPr lang="en-US" sz="3400" dirty="0"/>
          </a:p>
        </p:txBody>
      </p:sp>
      <p:sp>
        <p:nvSpPr>
          <p:cNvPr id="6" name="Text"/>
          <p:cNvSpPr txBox="1"/>
          <p:nvPr/>
        </p:nvSpPr>
        <p:spPr>
          <a:xfrm>
            <a:off x="822960" y="37947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Motor, controller and battery each carry their own warranty, with the time left shown on your phone.</a:t>
            </a:r>
            <a:endParaRPr lang="en-US" sz="1600" dirty="0"/>
          </a:p>
        </p:txBody>
      </p:sp>
      <p:pic>
        <p:nvPicPr>
          <p:cNvPr id="7" name="Check 1" descr="Check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873752"/>
            <a:ext cx="237744" cy="237744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188720" y="48463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Active, expiring soon or expired</a:t>
            </a:r>
            <a:endParaRPr lang="en-US" sz="1400" dirty="0"/>
          </a:p>
        </p:txBody>
      </p:sp>
      <p:pic>
        <p:nvPicPr>
          <p:cNvPr id="9" name="Check 2" descr="Check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285232"/>
            <a:ext cx="237744" cy="237744"/>
          </a:xfrm>
          <a:prstGeom prst="rect">
            <a:avLst/>
          </a:prstGeom>
        </p:spPr>
      </p:pic>
      <p:sp>
        <p:nvSpPr>
          <p:cNvPr id="10" name="Text"/>
          <p:cNvSpPr txBox="1"/>
          <p:nvPr/>
        </p:nvSpPr>
        <p:spPr>
          <a:xfrm>
            <a:off x="1188720" y="5257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warning before a warranty ends</a:t>
            </a:r>
            <a:endParaRPr lang="en-US" sz="1400" dirty="0"/>
          </a:p>
        </p:txBody>
      </p:sp>
      <p:pic>
        <p:nvPicPr>
          <p:cNvPr id="11" name="Check 3" descr="Check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696712"/>
            <a:ext cx="237744" cy="237744"/>
          </a:xfrm>
          <a:prstGeom prst="rect">
            <a:avLst/>
          </a:prstGeom>
        </p:spPr>
      </p:pic>
      <p:sp>
        <p:nvSpPr>
          <p:cNvPr id="12" name="Text"/>
          <p:cNvSpPr txBox="1"/>
          <p:nvPr/>
        </p:nvSpPr>
        <p:spPr>
          <a:xfrm>
            <a:off x="1188720" y="56692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Motor number and serials listed</a:t>
            </a:r>
            <a:endParaRPr lang="en-US" sz="1400" dirty="0"/>
          </a:p>
        </p:txBody>
      </p:sp>
      <p:sp>
        <p:nvSpPr>
          <p:cNvPr id="13" name="Screen for reason 3 frame"/>
          <p:cNvSpPr/>
          <p:nvPr/>
        </p:nvSpPr>
        <p:spPr>
          <a:xfrm>
            <a:off x="7631730" y="722376"/>
            <a:ext cx="2475901" cy="5230368"/>
          </a:xfrm>
          <a:prstGeom prst="roundRect">
            <a:avLst>
              <a:gd name="adj" fmla="val 9233"/>
            </a:avLst>
          </a:prstGeom>
          <a:solidFill>
            <a:schemeClr val="accent4"/>
          </a:solidFill>
          <a:ln w="190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45000"/>
              </a:srgbClr>
            </a:outerShdw>
          </a:effectLst>
        </p:spPr>
      </p:sp>
      <p:pic>
        <p:nvPicPr>
          <p:cNvPr id="14" name="Screen for reason 3" descr="Screen for reason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594" y="777240"/>
            <a:ext cx="2366173" cy="5120640"/>
          </a:xfrm>
          <a:prstGeom prst="rect">
            <a:avLst/>
          </a:prstGeom>
        </p:spPr>
      </p:pic>
      <p:sp>
        <p:nvSpPr>
          <p:cNvPr id="15" name="spacer"/>
          <p:cNvSpPr/>
          <p:nvPr/>
        </p:nvSpPr>
        <p:spPr>
          <a:xfrm>
            <a:off x="6126480" y="1188720"/>
            <a:ext cx="914" cy="914"/>
          </a:xfrm>
          <a:prstGeom prst="roundRect">
            <a:avLst>
              <a:gd name="adj" fmla="val 20008753"/>
            </a:avLst>
          </a:prstGeom>
          <a:solidFill>
            <a:schemeClr val="tx2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733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 Reason 4 of 5"/>
          <p:cNvSpPr/>
          <p:nvPr/>
        </p:nvSpPr>
        <p:spPr>
          <a:xfrm>
            <a:off x="822960" y="685800"/>
            <a:ext cx="164592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"/>
          <p:cNvSpPr txBox="1"/>
          <p:nvPr/>
        </p:nvSpPr>
        <p:spPr>
          <a:xfrm>
            <a:off x="822960" y="6858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REASON 4 OF 5</a:t>
            </a:r>
            <a:endParaRPr lang="en-US" sz="1000" dirty="0"/>
          </a:p>
        </p:txBody>
      </p:sp>
      <p:sp>
        <p:nvSpPr>
          <p:cNvPr id="4" name="Text"/>
          <p:cNvSpPr txBox="1"/>
          <p:nvPr/>
        </p:nvSpPr>
        <p:spPr>
          <a:xfrm>
            <a:off x="822960" y="10515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23317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Every part swap on record</a:t>
            </a:r>
            <a:endParaRPr lang="en-US" sz="3400" dirty="0"/>
          </a:p>
        </p:txBody>
      </p:sp>
      <p:sp>
        <p:nvSpPr>
          <p:cNvPr id="6" name="Text"/>
          <p:cNvSpPr txBox="1"/>
          <p:nvPr/>
        </p:nvSpPr>
        <p:spPr>
          <a:xfrm>
            <a:off x="822960" y="37947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Each replaced motor, controller or battery is logged with its old and new serial number.</a:t>
            </a:r>
            <a:endParaRPr lang="en-US" sz="1600" dirty="0"/>
          </a:p>
        </p:txBody>
      </p:sp>
      <p:pic>
        <p:nvPicPr>
          <p:cNvPr id="7" name="Check 1" descr="Check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873752"/>
            <a:ext cx="237744" cy="237744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188720" y="48463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Old and new serial side by side</a:t>
            </a:r>
            <a:endParaRPr lang="en-US" sz="1400" dirty="0"/>
          </a:p>
        </p:txBody>
      </p:sp>
      <p:pic>
        <p:nvPicPr>
          <p:cNvPr id="9" name="Check 2" descr="Check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285232"/>
            <a:ext cx="237744" cy="237744"/>
          </a:xfrm>
          <a:prstGeom prst="rect">
            <a:avLst/>
          </a:prstGeom>
        </p:spPr>
      </p:pic>
      <p:sp>
        <p:nvSpPr>
          <p:cNvPr id="10" name="Text"/>
          <p:cNvSpPr txBox="1"/>
          <p:nvPr/>
        </p:nvSpPr>
        <p:spPr>
          <a:xfrm>
            <a:off x="1188720" y="5257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reason for each replacement</a:t>
            </a:r>
            <a:endParaRPr lang="en-US" sz="1400" dirty="0"/>
          </a:p>
        </p:txBody>
      </p:sp>
      <p:pic>
        <p:nvPicPr>
          <p:cNvPr id="11" name="Check 3" descr="Check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696712"/>
            <a:ext cx="237744" cy="237744"/>
          </a:xfrm>
          <a:prstGeom prst="rect">
            <a:avLst/>
          </a:prstGeom>
        </p:spPr>
      </p:pic>
      <p:sp>
        <p:nvSpPr>
          <p:cNvPr id="12" name="Text"/>
          <p:cNvSpPr txBox="1"/>
          <p:nvPr/>
        </p:nvSpPr>
        <p:spPr>
          <a:xfrm>
            <a:off x="1188720" y="56692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 new part starts a new warranty</a:t>
            </a:r>
            <a:endParaRPr lang="en-US" sz="1400" dirty="0"/>
          </a:p>
        </p:txBody>
      </p:sp>
      <p:sp>
        <p:nvSpPr>
          <p:cNvPr id="13" name="Screen for reason 4 frame"/>
          <p:cNvSpPr/>
          <p:nvPr/>
        </p:nvSpPr>
        <p:spPr>
          <a:xfrm>
            <a:off x="7631730" y="722376"/>
            <a:ext cx="2475901" cy="5230368"/>
          </a:xfrm>
          <a:prstGeom prst="roundRect">
            <a:avLst>
              <a:gd name="adj" fmla="val 9233"/>
            </a:avLst>
          </a:prstGeom>
          <a:solidFill>
            <a:schemeClr val="accent4"/>
          </a:solidFill>
          <a:ln w="190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45000"/>
              </a:srgbClr>
            </a:outerShdw>
          </a:effectLst>
        </p:spPr>
      </p:sp>
      <p:pic>
        <p:nvPicPr>
          <p:cNvPr id="14" name="Screen for reason 4" descr="Screen for reas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594" y="777240"/>
            <a:ext cx="2366173" cy="5120640"/>
          </a:xfrm>
          <a:prstGeom prst="rect">
            <a:avLst/>
          </a:prstGeom>
        </p:spPr>
      </p:pic>
      <p:sp>
        <p:nvSpPr>
          <p:cNvPr id="15" name="spacer"/>
          <p:cNvSpPr/>
          <p:nvPr/>
        </p:nvSpPr>
        <p:spPr>
          <a:xfrm>
            <a:off x="6126480" y="1188720"/>
            <a:ext cx="914" cy="914"/>
          </a:xfrm>
          <a:prstGeom prst="roundRect">
            <a:avLst>
              <a:gd name="adj" fmla="val 20008753"/>
            </a:avLst>
          </a:prstGeom>
          <a:solidFill>
            <a:schemeClr val="tx2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733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 Reason 5 of 5"/>
          <p:cNvSpPr/>
          <p:nvPr/>
        </p:nvSpPr>
        <p:spPr>
          <a:xfrm>
            <a:off x="822960" y="685800"/>
            <a:ext cx="164592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" name="Text"/>
          <p:cNvSpPr txBox="1"/>
          <p:nvPr/>
        </p:nvSpPr>
        <p:spPr>
          <a:xfrm>
            <a:off x="822960" y="6858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REASON 5 OF 5</a:t>
            </a:r>
            <a:endParaRPr lang="en-US" sz="1000" dirty="0"/>
          </a:p>
        </p:txBody>
      </p:sp>
      <p:sp>
        <p:nvSpPr>
          <p:cNvPr id="4" name="Text"/>
          <p:cNvSpPr txBox="1"/>
          <p:nvPr/>
        </p:nvSpPr>
        <p:spPr>
          <a:xfrm>
            <a:off x="822960" y="10515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233172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Any dealer can pick up where you left off</a:t>
            </a:r>
            <a:endParaRPr lang="en-US" sz="3400" dirty="0"/>
          </a:p>
        </p:txBody>
      </p:sp>
      <p:sp>
        <p:nvSpPr>
          <p:cNvPr id="6" name="Text"/>
          <p:cNvSpPr txBox="1"/>
          <p:nvPr/>
        </p:nvSpPr>
        <p:spPr>
          <a:xfrm>
            <a:off x="822960" y="37947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Dealers scan the plate and see the whole history before they touch the scooter.</a:t>
            </a:r>
            <a:endParaRPr lang="en-US" sz="1600" dirty="0"/>
          </a:p>
        </p:txBody>
      </p:sp>
      <p:pic>
        <p:nvPicPr>
          <p:cNvPr id="7" name="Check 1" descr="Check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873752"/>
            <a:ext cx="237744" cy="237744"/>
          </a:xfrm>
          <a:prstGeom prst="rect">
            <a:avLst/>
          </a:prstGeom>
        </p:spPr>
      </p:pic>
      <p:sp>
        <p:nvSpPr>
          <p:cNvPr id="8" name="Text"/>
          <p:cNvSpPr txBox="1"/>
          <p:nvPr/>
        </p:nvSpPr>
        <p:spPr>
          <a:xfrm>
            <a:off x="1188720" y="48463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Scan with the camera or a photo</a:t>
            </a:r>
            <a:endParaRPr lang="en-US" sz="1400" dirty="0"/>
          </a:p>
        </p:txBody>
      </p:sp>
      <p:pic>
        <p:nvPicPr>
          <p:cNvPr id="9" name="Check 2" descr="Check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285232"/>
            <a:ext cx="237744" cy="237744"/>
          </a:xfrm>
          <a:prstGeom prst="rect">
            <a:avLst/>
          </a:prstGeom>
        </p:spPr>
      </p:pic>
      <p:sp>
        <p:nvSpPr>
          <p:cNvPr id="10" name="Text"/>
          <p:cNvSpPr txBox="1"/>
          <p:nvPr/>
        </p:nvSpPr>
        <p:spPr>
          <a:xfrm>
            <a:off x="1188720" y="5257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Warranty and parts on one screen</a:t>
            </a:r>
            <a:endParaRPr lang="en-US" sz="1400" dirty="0"/>
          </a:p>
        </p:txBody>
      </p:sp>
      <p:pic>
        <p:nvPicPr>
          <p:cNvPr id="11" name="Check 3" descr="Check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696712"/>
            <a:ext cx="237744" cy="237744"/>
          </a:xfrm>
          <a:prstGeom prst="rect">
            <a:avLst/>
          </a:prstGeom>
        </p:spPr>
      </p:pic>
      <p:sp>
        <p:nvSpPr>
          <p:cNvPr id="12" name="Text"/>
          <p:cNvSpPr txBox="1"/>
          <p:nvPr/>
        </p:nvSpPr>
        <p:spPr>
          <a:xfrm>
            <a:off x="1188720" y="56692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Log a replacement on the spot</a:t>
            </a:r>
            <a:endParaRPr lang="en-US" sz="1400" dirty="0"/>
          </a:p>
        </p:txBody>
      </p:sp>
      <p:sp>
        <p:nvSpPr>
          <p:cNvPr id="13" name="Screen for reason 5 frame"/>
          <p:cNvSpPr/>
          <p:nvPr/>
        </p:nvSpPr>
        <p:spPr>
          <a:xfrm>
            <a:off x="7631730" y="722376"/>
            <a:ext cx="2475901" cy="5230368"/>
          </a:xfrm>
          <a:prstGeom prst="roundRect">
            <a:avLst>
              <a:gd name="adj" fmla="val 9233"/>
            </a:avLst>
          </a:prstGeom>
          <a:solidFill>
            <a:schemeClr val="accent4"/>
          </a:solidFill>
          <a:ln w="190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45000"/>
              </a:srgbClr>
            </a:outerShdw>
          </a:effectLst>
        </p:spPr>
      </p:sp>
      <p:pic>
        <p:nvPicPr>
          <p:cNvPr id="14" name="Screen for reason 5" descr="Screen for reason 5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6594" y="777240"/>
            <a:ext cx="2366173" cy="5120640"/>
          </a:xfrm>
          <a:prstGeom prst="rect">
            <a:avLst/>
          </a:prstGeom>
        </p:spPr>
      </p:pic>
      <p:sp>
        <p:nvSpPr>
          <p:cNvPr id="15" name="spacer"/>
          <p:cNvSpPr/>
          <p:nvPr/>
        </p:nvSpPr>
        <p:spPr>
          <a:xfrm>
            <a:off x="6126480" y="1188720"/>
            <a:ext cx="914" cy="914"/>
          </a:xfrm>
          <a:prstGeom prst="roundRect">
            <a:avLst>
              <a:gd name="adj" fmla="val 20008753"/>
            </a:avLst>
          </a:prstGeom>
          <a:solidFill>
            <a:schemeClr val="tx2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17352" y="637336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  <a:latin typeface="Outfit"/>
                <a:ea typeface="Outfit"/>
                <a:cs typeface="Outfit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37160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Registered.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Covered.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chemeClr val="accent1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On record.</a:t>
            </a:r>
            <a:endParaRPr lang="en-US" sz="4600" dirty="0"/>
          </a:p>
        </p:txBody>
      </p:sp>
      <p:pic>
        <p:nvPicPr>
          <p:cNvPr id="3" name="NeoVolt logo" descr="NeoVolt logo: Ride the fu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749040"/>
            <a:ext cx="2560320" cy="1536192"/>
          </a:xfrm>
          <a:prstGeom prst="rect">
            <a:avLst/>
          </a:prstGeom>
        </p:spPr>
      </p:pic>
      <p:sp>
        <p:nvSpPr>
          <p:cNvPr id="4" name="CTA pill"/>
          <p:cNvSpPr/>
          <p:nvPr/>
        </p:nvSpPr>
        <p:spPr>
          <a:xfrm>
            <a:off x="4023360" y="4160520"/>
            <a:ext cx="3108960" cy="5669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" name="CTA label">
            <a:hlinkClick r:id="rId2" tooltip="Open the demo"/>
          </p:cNvPr>
          <p:cNvSpPr txBox="1"/>
          <p:nvPr/>
        </p:nvSpPr>
        <p:spPr>
          <a:xfrm>
            <a:off x="4023360" y="41605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u="sng" dirty="0">
                <a:solidFill>
                  <a:schemeClr val="tx1"/>
                </a:solidFill>
                <a:latin typeface="Outfit" pitchFamily="34" charset="0"/>
                <a:ea typeface="Outfit" pitchFamily="34" charset="-122"/>
                <a:cs typeface="Outfit" pitchFamily="34" charset="-120"/>
                <a:hlinkClick r:id="rId2" invalidUrl="" action="" tgtFrame="" tooltip="Open the dem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See the live demo</a:t>
            </a:r>
            <a:endParaRPr lang="en-US" sz="1500" dirty="0"/>
          </a:p>
        </p:txBody>
      </p:sp>
      <p:sp>
        <p:nvSpPr>
          <p:cNvPr id="6" name="Text"/>
          <p:cNvSpPr txBox="1"/>
          <p:nvPr/>
        </p:nvSpPr>
        <p:spPr>
          <a:xfrm>
            <a:off x="402336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All screens use sample data</a:t>
            </a:r>
            <a:endParaRPr lang="en-US" sz="1200" dirty="0"/>
          </a:p>
        </p:txBody>
      </p:sp>
      <p:sp>
        <p:nvSpPr>
          <p:cNvPr id="7" name="Owner home screen frame"/>
          <p:cNvSpPr/>
          <p:nvPr/>
        </p:nvSpPr>
        <p:spPr>
          <a:xfrm>
            <a:off x="8357616" y="768096"/>
            <a:ext cx="2475901" cy="5230368"/>
          </a:xfrm>
          <a:prstGeom prst="roundRect">
            <a:avLst>
              <a:gd name="adj" fmla="val 9233"/>
            </a:avLst>
          </a:prstGeom>
          <a:solidFill>
            <a:schemeClr val="accent4"/>
          </a:solidFill>
          <a:ln w="1905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28600" dist="101600" dir="5400000">
              <a:srgbClr val="000000">
                <a:alpha val="45000"/>
              </a:srgbClr>
            </a:outerShdw>
          </a:effectLst>
        </p:spPr>
      </p:sp>
      <p:pic>
        <p:nvPicPr>
          <p:cNvPr id="8" name="Owner home screen" descr="Owner home scre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822960"/>
            <a:ext cx="2366173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NeoVolt Poster">
  <a:themeElements>
    <a:clrScheme name="NeoVolt Poster">
      <a:dk1>
        <a:srgbClr val="151D2A"/>
      </a:dk1>
      <a:lt1>
        <a:srgbClr val="FFFFFF"/>
      </a:lt1>
      <a:dk2>
        <a:srgbClr val="151D2A"/>
      </a:dk2>
      <a:lt2>
        <a:srgbClr val="1D2838"/>
      </a:lt2>
      <a:accent1>
        <a:srgbClr val="74B254"/>
      </a:accent1>
      <a:accent2>
        <a:srgbClr val="A5D68A"/>
      </a:accent2>
      <a:accent3>
        <a:srgbClr val="1D2838"/>
      </a:accent3>
      <a:accent4>
        <a:srgbClr val="33445A"/>
      </a:accent4>
      <a:accent5>
        <a:srgbClr val="A9B7C0"/>
      </a:accent5>
      <a:accent6>
        <a:srgbClr val="FFFFFF"/>
      </a:accent6>
      <a:hlink>
        <a:srgbClr val="A5D68A"/>
      </a:hlink>
      <a:folHlink>
        <a:srgbClr val="A9B7C0"/>
      </a:folHlink>
    </a:clrScheme>
    <a:fontScheme name="NeoVolt Poster">
      <a:majorFont>
        <a:latin typeface="Outfi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utfi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 5 reasons to buy NeoVolt</dc:title>
  <dc:subject>PptxGenJS Presentation</dc:subject>
  <dc:creator>NeoVolt</dc:creator>
  <cp:lastModifiedBy>NeoVolt</cp:lastModifiedBy>
  <cp:revision>1</cp:revision>
  <dcterms:created xsi:type="dcterms:W3CDTF">2026-10-17T08:06:45Z</dcterms:created>
  <dcterms:modified xsi:type="dcterms:W3CDTF">2026-10-17T08:06:45Z</dcterms:modified>
</cp:coreProperties>
</file>