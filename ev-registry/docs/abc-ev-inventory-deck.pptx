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y" id="{99747114-6468-1155-db28-35269c48f3a2}">
          <p14:sldIdLst>
            <p14:sldId id="256"/>
            <p14:sldId id="257"/>
          </p14:sldIdLst>
        </p14:section>
        <p14:section name="How it works" id="{f3a2a5d1-9ff4-d462-95af-64275785bd6c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Value" id="{d96910e6-0027-fdca-a62d-219c90dc26c6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Next" id="{6014ffe3-7074-fb7a-38b7-afffd5819bde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Proposal for an inventory system for ABC EV Bikes, covering our own EV bikes and their parts only. All screens are mock-ups with sample data. ABC EV Bikes is a placeholder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mock-up is an illustration of typical spreadsheet and register problems, not a photo of ABC's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numbers on a mock-up.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Motor number, controller serial and battery serial match what the vehicle registry already records for each bike.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sub-second figure is a design target for a search that looks up an indexed database. It should be confirmed on ABC's own data volume during the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qualitative comparison between common spreadsheet-and-register practice and the proposed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Arithmetic: 40 lookups x 300 s x 26 days = 86.7 h. 40 x 90 s x 26 = 26 h. 40 x 1 s x 26 = 17 min. All three are assumptions for illustration, not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suggestions to discuss, not commitments. Order of work can follow what ABC needs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233172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77240" y="393192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NT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fans-app/34dcd851-4012-5285-8b19-5836f8a3c053/scratchpad/deck/img/abc_mark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38251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NT_CENT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fans-app/34dcd851-4012-5285-8b19-5836f8a3c053/scratchpad/deck/img/abc_mark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38251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LEF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fans-app/34dcd851-4012-5285-8b19-5836f8a3c053/scratchpad/deck/img/abc_mark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38251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M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309360" y="1554480"/>
            <a:ext cx="51206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BC EV Bikes logo" descr="ABC EV Bikes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7200"/>
            <a:ext cx="1737360" cy="96795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77240" y="23317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Inventory management for ABC EV Bikes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7724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part, every bike and every dispatch in one place. Found in under a second.</a:t>
            </a:r>
            <a:endParaRPr lang="en-US" sz="1600" dirty="0"/>
          </a:p>
        </p:txBody>
      </p:sp>
      <p:sp>
        <p:nvSpPr>
          <p:cNvPr id="5" name="Hero panel"/>
          <p:cNvSpPr/>
          <p:nvPr/>
        </p:nvSpPr>
        <p:spPr>
          <a:xfrm>
            <a:off x="8275320" y="502920"/>
            <a:ext cx="3200400" cy="5852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</p:sp>
      <p:sp>
        <p:nvSpPr>
          <p:cNvPr id="6" name="Scan to dispatch screen frame"/>
          <p:cNvSpPr/>
          <p:nvPr/>
        </p:nvSpPr>
        <p:spPr>
          <a:xfrm>
            <a:off x="8728520" y="1088136"/>
            <a:ext cx="2294001" cy="4590288"/>
          </a:xfrm>
          <a:prstGeom prst="roundRect">
            <a:avLst>
              <a:gd name="adj" fmla="val 10364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7" name="Scan to dispatch screen" descr="Scan to dispatch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3384" y="1143000"/>
            <a:ext cx="2184273" cy="448056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777240" y="5669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</a:t>
            </a:r>
            <a:endParaRPr lang="en-US" sz="1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5916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ABC EV Bikes</a:t>
            </a:r>
            <a:endParaRPr lang="en-US" sz="1300" dirty="0"/>
          </a:p>
        </p:txBody>
      </p:sp>
      <p:sp>
        <p:nvSpPr>
          <p:cNvPr id="10" name="Text"/>
          <p:cNvSpPr txBox="1"/>
          <p:nvPr/>
        </p:nvSpPr>
        <p:spPr>
          <a:xfrm>
            <a:off x="2971800" y="5669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SCOPE</a:t>
            </a:r>
            <a:endParaRPr lang="en-US" sz="1000" dirty="0"/>
          </a:p>
        </p:txBody>
      </p:sp>
      <p:sp>
        <p:nvSpPr>
          <p:cNvPr id="11" name="Text"/>
          <p:cNvSpPr txBox="1"/>
          <p:nvPr/>
        </p:nvSpPr>
        <p:spPr>
          <a:xfrm>
            <a:off x="2971800" y="5916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Our EV bikes only</a:t>
            </a:r>
            <a:endParaRPr lang="en-US" sz="1300" dirty="0"/>
          </a:p>
        </p:txBody>
      </p:sp>
      <p:sp>
        <p:nvSpPr>
          <p:cNvPr id="12" name="Text"/>
          <p:cNvSpPr txBox="1"/>
          <p:nvPr/>
        </p:nvSpPr>
        <p:spPr>
          <a:xfrm>
            <a:off x="5349240" y="5669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</a:t>
            </a:r>
            <a:endParaRPr lang="en-US" sz="1000" dirty="0"/>
          </a:p>
        </p:txBody>
      </p:sp>
      <p:sp>
        <p:nvSpPr>
          <p:cNvPr id="13" name="Text"/>
          <p:cNvSpPr txBox="1"/>
          <p:nvPr/>
        </p:nvSpPr>
        <p:spPr>
          <a:xfrm>
            <a:off x="5349240" y="5916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Sample data only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8915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Today"/>
          <p:cNvSpPr txBox="1"/>
          <p:nvPr/>
        </p:nvSpPr>
        <p:spPr>
          <a:xfrm>
            <a:off x="777240" y="502920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TODAY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Excel files and paper registers hide the truth</a:t>
            </a:r>
            <a:endParaRPr lang="en-US" sz="3000" dirty="0"/>
          </a:p>
        </p:txBody>
      </p:sp>
      <p:pic>
        <p:nvPicPr>
          <p:cNvPr id="5" name="Messy stock records" descr="A desk of conflicting Excel files, a paper register and sticky no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7000875" cy="448056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E3D3A">
                <a:alpha val="20000"/>
              </a:srgbClr>
            </a:outerShdw>
          </a:effectLst>
        </p:spPr>
      </p:pic>
      <p:sp>
        <p:nvSpPr>
          <p:cNvPr id="6" name="Pain card 1"/>
          <p:cNvSpPr/>
          <p:nvPr/>
        </p:nvSpPr>
        <p:spPr>
          <a:xfrm>
            <a:off x="8235315" y="1600200"/>
            <a:ext cx="3176397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9103995" y="1801368"/>
            <a:ext cx="21705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Finding takes minutes</a:t>
            </a:r>
            <a:endParaRPr lang="en-US" sz="1600" dirty="0"/>
          </a:p>
        </p:txBody>
      </p:sp>
      <p:sp>
        <p:nvSpPr>
          <p:cNvPr id="8" name="Text"/>
          <p:cNvSpPr txBox="1"/>
          <p:nvPr/>
        </p:nvSpPr>
        <p:spPr>
          <a:xfrm>
            <a:off x="9103995" y="2185416"/>
            <a:ext cx="217055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Open the right file, filter, then check the register to be sure.</a:t>
            </a:r>
            <a:endParaRPr lang="en-US" sz="1300" dirty="0"/>
          </a:p>
        </p:txBody>
      </p:sp>
      <p:sp>
        <p:nvSpPr>
          <p:cNvPr id="9" name="Pain card 2"/>
          <p:cNvSpPr/>
          <p:nvPr/>
        </p:nvSpPr>
        <p:spPr>
          <a:xfrm>
            <a:off x="8235315" y="3108960"/>
            <a:ext cx="3176397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9103995" y="3310128"/>
            <a:ext cx="21705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Many versions, no truth</a:t>
            </a:r>
            <a:endParaRPr lang="en-US" sz="1600" dirty="0"/>
          </a:p>
        </p:txBody>
      </p:sp>
      <p:sp>
        <p:nvSpPr>
          <p:cNvPr id="11" name="Text"/>
          <p:cNvSpPr txBox="1"/>
          <p:nvPr/>
        </p:nvSpPr>
        <p:spPr>
          <a:xfrm>
            <a:off x="9103995" y="3694176"/>
            <a:ext cx="217055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stock_FINAL_v3 (1).xlsx. Who has the latest?</a:t>
            </a:r>
            <a:endParaRPr lang="en-US" sz="1300" dirty="0"/>
          </a:p>
        </p:txBody>
      </p:sp>
      <p:sp>
        <p:nvSpPr>
          <p:cNvPr id="12" name="Pain card 3"/>
          <p:cNvSpPr/>
          <p:nvPr/>
        </p:nvSpPr>
        <p:spPr>
          <a:xfrm>
            <a:off x="8235315" y="4617720"/>
            <a:ext cx="3176397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3" name="Text"/>
          <p:cNvSpPr txBox="1"/>
          <p:nvPr/>
        </p:nvSpPr>
        <p:spPr>
          <a:xfrm>
            <a:off x="9103995" y="4818888"/>
            <a:ext cx="21705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Errors creep in</a:t>
            </a:r>
            <a:endParaRPr lang="en-US" sz="1600" dirty="0"/>
          </a:p>
        </p:txBody>
      </p:sp>
      <p:sp>
        <p:nvSpPr>
          <p:cNvPr id="14" name="Text"/>
          <p:cNvSpPr txBox="1"/>
          <p:nvPr/>
        </p:nvSpPr>
        <p:spPr>
          <a:xfrm>
            <a:off x="9103995" y="5202936"/>
            <a:ext cx="217055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Typos, #REF!, negative stock, and a shelf that never matches the sheet.</a:t>
            </a:r>
            <a:endParaRPr lang="en-US" sz="1300" dirty="0"/>
          </a:p>
        </p:txBody>
      </p:sp>
      <p:pic>
        <p:nvPicPr>
          <p:cNvPr id="16" name="Icon Many versions, no truth" descr="Icon Many versions, no tru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915" y="3383280"/>
            <a:ext cx="411480" cy="411480"/>
          </a:xfrm>
          <a:prstGeom prst="rect">
            <a:avLst/>
          </a:prstGeom>
        </p:spPr>
      </p:pic>
      <p:pic>
        <p:nvPicPr>
          <p:cNvPr id="17" name="Icon Finding takes minutes" descr="Icon Finding takes minut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915" y="1874520"/>
            <a:ext cx="411480" cy="411480"/>
          </a:xfrm>
          <a:prstGeom prst="rect">
            <a:avLst/>
          </a:prstGeom>
        </p:spPr>
      </p:pic>
      <p:pic>
        <p:nvPicPr>
          <p:cNvPr id="18" name="Icon Errors creep in" descr="Icon Errors creep 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915" y="4892040"/>
            <a:ext cx="411480" cy="411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58648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One dashboard"/>
          <p:cNvSpPr txBox="1"/>
          <p:nvPr/>
        </p:nvSpPr>
        <p:spPr>
          <a:xfrm>
            <a:off x="777240" y="502920"/>
            <a:ext cx="1586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DASHBOARD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whole store on one screen</a:t>
            </a:r>
            <a:endParaRPr lang="en-US" sz="3000" dirty="0"/>
          </a:p>
        </p:txBody>
      </p:sp>
      <p:pic>
        <p:nvPicPr>
          <p:cNvPr id="5" name="Inventory dashboard" descr="Inventory dashboard with stock by category, low stock and latest dispatch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7040880" cy="434187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E3D3A">
                <a:alpha val="20000"/>
              </a:srgbClr>
            </a:outerShdw>
          </a:effectLst>
        </p:spPr>
      </p:pic>
      <p:sp>
        <p:nvSpPr>
          <p:cNvPr id="6" name="Text"/>
          <p:cNvSpPr txBox="1"/>
          <p:nvPr/>
        </p:nvSpPr>
        <p:spPr>
          <a:xfrm>
            <a:off x="8275320" y="1600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12,480</a:t>
            </a:r>
            <a:endParaRPr lang="en-US" sz="3200" dirty="0"/>
          </a:p>
        </p:txBody>
      </p:sp>
      <p:sp>
        <p:nvSpPr>
          <p:cNvPr id="7" name="Text"/>
          <p:cNvSpPr txBox="1"/>
          <p:nvPr/>
        </p:nvSpPr>
        <p:spPr>
          <a:xfrm>
            <a:off x="8275320" y="2167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parts in stock</a:t>
            </a:r>
            <a:endParaRPr lang="en-US" sz="1500" dirty="0"/>
          </a:p>
        </p:txBody>
      </p:sp>
      <p:sp>
        <p:nvSpPr>
          <p:cNvPr id="8" name="Text"/>
          <p:cNvSpPr txBox="1"/>
          <p:nvPr/>
        </p:nvSpPr>
        <p:spPr>
          <a:xfrm>
            <a:off x="8275320" y="2468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Motors, controllers, batteries, chargers, frames and more.</a:t>
            </a:r>
            <a:endParaRPr lang="en-US" sz="1200" dirty="0"/>
          </a:p>
        </p:txBody>
      </p:sp>
      <p:sp>
        <p:nvSpPr>
          <p:cNvPr id="9" name="Text"/>
          <p:cNvSpPr txBox="1"/>
          <p:nvPr/>
        </p:nvSpPr>
        <p:spPr>
          <a:xfrm>
            <a:off x="8275320" y="3063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214</a:t>
            </a:r>
            <a:endParaRPr lang="en-US" sz="3200" dirty="0"/>
          </a:p>
        </p:txBody>
      </p:sp>
      <p:sp>
        <p:nvSpPr>
          <p:cNvPr id="10" name="Text"/>
          <p:cNvSpPr txBox="1"/>
          <p:nvPr/>
        </p:nvSpPr>
        <p:spPr>
          <a:xfrm>
            <a:off x="8275320" y="3630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bikes ready to dispatch</a:t>
            </a:r>
            <a:endParaRPr lang="en-US" sz="1500" dirty="0"/>
          </a:p>
        </p:txBody>
      </p:sp>
      <p:sp>
        <p:nvSpPr>
          <p:cNvPr id="11" name="Text"/>
          <p:cNvSpPr txBox="1"/>
          <p:nvPr/>
        </p:nvSpPr>
        <p:spPr>
          <a:xfrm>
            <a:off x="827532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Finished bikes waiting in the dispatch bay.</a:t>
            </a:r>
            <a:endParaRPr lang="en-US" sz="1200" dirty="0"/>
          </a:p>
        </p:txBody>
      </p:sp>
      <p:sp>
        <p:nvSpPr>
          <p:cNvPr id="12" name="Text"/>
          <p:cNvSpPr txBox="1"/>
          <p:nvPr/>
        </p:nvSpPr>
        <p:spPr>
          <a:xfrm>
            <a:off x="8275320" y="4526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</a:t>
            </a:r>
            <a:endParaRPr lang="en-US" sz="3200" dirty="0"/>
          </a:p>
        </p:txBody>
      </p:sp>
      <p:sp>
        <p:nvSpPr>
          <p:cNvPr id="13" name="Text"/>
          <p:cNvSpPr txBox="1"/>
          <p:nvPr/>
        </p:nvSpPr>
        <p:spPr>
          <a:xfrm>
            <a:off x="8275320" y="5093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items below minimum</a:t>
            </a:r>
            <a:endParaRPr lang="en-US" sz="1500" dirty="0"/>
          </a:p>
        </p:txBody>
      </p:sp>
      <p:sp>
        <p:nvSpPr>
          <p:cNvPr id="14" name="Text"/>
          <p:cNvSpPr txBox="1"/>
          <p:nvPr/>
        </p:nvSpPr>
        <p:spPr>
          <a:xfrm>
            <a:off x="8275320" y="5394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Low stock is flagged before the shelf is empty.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344668" y="502920"/>
            <a:ext cx="14996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How it works"/>
          <p:cNvSpPr txBox="1"/>
          <p:nvPr/>
        </p:nvSpPr>
        <p:spPr>
          <a:xfrm>
            <a:off x="5344668" y="5029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From the supplier's truck to the dealer</a:t>
            </a:r>
            <a:endParaRPr lang="en-US" sz="3000" dirty="0"/>
          </a:p>
        </p:txBody>
      </p:sp>
      <p:sp>
        <p:nvSpPr>
          <p:cNvPr id="5" name="Flow card Receive"/>
          <p:cNvSpPr/>
          <p:nvPr/>
        </p:nvSpPr>
        <p:spPr>
          <a:xfrm>
            <a:off x="777240" y="2103120"/>
            <a:ext cx="1907438" cy="3017520"/>
          </a:xfrm>
          <a:prstGeom prst="roundRect">
            <a:avLst>
              <a:gd name="adj" fmla="val 9588"/>
            </a:avLst>
          </a:prstGeom>
          <a:solidFill>
            <a:schemeClr val="accent3"/>
          </a:solidFill>
          <a:ln/>
        </p:spPr>
      </p:sp>
      <p:sp>
        <p:nvSpPr>
          <p:cNvPr id="6" name="Flow disc 1"/>
          <p:cNvSpPr/>
          <p:nvPr/>
        </p:nvSpPr>
        <p:spPr>
          <a:xfrm>
            <a:off x="1319479" y="24231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Receive" descr="Icon Rece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2359" y="2606040"/>
            <a:ext cx="457200" cy="45720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914400" y="347472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Receive</a:t>
            </a:r>
            <a:endParaRPr lang="en-US" sz="1800" dirty="0"/>
          </a:p>
        </p:txBody>
      </p:sp>
      <p:sp>
        <p:nvSpPr>
          <p:cNvPr id="9" name="Text"/>
          <p:cNvSpPr txBox="1"/>
          <p:nvPr/>
        </p:nvSpPr>
        <p:spPr>
          <a:xfrm>
            <a:off x="960120" y="3931920"/>
            <a:ext cx="15416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Scan or type each part when it arrives.</a:t>
            </a:r>
            <a:endParaRPr lang="en-US" sz="1300" dirty="0"/>
          </a:p>
        </p:txBody>
      </p:sp>
      <p:sp>
        <p:nvSpPr>
          <p:cNvPr id="10" name="Arrow 1"/>
          <p:cNvSpPr/>
          <p:nvPr/>
        </p:nvSpPr>
        <p:spPr>
          <a:xfrm>
            <a:off x="2702966" y="2834640"/>
            <a:ext cx="23774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Flow card Store"/>
          <p:cNvSpPr/>
          <p:nvPr/>
        </p:nvSpPr>
        <p:spPr>
          <a:xfrm>
            <a:off x="2958998" y="2103120"/>
            <a:ext cx="1907438" cy="3017520"/>
          </a:xfrm>
          <a:prstGeom prst="roundRect">
            <a:avLst>
              <a:gd name="adj" fmla="val 9588"/>
            </a:avLst>
          </a:prstGeom>
          <a:solidFill>
            <a:schemeClr val="accent3"/>
          </a:solidFill>
          <a:ln/>
        </p:spPr>
      </p:sp>
      <p:sp>
        <p:nvSpPr>
          <p:cNvPr id="12" name="Flow disc 2"/>
          <p:cNvSpPr/>
          <p:nvPr/>
        </p:nvSpPr>
        <p:spPr>
          <a:xfrm>
            <a:off x="3501238" y="24231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Store" descr="Icon Sto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118" y="2606040"/>
            <a:ext cx="457200" cy="457200"/>
          </a:xfrm>
          <a:prstGeom prst="rect">
            <a:avLst/>
          </a:prstGeom>
        </p:spPr>
      </p:pic>
      <p:sp>
        <p:nvSpPr>
          <p:cNvPr id="14" name="Text"/>
          <p:cNvSpPr txBox="1"/>
          <p:nvPr/>
        </p:nvSpPr>
        <p:spPr>
          <a:xfrm>
            <a:off x="3096158" y="347472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Store</a:t>
            </a:r>
            <a:endParaRPr lang="en-US" sz="1800" dirty="0"/>
          </a:p>
        </p:txBody>
      </p:sp>
      <p:sp>
        <p:nvSpPr>
          <p:cNvPr id="15" name="Text"/>
          <p:cNvSpPr txBox="1"/>
          <p:nvPr/>
        </p:nvSpPr>
        <p:spPr>
          <a:xfrm>
            <a:off x="3141878" y="3931920"/>
            <a:ext cx="15416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Rack and shelf recorded for every item.</a:t>
            </a:r>
            <a:endParaRPr lang="en-US" sz="1300" dirty="0"/>
          </a:p>
        </p:txBody>
      </p:sp>
      <p:sp>
        <p:nvSpPr>
          <p:cNvPr id="16" name="Arrow 2"/>
          <p:cNvSpPr/>
          <p:nvPr/>
        </p:nvSpPr>
        <p:spPr>
          <a:xfrm>
            <a:off x="4884725" y="2834640"/>
            <a:ext cx="23774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Flow card Assemble"/>
          <p:cNvSpPr/>
          <p:nvPr/>
        </p:nvSpPr>
        <p:spPr>
          <a:xfrm>
            <a:off x="5140757" y="2103120"/>
            <a:ext cx="1907438" cy="3017520"/>
          </a:xfrm>
          <a:prstGeom prst="roundRect">
            <a:avLst>
              <a:gd name="adj" fmla="val 9588"/>
            </a:avLst>
          </a:prstGeom>
          <a:solidFill>
            <a:schemeClr val="accent3"/>
          </a:solidFill>
          <a:ln/>
        </p:spPr>
      </p:sp>
      <p:sp>
        <p:nvSpPr>
          <p:cNvPr id="18" name="Flow disc 3"/>
          <p:cNvSpPr/>
          <p:nvPr/>
        </p:nvSpPr>
        <p:spPr>
          <a:xfrm>
            <a:off x="5682996" y="24231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 Assemble" descr="Icon Assem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76" y="2606040"/>
            <a:ext cx="457200" cy="457200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5277917" y="347472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Assemble</a:t>
            </a:r>
            <a:endParaRPr lang="en-US" sz="1800" dirty="0"/>
          </a:p>
        </p:txBody>
      </p:sp>
      <p:sp>
        <p:nvSpPr>
          <p:cNvPr id="21" name="Text"/>
          <p:cNvSpPr txBox="1"/>
          <p:nvPr/>
        </p:nvSpPr>
        <p:spPr>
          <a:xfrm>
            <a:off x="5323637" y="3931920"/>
            <a:ext cx="15416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Motor, controller and battery serials linked to the bike.</a:t>
            </a:r>
            <a:endParaRPr lang="en-US" sz="1300" dirty="0"/>
          </a:p>
        </p:txBody>
      </p:sp>
      <p:sp>
        <p:nvSpPr>
          <p:cNvPr id="22" name="Arrow 3"/>
          <p:cNvSpPr/>
          <p:nvPr/>
        </p:nvSpPr>
        <p:spPr>
          <a:xfrm>
            <a:off x="7066483" y="2834640"/>
            <a:ext cx="23774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Flow card Dispatch"/>
          <p:cNvSpPr/>
          <p:nvPr/>
        </p:nvSpPr>
        <p:spPr>
          <a:xfrm>
            <a:off x="7322515" y="2103120"/>
            <a:ext cx="1907438" cy="3017520"/>
          </a:xfrm>
          <a:prstGeom prst="roundRect">
            <a:avLst>
              <a:gd name="adj" fmla="val 9588"/>
            </a:avLst>
          </a:prstGeom>
          <a:solidFill>
            <a:schemeClr val="tx2"/>
          </a:solidFill>
          <a:ln/>
        </p:spPr>
      </p:sp>
      <p:sp>
        <p:nvSpPr>
          <p:cNvPr id="24" name="Flow disc 4"/>
          <p:cNvSpPr/>
          <p:nvPr/>
        </p:nvSpPr>
        <p:spPr>
          <a:xfrm>
            <a:off x="7864754" y="24231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 Dispatch" descr="Icon Dispat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634" y="2606040"/>
            <a:ext cx="457200" cy="457200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7459675" y="347472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Dispatch</a:t>
            </a:r>
            <a:endParaRPr lang="en-US" sz="1800" dirty="0"/>
          </a:p>
        </p:txBody>
      </p:sp>
      <p:sp>
        <p:nvSpPr>
          <p:cNvPr id="27" name="Text"/>
          <p:cNvSpPr txBox="1"/>
          <p:nvPr/>
        </p:nvSpPr>
        <p:spPr>
          <a:xfrm>
            <a:off x="7505395" y="3931920"/>
            <a:ext cx="15416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Scan the bike's QR, tap once, done.</a:t>
            </a:r>
            <a:endParaRPr lang="en-US" sz="1300" dirty="0"/>
          </a:p>
        </p:txBody>
      </p:sp>
      <p:sp>
        <p:nvSpPr>
          <p:cNvPr id="28" name="Arrow 4"/>
          <p:cNvSpPr/>
          <p:nvPr/>
        </p:nvSpPr>
        <p:spPr>
          <a:xfrm>
            <a:off x="9248242" y="2834640"/>
            <a:ext cx="23774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Flow card Report"/>
          <p:cNvSpPr/>
          <p:nvPr/>
        </p:nvSpPr>
        <p:spPr>
          <a:xfrm>
            <a:off x="9504274" y="2103120"/>
            <a:ext cx="1907438" cy="3017520"/>
          </a:xfrm>
          <a:prstGeom prst="roundRect">
            <a:avLst>
              <a:gd name="adj" fmla="val 9588"/>
            </a:avLst>
          </a:prstGeom>
          <a:solidFill>
            <a:schemeClr val="accent3"/>
          </a:solidFill>
          <a:ln/>
        </p:spPr>
      </p:sp>
      <p:sp>
        <p:nvSpPr>
          <p:cNvPr id="30" name="Flow disc 5"/>
          <p:cNvSpPr/>
          <p:nvPr/>
        </p:nvSpPr>
        <p:spPr>
          <a:xfrm>
            <a:off x="10046513" y="24231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con Report" descr="Icon Repo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9393" y="2606040"/>
            <a:ext cx="457200" cy="457200"/>
          </a:xfrm>
          <a:prstGeom prst="rect">
            <a:avLst/>
          </a:prstGeom>
        </p:spPr>
      </p:pic>
      <p:sp>
        <p:nvSpPr>
          <p:cNvPr id="32" name="Text"/>
          <p:cNvSpPr txBox="1"/>
          <p:nvPr/>
        </p:nvSpPr>
        <p:spPr>
          <a:xfrm>
            <a:off x="9641434" y="347472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Report</a:t>
            </a:r>
            <a:endParaRPr lang="en-US" sz="1800" dirty="0"/>
          </a:p>
        </p:txBody>
      </p:sp>
      <p:sp>
        <p:nvSpPr>
          <p:cNvPr id="33" name="Text"/>
          <p:cNvSpPr txBox="1"/>
          <p:nvPr/>
        </p:nvSpPr>
        <p:spPr>
          <a:xfrm>
            <a:off x="9687154" y="3931920"/>
            <a:ext cx="15416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Ledger, dispatch register and low stock, on demand.</a:t>
            </a:r>
            <a:endParaRPr lang="en-US" sz="1300" dirty="0"/>
          </a:p>
        </p:txBody>
      </p:sp>
      <p:sp>
        <p:nvSpPr>
          <p:cNvPr id="34" name="Text"/>
          <p:cNvSpPr txBox="1"/>
          <p:nvPr/>
        </p:nvSpPr>
        <p:spPr>
          <a:xfrm>
            <a:off x="777240" y="548640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step updates the same record, so the store, assembly and dispatch always agree.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8915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Parts"/>
          <p:cNvSpPr txBox="1"/>
          <p:nvPr/>
        </p:nvSpPr>
        <p:spPr>
          <a:xfrm>
            <a:off x="777240" y="502920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Manage every part, down to the serial number</a:t>
            </a:r>
            <a:endParaRPr lang="en-US" sz="3000" dirty="0"/>
          </a:p>
        </p:txBody>
      </p:sp>
      <p:sp>
        <p:nvSpPr>
          <p:cNvPr id="5" name="Text"/>
          <p:cNvSpPr txBox="1"/>
          <p:nvPr/>
        </p:nvSpPr>
        <p:spPr>
          <a:xfrm>
            <a:off x="777240" y="1645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TRACKED BY SERIAL NUMBER</a:t>
            </a:r>
            <a:endParaRPr lang="en-US" sz="1000" dirty="0"/>
          </a:p>
        </p:txBody>
      </p:sp>
      <p:sp>
        <p:nvSpPr>
          <p:cNvPr id="6" name="Serial card Motor"/>
          <p:cNvSpPr/>
          <p:nvPr/>
        </p:nvSpPr>
        <p:spPr>
          <a:xfrm>
            <a:off x="777240" y="1965960"/>
            <a:ext cx="3361944" cy="1600200"/>
          </a:xfrm>
          <a:prstGeom prst="roundRect">
            <a:avLst>
              <a:gd name="adj" fmla="val 9143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7" name="Disc Motor"/>
          <p:cNvSpPr/>
          <p:nvPr/>
        </p:nvSpPr>
        <p:spPr>
          <a:xfrm>
            <a:off x="1005840" y="21945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Icon Motor" descr="Icon Mo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31720"/>
            <a:ext cx="365760" cy="36576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28800" y="2194560"/>
            <a:ext cx="2173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Motor</a:t>
            </a:r>
            <a:endParaRPr lang="en-US" sz="1800" dirty="0"/>
          </a:p>
        </p:txBody>
      </p:sp>
      <p:sp>
        <p:nvSpPr>
          <p:cNvPr id="10" name="Text"/>
          <p:cNvSpPr txBox="1"/>
          <p:nvPr/>
        </p:nvSpPr>
        <p:spPr>
          <a:xfrm>
            <a:off x="1828800" y="2542032"/>
            <a:ext cx="2173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Motor number</a:t>
            </a:r>
            <a:endParaRPr lang="en-US" sz="1200" dirty="0"/>
          </a:p>
        </p:txBody>
      </p:sp>
      <p:sp>
        <p:nvSpPr>
          <p:cNvPr id="11" name="Text"/>
          <p:cNvSpPr txBox="1"/>
          <p:nvPr/>
        </p:nvSpPr>
        <p:spPr>
          <a:xfrm>
            <a:off x="1005840" y="3017520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MTR-250-8695278</a:t>
            </a:r>
            <a:endParaRPr lang="en-US" sz="1400" dirty="0"/>
          </a:p>
        </p:txBody>
      </p:sp>
      <p:sp>
        <p:nvSpPr>
          <p:cNvPr id="12" name="Serial card Controller"/>
          <p:cNvSpPr/>
          <p:nvPr/>
        </p:nvSpPr>
        <p:spPr>
          <a:xfrm>
            <a:off x="4413504" y="1965960"/>
            <a:ext cx="3361944" cy="1600200"/>
          </a:xfrm>
          <a:prstGeom prst="roundRect">
            <a:avLst>
              <a:gd name="adj" fmla="val 9143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3" name="Disc Controller"/>
          <p:cNvSpPr/>
          <p:nvPr/>
        </p:nvSpPr>
        <p:spPr>
          <a:xfrm>
            <a:off x="4642104" y="21945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con Controller" descr="Icon Controll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264" y="2331720"/>
            <a:ext cx="365760" cy="365760"/>
          </a:xfrm>
          <a:prstGeom prst="rect">
            <a:avLst/>
          </a:prstGeom>
        </p:spPr>
      </p:pic>
      <p:sp>
        <p:nvSpPr>
          <p:cNvPr id="15" name="Text"/>
          <p:cNvSpPr txBox="1"/>
          <p:nvPr/>
        </p:nvSpPr>
        <p:spPr>
          <a:xfrm>
            <a:off x="5465064" y="2194560"/>
            <a:ext cx="2173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Controller</a:t>
            </a:r>
            <a:endParaRPr lang="en-US" sz="1800" dirty="0"/>
          </a:p>
        </p:txBody>
      </p:sp>
      <p:sp>
        <p:nvSpPr>
          <p:cNvPr id="16" name="Text"/>
          <p:cNvSpPr txBox="1"/>
          <p:nvPr/>
        </p:nvSpPr>
        <p:spPr>
          <a:xfrm>
            <a:off x="5465064" y="2542032"/>
            <a:ext cx="2173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Controller serial</a:t>
            </a:r>
            <a:endParaRPr lang="en-US" sz="1200" dirty="0"/>
          </a:p>
        </p:txBody>
      </p:sp>
      <p:sp>
        <p:nvSpPr>
          <p:cNvPr id="17" name="Text"/>
          <p:cNvSpPr txBox="1"/>
          <p:nvPr/>
        </p:nvSpPr>
        <p:spPr>
          <a:xfrm>
            <a:off x="4642104" y="3017520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CTL-48V-725741</a:t>
            </a:r>
            <a:endParaRPr lang="en-US" sz="1400" dirty="0"/>
          </a:p>
        </p:txBody>
      </p:sp>
      <p:sp>
        <p:nvSpPr>
          <p:cNvPr id="18" name="Serial card Battery"/>
          <p:cNvSpPr/>
          <p:nvPr/>
        </p:nvSpPr>
        <p:spPr>
          <a:xfrm>
            <a:off x="8049768" y="1965960"/>
            <a:ext cx="3361944" cy="1600200"/>
          </a:xfrm>
          <a:prstGeom prst="roundRect">
            <a:avLst>
              <a:gd name="adj" fmla="val 9143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9" name="Disc Battery"/>
          <p:cNvSpPr/>
          <p:nvPr/>
        </p:nvSpPr>
        <p:spPr>
          <a:xfrm>
            <a:off x="8278368" y="21945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con Battery" descr="Icon Batte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528" y="2331720"/>
            <a:ext cx="365760" cy="365760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9101328" y="2194560"/>
            <a:ext cx="2173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Battery</a:t>
            </a:r>
            <a:endParaRPr lang="en-US" sz="1800" dirty="0"/>
          </a:p>
        </p:txBody>
      </p:sp>
      <p:sp>
        <p:nvSpPr>
          <p:cNvPr id="22" name="Text"/>
          <p:cNvSpPr txBox="1"/>
          <p:nvPr/>
        </p:nvSpPr>
        <p:spPr>
          <a:xfrm>
            <a:off x="9101328" y="2542032"/>
            <a:ext cx="2173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Battery serial</a:t>
            </a:r>
            <a:endParaRPr lang="en-US" sz="1200" dirty="0"/>
          </a:p>
        </p:txBody>
      </p:sp>
      <p:sp>
        <p:nvSpPr>
          <p:cNvPr id="23" name="Text"/>
          <p:cNvSpPr txBox="1"/>
          <p:nvPr/>
        </p:nvSpPr>
        <p:spPr>
          <a:xfrm>
            <a:off x="8278368" y="3017520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BAT-48V20-7257410</a:t>
            </a:r>
            <a:endParaRPr lang="en-US" sz="1400" dirty="0"/>
          </a:p>
        </p:txBody>
      </p:sp>
      <p:sp>
        <p:nvSpPr>
          <p:cNvPr id="24" name="Text"/>
          <p:cNvSpPr txBox="1"/>
          <p:nvPr/>
        </p:nvSpPr>
        <p:spPr>
          <a:xfrm>
            <a:off x="777240" y="3840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TRACKED BY QUANTITY</a:t>
            </a:r>
            <a:endParaRPr lang="en-US" sz="1000" dirty="0"/>
          </a:p>
        </p:txBody>
      </p:sp>
      <p:sp>
        <p:nvSpPr>
          <p:cNvPr id="25" name="Chip Chargers"/>
          <p:cNvSpPr/>
          <p:nvPr/>
        </p:nvSpPr>
        <p:spPr>
          <a:xfrm>
            <a:off x="777240" y="4160520"/>
            <a:ext cx="2452878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/>
        </p:spPr>
      </p:sp>
      <p:sp>
        <p:nvSpPr>
          <p:cNvPr id="26" name="Text"/>
          <p:cNvSpPr txBox="1"/>
          <p:nvPr/>
        </p:nvSpPr>
        <p:spPr>
          <a:xfrm>
            <a:off x="777240" y="4160520"/>
            <a:ext cx="24528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Chargers</a:t>
            </a:r>
            <a:endParaRPr lang="en-US" sz="1400" dirty="0"/>
          </a:p>
        </p:txBody>
      </p:sp>
      <p:sp>
        <p:nvSpPr>
          <p:cNvPr id="27" name="Chip Frames"/>
          <p:cNvSpPr/>
          <p:nvPr/>
        </p:nvSpPr>
        <p:spPr>
          <a:xfrm>
            <a:off x="3504438" y="4160520"/>
            <a:ext cx="2452878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/>
        </p:spPr>
      </p:sp>
      <p:sp>
        <p:nvSpPr>
          <p:cNvPr id="28" name="Text"/>
          <p:cNvSpPr txBox="1"/>
          <p:nvPr/>
        </p:nvSpPr>
        <p:spPr>
          <a:xfrm>
            <a:off x="3504438" y="4160520"/>
            <a:ext cx="24528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Frames</a:t>
            </a:r>
            <a:endParaRPr lang="en-US" sz="1400" dirty="0"/>
          </a:p>
        </p:txBody>
      </p:sp>
      <p:sp>
        <p:nvSpPr>
          <p:cNvPr id="29" name="Chip Tyres"/>
          <p:cNvSpPr/>
          <p:nvPr/>
        </p:nvSpPr>
        <p:spPr>
          <a:xfrm>
            <a:off x="6231636" y="4160520"/>
            <a:ext cx="2452878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/>
        </p:spPr>
      </p:sp>
      <p:sp>
        <p:nvSpPr>
          <p:cNvPr id="30" name="Text"/>
          <p:cNvSpPr txBox="1"/>
          <p:nvPr/>
        </p:nvSpPr>
        <p:spPr>
          <a:xfrm>
            <a:off x="6231636" y="4160520"/>
            <a:ext cx="24528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Tyres</a:t>
            </a:r>
            <a:endParaRPr lang="en-US" sz="1400" dirty="0"/>
          </a:p>
        </p:txBody>
      </p:sp>
      <p:sp>
        <p:nvSpPr>
          <p:cNvPr id="31" name="Chip Lights"/>
          <p:cNvSpPr/>
          <p:nvPr/>
        </p:nvSpPr>
        <p:spPr>
          <a:xfrm>
            <a:off x="8958834" y="4160520"/>
            <a:ext cx="2452878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/>
        </p:spPr>
      </p:sp>
      <p:sp>
        <p:nvSpPr>
          <p:cNvPr id="32" name="Text"/>
          <p:cNvSpPr txBox="1"/>
          <p:nvPr/>
        </p:nvSpPr>
        <p:spPr>
          <a:xfrm>
            <a:off x="8958834" y="4160520"/>
            <a:ext cx="24528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Lights</a:t>
            </a:r>
            <a:endParaRPr lang="en-US" sz="1400" dirty="0"/>
          </a:p>
        </p:txBody>
      </p:sp>
      <p:sp>
        <p:nvSpPr>
          <p:cNvPr id="33" name="Chip Display units"/>
          <p:cNvSpPr/>
          <p:nvPr/>
        </p:nvSpPr>
        <p:spPr>
          <a:xfrm>
            <a:off x="777240" y="4846320"/>
            <a:ext cx="2452878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/>
        </p:spPr>
      </p:sp>
      <p:sp>
        <p:nvSpPr>
          <p:cNvPr id="34" name="Text"/>
          <p:cNvSpPr txBox="1"/>
          <p:nvPr/>
        </p:nvSpPr>
        <p:spPr>
          <a:xfrm>
            <a:off x="777240" y="4846320"/>
            <a:ext cx="24528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Display units</a:t>
            </a:r>
            <a:endParaRPr lang="en-US" sz="1400" dirty="0"/>
          </a:p>
        </p:txBody>
      </p:sp>
      <p:sp>
        <p:nvSpPr>
          <p:cNvPr id="35" name="Chip Brake levers"/>
          <p:cNvSpPr/>
          <p:nvPr/>
        </p:nvSpPr>
        <p:spPr>
          <a:xfrm>
            <a:off x="3504438" y="4846320"/>
            <a:ext cx="2452878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/>
        </p:spPr>
      </p:sp>
      <p:sp>
        <p:nvSpPr>
          <p:cNvPr id="36" name="Text"/>
          <p:cNvSpPr txBox="1"/>
          <p:nvPr/>
        </p:nvSpPr>
        <p:spPr>
          <a:xfrm>
            <a:off x="3504438" y="4846320"/>
            <a:ext cx="24528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Brake levers</a:t>
            </a:r>
            <a:endParaRPr lang="en-US" sz="1400" dirty="0"/>
          </a:p>
        </p:txBody>
      </p:sp>
      <p:sp>
        <p:nvSpPr>
          <p:cNvPr id="37" name="Chip Wiring harness"/>
          <p:cNvSpPr/>
          <p:nvPr/>
        </p:nvSpPr>
        <p:spPr>
          <a:xfrm>
            <a:off x="6231636" y="4846320"/>
            <a:ext cx="2452878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/>
        </p:spPr>
      </p:sp>
      <p:sp>
        <p:nvSpPr>
          <p:cNvPr id="38" name="Text"/>
          <p:cNvSpPr txBox="1"/>
          <p:nvPr/>
        </p:nvSpPr>
        <p:spPr>
          <a:xfrm>
            <a:off x="6231636" y="4846320"/>
            <a:ext cx="24528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Wiring harness</a:t>
            </a:r>
            <a:endParaRPr lang="en-US" sz="1400" dirty="0"/>
          </a:p>
        </p:txBody>
      </p:sp>
      <p:sp>
        <p:nvSpPr>
          <p:cNvPr id="39" name="Chip Fasteners"/>
          <p:cNvSpPr/>
          <p:nvPr/>
        </p:nvSpPr>
        <p:spPr>
          <a:xfrm>
            <a:off x="8958834" y="4846320"/>
            <a:ext cx="2452878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/>
        </p:spPr>
      </p:sp>
      <p:sp>
        <p:nvSpPr>
          <p:cNvPr id="40" name="Text"/>
          <p:cNvSpPr txBox="1"/>
          <p:nvPr/>
        </p:nvSpPr>
        <p:spPr>
          <a:xfrm>
            <a:off x="8958834" y="4846320"/>
            <a:ext cx="24528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Fasteners</a:t>
            </a:r>
            <a:endParaRPr lang="en-US" sz="1400" dirty="0"/>
          </a:p>
        </p:txBody>
      </p:sp>
      <p:sp>
        <p:nvSpPr>
          <p:cNvPr id="41" name="Text"/>
          <p:cNvSpPr txBox="1"/>
          <p:nvPr/>
        </p:nvSpPr>
        <p:spPr>
          <a:xfrm>
            <a:off x="777240" y="562356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Each part also carries supplier, received date, rack, minimum level and a full movement history.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4996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Excel upload"/>
          <p:cNvSpPr txBox="1"/>
          <p:nvPr/>
        </p:nvSpPr>
        <p:spPr>
          <a:xfrm>
            <a:off x="777240" y="5029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EXCEL UPLOAD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Bring your existing sheets in minutes</a:t>
            </a:r>
            <a:endParaRPr lang="en-US" sz="3000" dirty="0"/>
          </a:p>
        </p:txBody>
      </p:sp>
      <p:pic>
        <p:nvPicPr>
          <p:cNvPr id="5" name="Excel upload screen" descr="Upload screen: match Excel columns and review rows before im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6766560" cy="4305993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E3D3A">
                <a:alpha val="20000"/>
              </a:srgbClr>
            </a:outerShdw>
          </a:effectLst>
        </p:spPr>
      </p:pic>
      <p:sp>
        <p:nvSpPr>
          <p:cNvPr id="6" name="Point dot 1"/>
          <p:cNvSpPr/>
          <p:nvPr/>
        </p:nvSpPr>
        <p:spPr>
          <a:xfrm>
            <a:off x="8001000" y="163677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"/>
          <p:cNvSpPr txBox="1"/>
          <p:nvPr/>
        </p:nvSpPr>
        <p:spPr>
          <a:xfrm>
            <a:off x="8001000" y="1636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"/>
          <p:cNvSpPr txBox="1"/>
          <p:nvPr/>
        </p:nvSpPr>
        <p:spPr>
          <a:xfrm>
            <a:off x="8458200" y="1600200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Upload the sheet you have</a:t>
            </a:r>
            <a:endParaRPr lang="en-US" sz="1600" dirty="0"/>
          </a:p>
        </p:txBody>
      </p:sp>
      <p:sp>
        <p:nvSpPr>
          <p:cNvPr id="9" name="Text"/>
          <p:cNvSpPr txBox="1"/>
          <p:nvPr/>
        </p:nvSpPr>
        <p:spPr>
          <a:xfrm>
            <a:off x="8458200" y="196596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.xlsx or .csv, any column order.</a:t>
            </a:r>
            <a:endParaRPr lang="en-US" sz="1300" dirty="0"/>
          </a:p>
        </p:txBody>
      </p:sp>
      <p:sp>
        <p:nvSpPr>
          <p:cNvPr id="10" name="Point dot 2"/>
          <p:cNvSpPr/>
          <p:nvPr/>
        </p:nvSpPr>
        <p:spPr>
          <a:xfrm>
            <a:off x="8001000" y="305409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"/>
          <p:cNvSpPr txBox="1"/>
          <p:nvPr/>
        </p:nvSpPr>
        <p:spPr>
          <a:xfrm>
            <a:off x="800100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"/>
          <p:cNvSpPr txBox="1"/>
          <p:nvPr/>
        </p:nvSpPr>
        <p:spPr>
          <a:xfrm>
            <a:off x="8458200" y="3017520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Match columns once</a:t>
            </a:r>
            <a:endParaRPr lang="en-US" sz="1600" dirty="0"/>
          </a:p>
        </p:txBody>
      </p:sp>
      <p:sp>
        <p:nvSpPr>
          <p:cNvPr id="13" name="Text"/>
          <p:cNvSpPr txBox="1"/>
          <p:nvPr/>
        </p:nvSpPr>
        <p:spPr>
          <a:xfrm>
            <a:off x="8458200" y="338328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headings map to ABC fields, saved for next time.</a:t>
            </a:r>
            <a:endParaRPr lang="en-US" sz="1300" dirty="0"/>
          </a:p>
        </p:txBody>
      </p:sp>
      <p:sp>
        <p:nvSpPr>
          <p:cNvPr id="14" name="Point dot 3"/>
          <p:cNvSpPr/>
          <p:nvPr/>
        </p:nvSpPr>
        <p:spPr>
          <a:xfrm>
            <a:off x="8001000" y="447141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"/>
          <p:cNvSpPr txBox="1"/>
          <p:nvPr/>
        </p:nvSpPr>
        <p:spPr>
          <a:xfrm>
            <a:off x="8001000" y="4471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"/>
          <p:cNvSpPr txBox="1"/>
          <p:nvPr/>
        </p:nvSpPr>
        <p:spPr>
          <a:xfrm>
            <a:off x="8458200" y="4434840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Fix errors before import</a:t>
            </a:r>
            <a:endParaRPr lang="en-US" sz="1600" dirty="0"/>
          </a:p>
        </p:txBody>
      </p:sp>
      <p:sp>
        <p:nvSpPr>
          <p:cNvPr id="17" name="Text"/>
          <p:cNvSpPr txBox="1"/>
          <p:nvPr/>
        </p:nvSpPr>
        <p:spPr>
          <a:xfrm>
            <a:off x="8458200" y="480060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Duplicate or missing serials are listed, with a downloadable error file.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4996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On the phone"/>
          <p:cNvSpPr txBox="1"/>
          <p:nvPr/>
        </p:nvSpPr>
        <p:spPr>
          <a:xfrm>
            <a:off x="777240" y="5029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 THE PHONE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Fill stock from the shop floor</a:t>
            </a:r>
            <a:endParaRPr lang="en-US" sz="3000" dirty="0"/>
          </a:p>
        </p:txBody>
      </p:sp>
      <p:sp>
        <p:nvSpPr>
          <p:cNvPr id="5" name="Receive stock on a phone frame"/>
          <p:cNvSpPr/>
          <p:nvPr/>
        </p:nvSpPr>
        <p:spPr>
          <a:xfrm>
            <a:off x="996696" y="1591056"/>
            <a:ext cx="2316290" cy="4636008"/>
          </a:xfrm>
          <a:prstGeom prst="roundRect">
            <a:avLst>
              <a:gd name="adj" fmla="val 10264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6" name="Receive stock on a phone" descr="Receive stock on a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45920"/>
            <a:ext cx="2206562" cy="4526280"/>
          </a:xfrm>
          <a:prstGeom prst="rect">
            <a:avLst/>
          </a:prstGeom>
        </p:spPr>
      </p:pic>
      <p:sp>
        <p:nvSpPr>
          <p:cNvPr id="7" name="Point dot 1"/>
          <p:cNvSpPr/>
          <p:nvPr/>
        </p:nvSpPr>
        <p:spPr>
          <a:xfrm>
            <a:off x="4172522" y="168249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"/>
          <p:cNvSpPr txBox="1"/>
          <p:nvPr/>
        </p:nvSpPr>
        <p:spPr>
          <a:xfrm>
            <a:off x="4172522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"/>
          <p:cNvSpPr txBox="1"/>
          <p:nvPr/>
        </p:nvSpPr>
        <p:spPr>
          <a:xfrm>
            <a:off x="4629722" y="1645920"/>
            <a:ext cx="67819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Scan the barcode, don't type</a:t>
            </a:r>
            <a:endParaRPr lang="en-US" sz="1600" dirty="0"/>
          </a:p>
        </p:txBody>
      </p:sp>
      <p:sp>
        <p:nvSpPr>
          <p:cNvPr id="10" name="Text"/>
          <p:cNvSpPr txBox="1"/>
          <p:nvPr/>
        </p:nvSpPr>
        <p:spPr>
          <a:xfrm>
            <a:off x="4629722" y="2011680"/>
            <a:ext cx="67819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phone camera reads the serial from the part label.</a:t>
            </a:r>
            <a:endParaRPr lang="en-US" sz="1300" dirty="0"/>
          </a:p>
        </p:txBody>
      </p:sp>
      <p:sp>
        <p:nvSpPr>
          <p:cNvPr id="11" name="Point dot 2"/>
          <p:cNvSpPr/>
          <p:nvPr/>
        </p:nvSpPr>
        <p:spPr>
          <a:xfrm>
            <a:off x="4172522" y="277977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"/>
          <p:cNvSpPr txBox="1"/>
          <p:nvPr/>
        </p:nvSpPr>
        <p:spPr>
          <a:xfrm>
            <a:off x="4172522" y="2779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"/>
          <p:cNvSpPr txBox="1"/>
          <p:nvPr/>
        </p:nvSpPr>
        <p:spPr>
          <a:xfrm>
            <a:off x="4629722" y="2743200"/>
            <a:ext cx="67819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Pick type, supplier and rack</a:t>
            </a:r>
            <a:endParaRPr lang="en-US" sz="1600" dirty="0"/>
          </a:p>
        </p:txBody>
      </p:sp>
      <p:sp>
        <p:nvSpPr>
          <p:cNvPr id="14" name="Text"/>
          <p:cNvSpPr txBox="1"/>
          <p:nvPr/>
        </p:nvSpPr>
        <p:spPr>
          <a:xfrm>
            <a:off x="4629722" y="3108960"/>
            <a:ext cx="67819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Chips and dropdowns keep entries clean.</a:t>
            </a:r>
            <a:endParaRPr lang="en-US" sz="1300" dirty="0"/>
          </a:p>
        </p:txBody>
      </p:sp>
      <p:sp>
        <p:nvSpPr>
          <p:cNvPr id="15" name="Point dot 3"/>
          <p:cNvSpPr/>
          <p:nvPr/>
        </p:nvSpPr>
        <p:spPr>
          <a:xfrm>
            <a:off x="4172522" y="387705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"/>
          <p:cNvSpPr txBox="1"/>
          <p:nvPr/>
        </p:nvSpPr>
        <p:spPr>
          <a:xfrm>
            <a:off x="4172522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"/>
          <p:cNvSpPr txBox="1"/>
          <p:nvPr/>
        </p:nvSpPr>
        <p:spPr>
          <a:xfrm>
            <a:off x="4629722" y="3840480"/>
            <a:ext cx="67819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Tap Add to stock</a:t>
            </a:r>
            <a:endParaRPr lang="en-US" sz="1600" dirty="0"/>
          </a:p>
        </p:txBody>
      </p:sp>
      <p:sp>
        <p:nvSpPr>
          <p:cNvPr id="18" name="Text"/>
          <p:cNvSpPr txBox="1"/>
          <p:nvPr/>
        </p:nvSpPr>
        <p:spPr>
          <a:xfrm>
            <a:off x="4629722" y="4206240"/>
            <a:ext cx="67819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dashboard updates for everyone straight away.</a:t>
            </a:r>
            <a:endParaRPr lang="en-US" sz="1300" dirty="0"/>
          </a:p>
        </p:txBody>
      </p:sp>
      <p:sp>
        <p:nvSpPr>
          <p:cNvPr id="19" name="Point dot 4"/>
          <p:cNvSpPr/>
          <p:nvPr/>
        </p:nvSpPr>
        <p:spPr>
          <a:xfrm>
            <a:off x="4172522" y="497433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"/>
          <p:cNvSpPr txBox="1"/>
          <p:nvPr/>
        </p:nvSpPr>
        <p:spPr>
          <a:xfrm>
            <a:off x="4172522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"/>
          <p:cNvSpPr txBox="1"/>
          <p:nvPr/>
        </p:nvSpPr>
        <p:spPr>
          <a:xfrm>
            <a:off x="4629722" y="4937760"/>
            <a:ext cx="67819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Works for new and returned parts</a:t>
            </a:r>
            <a:endParaRPr lang="en-US" sz="1600" dirty="0"/>
          </a:p>
        </p:txBody>
      </p:sp>
      <p:sp>
        <p:nvSpPr>
          <p:cNvPr id="22" name="Text"/>
          <p:cNvSpPr txBox="1"/>
          <p:nvPr/>
        </p:nvSpPr>
        <p:spPr>
          <a:xfrm>
            <a:off x="4629722" y="5303520"/>
            <a:ext cx="67819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Receive, count and move stock from one screen.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15214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Dispatch"/>
          <p:cNvSpPr txBox="1"/>
          <p:nvPr/>
        </p:nvSpPr>
        <p:spPr>
          <a:xfrm>
            <a:off x="777240" y="50292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DISPATCH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Scan to dispatch. One tap marks it sent</a:t>
            </a:r>
            <a:endParaRPr lang="en-US" sz="3000" dirty="0"/>
          </a:p>
        </p:txBody>
      </p:sp>
      <p:sp>
        <p:nvSpPr>
          <p:cNvPr id="5" name="Scan bikes and parts to dispatch frame"/>
          <p:cNvSpPr/>
          <p:nvPr/>
        </p:nvSpPr>
        <p:spPr>
          <a:xfrm>
            <a:off x="996696" y="1591056"/>
            <a:ext cx="2316290" cy="4636008"/>
          </a:xfrm>
          <a:prstGeom prst="roundRect">
            <a:avLst>
              <a:gd name="adj" fmla="val 10264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6" name="Scan bikes and parts to dispatch" descr="Scan bikes and parts to dispat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45920"/>
            <a:ext cx="2206562" cy="4526280"/>
          </a:xfrm>
          <a:prstGeom prst="rect">
            <a:avLst/>
          </a:prstGeom>
        </p:spPr>
      </p:pic>
      <p:sp>
        <p:nvSpPr>
          <p:cNvPr id="7" name="Arrow"/>
          <p:cNvSpPr/>
          <p:nvPr/>
        </p:nvSpPr>
        <p:spPr>
          <a:xfrm>
            <a:off x="3441002" y="3840480"/>
            <a:ext cx="5029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Dispatch confirmed frame"/>
          <p:cNvSpPr/>
          <p:nvPr/>
        </p:nvSpPr>
        <p:spPr>
          <a:xfrm>
            <a:off x="4071938" y="1591056"/>
            <a:ext cx="2316290" cy="4636008"/>
          </a:xfrm>
          <a:prstGeom prst="roundRect">
            <a:avLst>
              <a:gd name="adj" fmla="val 10264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9" name="Dispatch confirmed" descr="Dispatch confirm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801" y="1645920"/>
            <a:ext cx="2206562" cy="4526280"/>
          </a:xfrm>
          <a:prstGeom prst="rect">
            <a:avLst/>
          </a:prstGeom>
        </p:spPr>
      </p:pic>
      <p:sp>
        <p:nvSpPr>
          <p:cNvPr id="10" name="Point dot 1"/>
          <p:cNvSpPr/>
          <p:nvPr/>
        </p:nvSpPr>
        <p:spPr>
          <a:xfrm>
            <a:off x="6882003" y="168249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"/>
          <p:cNvSpPr txBox="1"/>
          <p:nvPr/>
        </p:nvSpPr>
        <p:spPr>
          <a:xfrm>
            <a:off x="6882003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"/>
          <p:cNvSpPr txBox="1"/>
          <p:nvPr/>
        </p:nvSpPr>
        <p:spPr>
          <a:xfrm>
            <a:off x="7339203" y="1645920"/>
            <a:ext cx="40725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Scan the QR on the bike</a:t>
            </a:r>
            <a:endParaRPr lang="en-US" sz="1600" dirty="0"/>
          </a:p>
        </p:txBody>
      </p:sp>
      <p:sp>
        <p:nvSpPr>
          <p:cNvPr id="13" name="Text"/>
          <p:cNvSpPr txBox="1"/>
          <p:nvPr/>
        </p:nvSpPr>
        <p:spPr>
          <a:xfrm>
            <a:off x="7339203" y="2011680"/>
            <a:ext cx="40725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Or the barcode on a spare part. Each scan adds it to the dispatch.</a:t>
            </a:r>
            <a:endParaRPr lang="en-US" sz="1300" dirty="0"/>
          </a:p>
        </p:txBody>
      </p:sp>
      <p:sp>
        <p:nvSpPr>
          <p:cNvPr id="14" name="Point dot 2"/>
          <p:cNvSpPr/>
          <p:nvPr/>
        </p:nvSpPr>
        <p:spPr>
          <a:xfrm>
            <a:off x="6882003" y="319125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"/>
          <p:cNvSpPr txBox="1"/>
          <p:nvPr/>
        </p:nvSpPr>
        <p:spPr>
          <a:xfrm>
            <a:off x="6882003" y="3191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"/>
          <p:cNvSpPr txBox="1"/>
          <p:nvPr/>
        </p:nvSpPr>
        <p:spPr>
          <a:xfrm>
            <a:off x="7339203" y="3154680"/>
            <a:ext cx="40725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Mark as dispatched</a:t>
            </a:r>
            <a:endParaRPr lang="en-US" sz="1600" dirty="0"/>
          </a:p>
        </p:txBody>
      </p:sp>
      <p:sp>
        <p:nvSpPr>
          <p:cNvPr id="17" name="Text"/>
          <p:cNvSpPr txBox="1"/>
          <p:nvPr/>
        </p:nvSpPr>
        <p:spPr>
          <a:xfrm>
            <a:off x="7339203" y="3520440"/>
            <a:ext cx="40725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Stock drops, the dealer is recorded, the time and person are logged.</a:t>
            </a:r>
            <a:endParaRPr lang="en-US" sz="1300" dirty="0"/>
          </a:p>
        </p:txBody>
      </p:sp>
      <p:sp>
        <p:nvSpPr>
          <p:cNvPr id="18" name="Point dot 3"/>
          <p:cNvSpPr/>
          <p:nvPr/>
        </p:nvSpPr>
        <p:spPr>
          <a:xfrm>
            <a:off x="6882003" y="470001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"/>
          <p:cNvSpPr txBox="1"/>
          <p:nvPr/>
        </p:nvSpPr>
        <p:spPr>
          <a:xfrm>
            <a:off x="6882003" y="4700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"/>
          <p:cNvSpPr txBox="1"/>
          <p:nvPr/>
        </p:nvSpPr>
        <p:spPr>
          <a:xfrm>
            <a:off x="7339203" y="4663440"/>
            <a:ext cx="40725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Share the slip</a:t>
            </a:r>
            <a:endParaRPr lang="en-US" sz="1600" dirty="0"/>
          </a:p>
        </p:txBody>
      </p:sp>
      <p:sp>
        <p:nvSpPr>
          <p:cNvPr id="21" name="Text"/>
          <p:cNvSpPr txBox="1"/>
          <p:nvPr/>
        </p:nvSpPr>
        <p:spPr>
          <a:xfrm>
            <a:off x="7339203" y="5029200"/>
            <a:ext cx="40725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dispatch slip is ready, with no handwriting.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97840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Search"/>
          <p:cNvSpPr txBox="1"/>
          <p:nvPr/>
        </p:nvSpPr>
        <p:spPr>
          <a:xfrm>
            <a:off x="777240" y="50292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SEARCH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Find anything in under a second</a:t>
            </a:r>
            <a:endParaRPr lang="en-US" sz="3000" dirty="0"/>
          </a:p>
        </p:txBody>
      </p:sp>
      <p:pic>
        <p:nvPicPr>
          <p:cNvPr id="5" name="Search screen" descr="Search result for a battery serial with its location and his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6675120" cy="3398243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E3D3A">
                <a:alpha val="20000"/>
              </a:srgbClr>
            </a:outerShdw>
          </a:effectLst>
        </p:spPr>
      </p:pic>
      <p:sp>
        <p:nvSpPr>
          <p:cNvPr id="6" name="Text"/>
          <p:cNvSpPr txBox="1"/>
          <p:nvPr/>
        </p:nvSpPr>
        <p:spPr>
          <a:xfrm>
            <a:off x="7909560" y="1600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&lt; 1 s</a:t>
            </a:r>
            <a:endParaRPr lang="en-US" sz="3000" dirty="0"/>
          </a:p>
        </p:txBody>
      </p:sp>
      <p:sp>
        <p:nvSpPr>
          <p:cNvPr id="7" name="Text"/>
          <p:cNvSpPr txBox="1"/>
          <p:nvPr/>
        </p:nvSpPr>
        <p:spPr>
          <a:xfrm>
            <a:off x="790956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from typing to the full record</a:t>
            </a:r>
            <a:endParaRPr lang="en-US" sz="1500" dirty="0"/>
          </a:p>
        </p:txBody>
      </p:sp>
      <p:sp>
        <p:nvSpPr>
          <p:cNvPr id="8" name="Text"/>
          <p:cNvSpPr txBox="1"/>
          <p:nvPr/>
        </p:nvSpPr>
        <p:spPr>
          <a:xfrm>
            <a:off x="7909560" y="24505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Serial, part name, rack, supplier or dealer.</a:t>
            </a:r>
            <a:endParaRPr lang="en-US" sz="1200" dirty="0"/>
          </a:p>
        </p:txBody>
      </p:sp>
      <p:sp>
        <p:nvSpPr>
          <p:cNvPr id="9" name="Text"/>
          <p:cNvSpPr txBox="1"/>
          <p:nvPr/>
        </p:nvSpPr>
        <p:spPr>
          <a:xfrm>
            <a:off x="7909560" y="3063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Any serial</a:t>
            </a:r>
            <a:endParaRPr lang="en-US" sz="3000" dirty="0"/>
          </a:p>
        </p:txBody>
      </p:sp>
      <p:sp>
        <p:nvSpPr>
          <p:cNvPr id="10" name="Text"/>
          <p:cNvSpPr txBox="1"/>
          <p:nvPr/>
        </p:nvSpPr>
        <p:spPr>
          <a:xfrm>
            <a:off x="790956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shows its whole history</a:t>
            </a:r>
            <a:endParaRPr lang="en-US" sz="1500" dirty="0"/>
          </a:p>
        </p:txBody>
      </p:sp>
      <p:sp>
        <p:nvSpPr>
          <p:cNvPr id="11" name="Text"/>
          <p:cNvSpPr txBox="1"/>
          <p:nvPr/>
        </p:nvSpPr>
        <p:spPr>
          <a:xfrm>
            <a:off x="7909560" y="39136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Received, checked, fitted, dispatched.</a:t>
            </a:r>
            <a:endParaRPr lang="en-US" sz="1200" dirty="0"/>
          </a:p>
        </p:txBody>
      </p:sp>
      <p:sp>
        <p:nvSpPr>
          <p:cNvPr id="12" name="Text"/>
          <p:cNvSpPr txBox="1"/>
          <p:nvPr/>
        </p:nvSpPr>
        <p:spPr>
          <a:xfrm>
            <a:off x="7909560" y="4526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file to open</a:t>
            </a:r>
            <a:endParaRPr lang="en-US" sz="3000" dirty="0"/>
          </a:p>
        </p:txBody>
      </p:sp>
      <p:sp>
        <p:nvSpPr>
          <p:cNvPr id="13" name="Text"/>
          <p:cNvSpPr txBox="1"/>
          <p:nvPr/>
        </p:nvSpPr>
        <p:spPr>
          <a:xfrm>
            <a:off x="7909560" y="5074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and no register to turn</a:t>
            </a:r>
            <a:endParaRPr lang="en-US" sz="1500" dirty="0"/>
          </a:p>
        </p:txBody>
      </p:sp>
      <p:sp>
        <p:nvSpPr>
          <p:cNvPr id="14" name="Text"/>
          <p:cNvSpPr txBox="1"/>
          <p:nvPr/>
        </p:nvSpPr>
        <p:spPr>
          <a:xfrm>
            <a:off x="7909560" y="53766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answer is one search away, for everyone.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84708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Before and after"/>
          <p:cNvSpPr txBox="1"/>
          <p:nvPr/>
        </p:nvSpPr>
        <p:spPr>
          <a:xfrm>
            <a:off x="777240" y="5029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BEFORE AND AFTER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Excel and paper, compared with ABC inventory</a:t>
            </a:r>
            <a:endParaRPr lang="en-US" sz="3000" dirty="0"/>
          </a:p>
        </p:txBody>
      </p:sp>
      <p:graphicFrame>
        <p:nvGraphicFramePr>
          <p:cNvPr id="11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97680"/>
                <a:gridCol w="4114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3D3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What you need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5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3D3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Excel and paper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5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3D3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ABC inventory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5D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Find a record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Open files, filter, check the register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Type or scan: under 1 second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Add stock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Type into a sheet, copy to a register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Scan once on the phone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Dispatch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Write the challan, update the sheet later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Scan, tap, slip ready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Mistakes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Typos, #REF!, duplicate files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Duplicate serials are blocked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Reports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Hours of pivot tables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Ready-made, export to Excel or PDF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Who did what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Unknown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Every movement logged with person and time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Time saved"/>
          <p:cNvSpPr txBox="1"/>
          <p:nvPr/>
        </p:nvSpPr>
        <p:spPr>
          <a:xfrm>
            <a:off x="777240" y="502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TIME SAVED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Hours saved every month, just on looking things up</a:t>
            </a:r>
            <a:endParaRPr lang="en-US" sz="3000" dirty="0"/>
          </a:p>
        </p:txBody>
      </p:sp>
      <p:sp>
        <p:nvSpPr>
          <p:cNvPr id="5" name="Text"/>
          <p:cNvSpPr txBox="1"/>
          <p:nvPr/>
        </p:nvSpPr>
        <p:spPr>
          <a:xfrm>
            <a:off x="777240" y="1691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TIME TO FIND ONE RECORD</a:t>
            </a:r>
            <a:endParaRPr lang="en-US" sz="1000" dirty="0"/>
          </a:p>
        </p:txBody>
      </p:sp>
      <p:sp>
        <p:nvSpPr>
          <p:cNvPr id="6" name="Text"/>
          <p:cNvSpPr txBox="1"/>
          <p:nvPr/>
        </p:nvSpPr>
        <p:spPr>
          <a:xfrm>
            <a:off x="77724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Paper register</a:t>
            </a:r>
            <a:endParaRPr lang="en-US" sz="1500" dirty="0"/>
          </a:p>
        </p:txBody>
      </p:sp>
      <p:sp>
        <p:nvSpPr>
          <p:cNvPr id="7" name="Bar Paper register"/>
          <p:cNvSpPr/>
          <p:nvPr/>
        </p:nvSpPr>
        <p:spPr>
          <a:xfrm>
            <a:off x="2697480" y="2130552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D6D3C9"/>
          </a:solidFill>
          <a:ln/>
        </p:spPr>
      </p:sp>
      <p:sp>
        <p:nvSpPr>
          <p:cNvPr id="8" name="Text"/>
          <p:cNvSpPr txBox="1"/>
          <p:nvPr/>
        </p:nvSpPr>
        <p:spPr>
          <a:xfrm>
            <a:off x="667512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about 5 min</a:t>
            </a:r>
            <a:endParaRPr lang="en-US" sz="14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Excel file</a:t>
            </a:r>
            <a:endParaRPr lang="en-US" sz="1500" dirty="0"/>
          </a:p>
        </p:txBody>
      </p:sp>
      <p:sp>
        <p:nvSpPr>
          <p:cNvPr id="10" name="Bar Excel file"/>
          <p:cNvSpPr/>
          <p:nvPr/>
        </p:nvSpPr>
        <p:spPr>
          <a:xfrm>
            <a:off x="2697480" y="3044952"/>
            <a:ext cx="1152144" cy="329184"/>
          </a:xfrm>
          <a:prstGeom prst="roundRect">
            <a:avLst>
              <a:gd name="adj" fmla="val 50000"/>
            </a:avLst>
          </a:prstGeom>
          <a:solidFill>
            <a:srgbClr val="B7EEA9"/>
          </a:solidFill>
          <a:ln/>
        </p:spPr>
      </p:sp>
      <p:sp>
        <p:nvSpPr>
          <p:cNvPr id="11" name="Text"/>
          <p:cNvSpPr txBox="1"/>
          <p:nvPr/>
        </p:nvSpPr>
        <p:spPr>
          <a:xfrm>
            <a:off x="3986784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about 90 s</a:t>
            </a:r>
            <a:endParaRPr lang="en-US" sz="1400" dirty="0"/>
          </a:p>
        </p:txBody>
      </p:sp>
      <p:sp>
        <p:nvSpPr>
          <p:cNvPr id="12" name="Text"/>
          <p:cNvSpPr txBox="1"/>
          <p:nvPr/>
        </p:nvSpPr>
        <p:spPr>
          <a:xfrm>
            <a:off x="77724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ABC inventory</a:t>
            </a:r>
            <a:endParaRPr lang="en-US" sz="1500" dirty="0"/>
          </a:p>
        </p:txBody>
      </p:sp>
      <p:sp>
        <p:nvSpPr>
          <p:cNvPr id="13" name="Bar ABC inventory"/>
          <p:cNvSpPr/>
          <p:nvPr/>
        </p:nvSpPr>
        <p:spPr>
          <a:xfrm>
            <a:off x="2697480" y="3959352"/>
            <a:ext cx="109728" cy="329184"/>
          </a:xfrm>
          <a:prstGeom prst="roundRect">
            <a:avLst>
              <a:gd name="adj" fmla="val 150000"/>
            </a:avLst>
          </a:prstGeom>
          <a:solidFill>
            <a:srgbClr val="16A34A"/>
          </a:solidFill>
          <a:ln/>
        </p:spPr>
      </p:sp>
      <p:sp>
        <p:nvSpPr>
          <p:cNvPr id="14" name="Text"/>
          <p:cNvSpPr txBox="1"/>
          <p:nvPr/>
        </p:nvSpPr>
        <p:spPr>
          <a:xfrm>
            <a:off x="2944368" y="3886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under 1 s</a:t>
            </a:r>
            <a:endParaRPr lang="en-US" sz="1400" dirty="0"/>
          </a:p>
        </p:txBody>
      </p:sp>
      <p:sp>
        <p:nvSpPr>
          <p:cNvPr id="15" name="Assumption box"/>
          <p:cNvSpPr/>
          <p:nvPr/>
        </p:nvSpPr>
        <p:spPr>
          <a:xfrm>
            <a:off x="777240" y="4846320"/>
            <a:ext cx="7223760" cy="109728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16" name="Text"/>
          <p:cNvSpPr txBox="1"/>
          <p:nvPr/>
        </p:nvSpPr>
        <p:spPr>
          <a:xfrm>
            <a:off x="1051560" y="484632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Example: 40 lookups a day, 26 working days a month. These are illustrative estimates. Replace them with ABC's own numbers from a week of timing.</a:t>
            </a:r>
            <a:endParaRPr lang="en-US" sz="1300" dirty="0"/>
          </a:p>
        </p:txBody>
      </p:sp>
      <p:sp>
        <p:nvSpPr>
          <p:cNvPr id="17" name="Stat card 1"/>
          <p:cNvSpPr/>
          <p:nvPr/>
        </p:nvSpPr>
        <p:spPr>
          <a:xfrm>
            <a:off x="8412480" y="1691640"/>
            <a:ext cx="2999232" cy="1234440"/>
          </a:xfrm>
          <a:prstGeom prst="roundRect">
            <a:avLst>
              <a:gd name="adj" fmla="val 11852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8641080" y="18288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~87 h</a:t>
            </a:r>
            <a:endParaRPr lang="en-US" sz="3200" dirty="0"/>
          </a:p>
        </p:txBody>
      </p:sp>
      <p:sp>
        <p:nvSpPr>
          <p:cNvPr id="19" name="Text"/>
          <p:cNvSpPr txBox="1"/>
          <p:nvPr/>
        </p:nvSpPr>
        <p:spPr>
          <a:xfrm>
            <a:off x="8641080" y="2441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month with a paper register</a:t>
            </a:r>
            <a:endParaRPr lang="en-US" sz="1300" dirty="0"/>
          </a:p>
        </p:txBody>
      </p:sp>
      <p:sp>
        <p:nvSpPr>
          <p:cNvPr id="20" name="Stat card 2"/>
          <p:cNvSpPr/>
          <p:nvPr/>
        </p:nvSpPr>
        <p:spPr>
          <a:xfrm>
            <a:off x="8412480" y="3108960"/>
            <a:ext cx="2999232" cy="1234440"/>
          </a:xfrm>
          <a:prstGeom prst="roundRect">
            <a:avLst>
              <a:gd name="adj" fmla="val 11852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864108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~26 h</a:t>
            </a:r>
            <a:endParaRPr lang="en-US" sz="3200" dirty="0"/>
          </a:p>
        </p:txBody>
      </p:sp>
      <p:sp>
        <p:nvSpPr>
          <p:cNvPr id="22" name="Text"/>
          <p:cNvSpPr txBox="1"/>
          <p:nvPr/>
        </p:nvSpPr>
        <p:spPr>
          <a:xfrm>
            <a:off x="8641080" y="3858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month with Excel files</a:t>
            </a:r>
            <a:endParaRPr lang="en-US" sz="1300" dirty="0"/>
          </a:p>
        </p:txBody>
      </p:sp>
      <p:sp>
        <p:nvSpPr>
          <p:cNvPr id="23" name="Stat card 3"/>
          <p:cNvSpPr/>
          <p:nvPr/>
        </p:nvSpPr>
        <p:spPr>
          <a:xfrm>
            <a:off x="8412480" y="4526280"/>
            <a:ext cx="2999232" cy="1234440"/>
          </a:xfrm>
          <a:prstGeom prst="roundRect">
            <a:avLst>
              <a:gd name="adj" fmla="val 11852"/>
            </a:avLst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4" name="Text"/>
          <p:cNvSpPr txBox="1"/>
          <p:nvPr/>
        </p:nvSpPr>
        <p:spPr>
          <a:xfrm>
            <a:off x="8641080" y="46634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~17 min</a:t>
            </a:r>
            <a:endParaRPr lang="en-US" sz="3200" dirty="0"/>
          </a:p>
        </p:txBody>
      </p:sp>
      <p:sp>
        <p:nvSpPr>
          <p:cNvPr id="25" name="Text"/>
          <p:cNvSpPr txBox="1"/>
          <p:nvPr/>
        </p:nvSpPr>
        <p:spPr>
          <a:xfrm>
            <a:off x="8641080" y="5276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month with ABC inventory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06527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Reports"/>
          <p:cNvSpPr txBox="1"/>
          <p:nvPr/>
        </p:nvSpPr>
        <p:spPr>
          <a:xfrm>
            <a:off x="777240" y="502920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REPORTS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Reports are always ready</a:t>
            </a:r>
            <a:endParaRPr lang="en-US" sz="3000" dirty="0"/>
          </a:p>
        </p:txBody>
      </p:sp>
      <p:pic>
        <p:nvPicPr>
          <p:cNvPr id="5" name="Reports screen" descr="Reports screen with weekly dispatches, top dealers and the stock ledg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7040880" cy="434187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E3D3A">
                <a:alpha val="20000"/>
              </a:srgbClr>
            </a:outerShdw>
          </a:effectLst>
        </p:spPr>
      </p:pic>
      <p:sp>
        <p:nvSpPr>
          <p:cNvPr id="6" name="Text"/>
          <p:cNvSpPr txBox="1"/>
          <p:nvPr/>
        </p:nvSpPr>
        <p:spPr>
          <a:xfrm>
            <a:off x="882396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Stock ledger</a:t>
            </a:r>
            <a:endParaRPr lang="en-US" sz="1500" dirty="0"/>
          </a:p>
        </p:txBody>
      </p:sp>
      <p:sp>
        <p:nvSpPr>
          <p:cNvPr id="7" name="Text"/>
          <p:cNvSpPr txBox="1"/>
          <p:nvPr/>
        </p:nvSpPr>
        <p:spPr>
          <a:xfrm>
            <a:off x="8823960" y="19476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receipt, fit and dispatch, by date and person.</a:t>
            </a:r>
            <a:endParaRPr lang="en-US" sz="1200" dirty="0"/>
          </a:p>
        </p:txBody>
      </p:sp>
      <p:sp>
        <p:nvSpPr>
          <p:cNvPr id="8" name="Text"/>
          <p:cNvSpPr txBox="1"/>
          <p:nvPr/>
        </p:nvSpPr>
        <p:spPr>
          <a:xfrm>
            <a:off x="8823960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Dispatch register</a:t>
            </a:r>
            <a:endParaRPr lang="en-US" sz="1500" dirty="0"/>
          </a:p>
        </p:txBody>
      </p:sp>
      <p:sp>
        <p:nvSpPr>
          <p:cNvPr id="9" name="Text"/>
          <p:cNvSpPr txBox="1"/>
          <p:nvPr/>
        </p:nvSpPr>
        <p:spPr>
          <a:xfrm>
            <a:off x="8823960" y="30449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Which dealer got what, and when.</a:t>
            </a:r>
            <a:endParaRPr lang="en-US" sz="1200" dirty="0"/>
          </a:p>
        </p:txBody>
      </p:sp>
      <p:sp>
        <p:nvSpPr>
          <p:cNvPr id="10" name="Text"/>
          <p:cNvSpPr txBox="1"/>
          <p:nvPr/>
        </p:nvSpPr>
        <p:spPr>
          <a:xfrm>
            <a:off x="8823960" y="3794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Low stock</a:t>
            </a:r>
            <a:endParaRPr lang="en-US" sz="1500" dirty="0"/>
          </a:p>
        </p:txBody>
      </p:sp>
      <p:sp>
        <p:nvSpPr>
          <p:cNvPr id="11" name="Text"/>
          <p:cNvSpPr txBox="1"/>
          <p:nvPr/>
        </p:nvSpPr>
        <p:spPr>
          <a:xfrm>
            <a:off x="8823960" y="41422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to reorder, before it runs out.</a:t>
            </a:r>
            <a:endParaRPr lang="en-US" sz="1200" dirty="0"/>
          </a:p>
        </p:txBody>
      </p:sp>
      <p:sp>
        <p:nvSpPr>
          <p:cNvPr id="12" name="Text"/>
          <p:cNvSpPr txBox="1"/>
          <p:nvPr/>
        </p:nvSpPr>
        <p:spPr>
          <a:xfrm>
            <a:off x="8823960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Export</a:t>
            </a:r>
            <a:endParaRPr lang="en-US" sz="1500" dirty="0"/>
          </a:p>
        </p:txBody>
      </p:sp>
      <p:sp>
        <p:nvSpPr>
          <p:cNvPr id="13" name="Text"/>
          <p:cNvSpPr txBox="1"/>
          <p:nvPr/>
        </p:nvSpPr>
        <p:spPr>
          <a:xfrm>
            <a:off x="8823960" y="523951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 Excel or PDF in one click.</a:t>
            </a:r>
            <a:endParaRPr lang="en-US" sz="1200" dirty="0"/>
          </a:p>
        </p:txBody>
      </p:sp>
      <p:pic>
        <p:nvPicPr>
          <p:cNvPr id="14" name="Icon Dispatch register" descr="Icon Dispatch regi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743200"/>
            <a:ext cx="365760" cy="365760"/>
          </a:xfrm>
          <a:prstGeom prst="rect">
            <a:avLst/>
          </a:prstGeom>
        </p:spPr>
      </p:pic>
      <p:pic>
        <p:nvPicPr>
          <p:cNvPr id="15" name="Icon Low stock" descr="Icon Low st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3840480"/>
            <a:ext cx="365760" cy="365760"/>
          </a:xfrm>
          <a:prstGeom prst="rect">
            <a:avLst/>
          </a:prstGeom>
        </p:spPr>
      </p:pic>
      <p:pic>
        <p:nvPicPr>
          <p:cNvPr id="16" name="Icon Stock ledger" descr="Icon Stock ledg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645920"/>
            <a:ext cx="365760" cy="365760"/>
          </a:xfrm>
          <a:prstGeom prst="rect">
            <a:avLst/>
          </a:prstGeom>
        </p:spPr>
      </p:pic>
      <p:pic>
        <p:nvPicPr>
          <p:cNvPr id="17" name="Icon Export" descr="Icon Expo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4937760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344668" y="502920"/>
            <a:ext cx="14996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Traceability"/>
          <p:cNvSpPr txBox="1"/>
          <p:nvPr/>
        </p:nvSpPr>
        <p:spPr>
          <a:xfrm>
            <a:off x="5344668" y="5029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TRACEABILITY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serial number tells the whole story</a:t>
            </a:r>
            <a:endParaRPr lang="en-US" sz="3000" dirty="0"/>
          </a:p>
        </p:txBody>
      </p:sp>
      <p:pic>
        <p:nvPicPr>
          <p:cNvPr id="5" name="Traceability chain" descr="A battery serial linked to the bike, the dealer and the own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828800"/>
            <a:ext cx="10424160" cy="2519172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E3D3A">
                <a:alpha val="20000"/>
              </a:srgbClr>
            </a:outerShdw>
          </a:effectLst>
        </p:spPr>
      </p:pic>
      <p:sp>
        <p:nvSpPr>
          <p:cNvPr id="6" name="Text"/>
          <p:cNvSpPr txBox="1"/>
          <p:nvPr/>
        </p:nvSpPr>
        <p:spPr>
          <a:xfrm>
            <a:off x="777240" y="4663440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Part, bike, dealer and owner stay linked. If a batch of parts has a problem, you can list every bike that has one.</a:t>
            </a:r>
            <a:endParaRPr lang="en-US" sz="1500" dirty="0"/>
          </a:p>
        </p:txBody>
      </p:sp>
      <p:sp>
        <p:nvSpPr>
          <p:cNvPr id="7" name="Text"/>
          <p:cNvSpPr txBox="1"/>
          <p:nvPr/>
        </p:nvSpPr>
        <p:spPr>
          <a:xfrm>
            <a:off x="777240" y="534924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Connects to the vehicle registry, where the same serials carry each part's warranty.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127498" y="502920"/>
            <a:ext cx="193395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Built-in controls"/>
          <p:cNvSpPr txBox="1"/>
          <p:nvPr/>
        </p:nvSpPr>
        <p:spPr>
          <a:xfrm>
            <a:off x="5127498" y="502920"/>
            <a:ext cx="1933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BUILT-IN CONTROLS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Control without extra paperwork</a:t>
            </a:r>
            <a:endParaRPr lang="en-US" sz="3000" dirty="0"/>
          </a:p>
        </p:txBody>
      </p:sp>
      <p:sp>
        <p:nvSpPr>
          <p:cNvPr id="5" name="Control card Low-stock alerts"/>
          <p:cNvSpPr/>
          <p:nvPr/>
        </p:nvSpPr>
        <p:spPr>
          <a:xfrm>
            <a:off x="777240" y="1783080"/>
            <a:ext cx="3361944" cy="1874520"/>
          </a:xfrm>
          <a:prstGeom prst="roundRect">
            <a:avLst>
              <a:gd name="adj" fmla="val 8780"/>
            </a:avLst>
          </a:prstGeom>
          <a:solidFill>
            <a:schemeClr val="accent3"/>
          </a:solidFill>
          <a:ln/>
        </p:spPr>
      </p:sp>
      <p:sp>
        <p:nvSpPr>
          <p:cNvPr id="6" name="Disc Low-stock alerts"/>
          <p:cNvSpPr/>
          <p:nvPr/>
        </p:nvSpPr>
        <p:spPr>
          <a:xfrm>
            <a:off x="1051560" y="2057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"/>
          <p:cNvSpPr txBox="1"/>
          <p:nvPr/>
        </p:nvSpPr>
        <p:spPr>
          <a:xfrm>
            <a:off x="1874520" y="2130552"/>
            <a:ext cx="2081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Low-stock alerts</a:t>
            </a:r>
            <a:endParaRPr lang="en-US" sz="1600" dirty="0"/>
          </a:p>
        </p:txBody>
      </p:sp>
      <p:sp>
        <p:nvSpPr>
          <p:cNvPr id="8" name="Text"/>
          <p:cNvSpPr txBox="1"/>
          <p:nvPr/>
        </p:nvSpPr>
        <p:spPr>
          <a:xfrm>
            <a:off x="1051560" y="2834640"/>
            <a:ext cx="2813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Minimum level per part, flagged on the dashboard.</a:t>
            </a:r>
            <a:endParaRPr lang="en-US" sz="1300" dirty="0"/>
          </a:p>
        </p:txBody>
      </p:sp>
      <p:sp>
        <p:nvSpPr>
          <p:cNvPr id="9" name="Control card Roles"/>
          <p:cNvSpPr/>
          <p:nvPr/>
        </p:nvSpPr>
        <p:spPr>
          <a:xfrm>
            <a:off x="4413504" y="1783080"/>
            <a:ext cx="3361944" cy="1874520"/>
          </a:xfrm>
          <a:prstGeom prst="roundRect">
            <a:avLst>
              <a:gd name="adj" fmla="val 8780"/>
            </a:avLst>
          </a:prstGeom>
          <a:solidFill>
            <a:schemeClr val="accent3"/>
          </a:solidFill>
          <a:ln/>
        </p:spPr>
      </p:sp>
      <p:sp>
        <p:nvSpPr>
          <p:cNvPr id="10" name="Disc Roles"/>
          <p:cNvSpPr/>
          <p:nvPr/>
        </p:nvSpPr>
        <p:spPr>
          <a:xfrm>
            <a:off x="4687824" y="2057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"/>
          <p:cNvSpPr txBox="1"/>
          <p:nvPr/>
        </p:nvSpPr>
        <p:spPr>
          <a:xfrm>
            <a:off x="5510784" y="2130552"/>
            <a:ext cx="2081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Roles</a:t>
            </a:r>
            <a:endParaRPr lang="en-US" sz="1600" dirty="0"/>
          </a:p>
        </p:txBody>
      </p:sp>
      <p:sp>
        <p:nvSpPr>
          <p:cNvPr id="12" name="Text"/>
          <p:cNvSpPr txBox="1"/>
          <p:nvPr/>
        </p:nvSpPr>
        <p:spPr>
          <a:xfrm>
            <a:off x="4687824" y="2834640"/>
            <a:ext cx="2813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Storekeeper, dispatch and manager see and do different things.</a:t>
            </a:r>
            <a:endParaRPr lang="en-US" sz="1300" dirty="0"/>
          </a:p>
        </p:txBody>
      </p:sp>
      <p:sp>
        <p:nvSpPr>
          <p:cNvPr id="13" name="Control card Audit trail"/>
          <p:cNvSpPr/>
          <p:nvPr/>
        </p:nvSpPr>
        <p:spPr>
          <a:xfrm>
            <a:off x="8049768" y="1783080"/>
            <a:ext cx="3361944" cy="1874520"/>
          </a:xfrm>
          <a:prstGeom prst="roundRect">
            <a:avLst>
              <a:gd name="adj" fmla="val 8780"/>
            </a:avLst>
          </a:prstGeom>
          <a:solidFill>
            <a:schemeClr val="accent3"/>
          </a:solidFill>
          <a:ln/>
        </p:spPr>
      </p:sp>
      <p:sp>
        <p:nvSpPr>
          <p:cNvPr id="14" name="Disc Audit trail"/>
          <p:cNvSpPr/>
          <p:nvPr/>
        </p:nvSpPr>
        <p:spPr>
          <a:xfrm>
            <a:off x="8324088" y="2057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"/>
          <p:cNvSpPr txBox="1"/>
          <p:nvPr/>
        </p:nvSpPr>
        <p:spPr>
          <a:xfrm>
            <a:off x="9147048" y="2130552"/>
            <a:ext cx="2081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Audit trail</a:t>
            </a:r>
            <a:endParaRPr lang="en-US" sz="1600" dirty="0"/>
          </a:p>
        </p:txBody>
      </p:sp>
      <p:sp>
        <p:nvSpPr>
          <p:cNvPr id="16" name="Text"/>
          <p:cNvSpPr txBox="1"/>
          <p:nvPr/>
        </p:nvSpPr>
        <p:spPr>
          <a:xfrm>
            <a:off x="8324088" y="2834640"/>
            <a:ext cx="2813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change records who did it and when.</a:t>
            </a:r>
            <a:endParaRPr lang="en-US" sz="1300" dirty="0"/>
          </a:p>
        </p:txBody>
      </p:sp>
      <p:sp>
        <p:nvSpPr>
          <p:cNvPr id="17" name="Control card No duplicates"/>
          <p:cNvSpPr/>
          <p:nvPr/>
        </p:nvSpPr>
        <p:spPr>
          <a:xfrm>
            <a:off x="777240" y="3886200"/>
            <a:ext cx="3361944" cy="1874520"/>
          </a:xfrm>
          <a:prstGeom prst="roundRect">
            <a:avLst>
              <a:gd name="adj" fmla="val 8780"/>
            </a:avLst>
          </a:prstGeom>
          <a:solidFill>
            <a:schemeClr val="accent3"/>
          </a:solidFill>
          <a:ln/>
        </p:spPr>
      </p:sp>
      <p:sp>
        <p:nvSpPr>
          <p:cNvPr id="18" name="Disc No duplicates"/>
          <p:cNvSpPr/>
          <p:nvPr/>
        </p:nvSpPr>
        <p:spPr>
          <a:xfrm>
            <a:off x="105156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"/>
          <p:cNvSpPr txBox="1"/>
          <p:nvPr/>
        </p:nvSpPr>
        <p:spPr>
          <a:xfrm>
            <a:off x="1874520" y="4233672"/>
            <a:ext cx="2081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duplicates</a:t>
            </a:r>
            <a:endParaRPr lang="en-US" sz="1600" dirty="0"/>
          </a:p>
        </p:txBody>
      </p:sp>
      <p:sp>
        <p:nvSpPr>
          <p:cNvPr id="20" name="Text"/>
          <p:cNvSpPr txBox="1"/>
          <p:nvPr/>
        </p:nvSpPr>
        <p:spPr>
          <a:xfrm>
            <a:off x="1051560" y="4937760"/>
            <a:ext cx="2813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serial number can only exist once.</a:t>
            </a:r>
            <a:endParaRPr lang="en-US" sz="1300" dirty="0"/>
          </a:p>
        </p:txBody>
      </p:sp>
      <p:sp>
        <p:nvSpPr>
          <p:cNvPr id="21" name="Control card Phone and desktop"/>
          <p:cNvSpPr/>
          <p:nvPr/>
        </p:nvSpPr>
        <p:spPr>
          <a:xfrm>
            <a:off x="4413504" y="3886200"/>
            <a:ext cx="3361944" cy="1874520"/>
          </a:xfrm>
          <a:prstGeom prst="roundRect">
            <a:avLst>
              <a:gd name="adj" fmla="val 8780"/>
            </a:avLst>
          </a:prstGeom>
          <a:solidFill>
            <a:schemeClr val="accent3"/>
          </a:solidFill>
          <a:ln/>
        </p:spPr>
      </p:sp>
      <p:sp>
        <p:nvSpPr>
          <p:cNvPr id="22" name="Disc Phone and desktop"/>
          <p:cNvSpPr/>
          <p:nvPr/>
        </p:nvSpPr>
        <p:spPr>
          <a:xfrm>
            <a:off x="4687824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"/>
          <p:cNvSpPr txBox="1"/>
          <p:nvPr/>
        </p:nvSpPr>
        <p:spPr>
          <a:xfrm>
            <a:off x="5510784" y="4233672"/>
            <a:ext cx="2081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Phone and desktop</a:t>
            </a:r>
            <a:endParaRPr lang="en-US" sz="1600" dirty="0"/>
          </a:p>
        </p:txBody>
      </p:sp>
      <p:sp>
        <p:nvSpPr>
          <p:cNvPr id="24" name="Text"/>
          <p:cNvSpPr txBox="1"/>
          <p:nvPr/>
        </p:nvSpPr>
        <p:spPr>
          <a:xfrm>
            <a:off x="4687824" y="4937760"/>
            <a:ext cx="2813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Scan on the floor, review at a desk.</a:t>
            </a:r>
            <a:endParaRPr lang="en-US" sz="1300" dirty="0"/>
          </a:p>
        </p:txBody>
      </p:sp>
      <p:sp>
        <p:nvSpPr>
          <p:cNvPr id="25" name="Control card One source of truth"/>
          <p:cNvSpPr/>
          <p:nvPr/>
        </p:nvSpPr>
        <p:spPr>
          <a:xfrm>
            <a:off x="8049768" y="3886200"/>
            <a:ext cx="3361944" cy="1874520"/>
          </a:xfrm>
          <a:prstGeom prst="roundRect">
            <a:avLst>
              <a:gd name="adj" fmla="val 8780"/>
            </a:avLst>
          </a:prstGeom>
          <a:solidFill>
            <a:schemeClr val="accent3"/>
          </a:solidFill>
          <a:ln/>
        </p:spPr>
      </p:sp>
      <p:sp>
        <p:nvSpPr>
          <p:cNvPr id="26" name="Disc One source of truth"/>
          <p:cNvSpPr/>
          <p:nvPr/>
        </p:nvSpPr>
        <p:spPr>
          <a:xfrm>
            <a:off x="8324088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"/>
          <p:cNvSpPr txBox="1"/>
          <p:nvPr/>
        </p:nvSpPr>
        <p:spPr>
          <a:xfrm>
            <a:off x="9147048" y="4233672"/>
            <a:ext cx="2081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source of truth</a:t>
            </a:r>
            <a:endParaRPr lang="en-US" sz="1600" dirty="0"/>
          </a:p>
        </p:txBody>
      </p:sp>
      <p:sp>
        <p:nvSpPr>
          <p:cNvPr id="28" name="Text"/>
          <p:cNvSpPr txBox="1"/>
          <p:nvPr/>
        </p:nvSpPr>
        <p:spPr>
          <a:xfrm>
            <a:off x="8324088" y="4937760"/>
            <a:ext cx="2813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Everyone sees the same live numbers.</a:t>
            </a:r>
            <a:endParaRPr lang="en-US" sz="1300" dirty="0"/>
          </a:p>
        </p:txBody>
      </p:sp>
      <p:pic>
        <p:nvPicPr>
          <p:cNvPr id="29" name="Icon Low-stock alerts" descr="Icon Low-stock ale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94560"/>
            <a:ext cx="365760" cy="365760"/>
          </a:xfrm>
          <a:prstGeom prst="rect">
            <a:avLst/>
          </a:prstGeom>
        </p:spPr>
      </p:pic>
      <p:pic>
        <p:nvPicPr>
          <p:cNvPr id="30" name="Icon Audit trail" descr="Icon Audit tr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248" y="2194560"/>
            <a:ext cx="365760" cy="365760"/>
          </a:xfrm>
          <a:prstGeom prst="rect">
            <a:avLst/>
          </a:prstGeom>
        </p:spPr>
      </p:pic>
      <p:pic>
        <p:nvPicPr>
          <p:cNvPr id="31" name="Icon Phone and desktop" descr="Icon Phone and deskt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984" y="4297680"/>
            <a:ext cx="365760" cy="365760"/>
          </a:xfrm>
          <a:prstGeom prst="rect">
            <a:avLst/>
          </a:prstGeom>
        </p:spPr>
      </p:pic>
      <p:pic>
        <p:nvPicPr>
          <p:cNvPr id="32" name="Icon No duplicates" descr="Icon No duplicat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297680"/>
            <a:ext cx="365760" cy="365760"/>
          </a:xfrm>
          <a:prstGeom prst="rect">
            <a:avLst/>
          </a:prstGeom>
        </p:spPr>
      </p:pic>
      <p:pic>
        <p:nvPicPr>
          <p:cNvPr id="33" name="Icon Roles" descr="Icon Rol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984" y="2194560"/>
            <a:ext cx="365760" cy="365760"/>
          </a:xfrm>
          <a:prstGeom prst="rect">
            <a:avLst/>
          </a:prstGeom>
        </p:spPr>
      </p:pic>
      <p:pic>
        <p:nvPicPr>
          <p:cNvPr id="34" name="Icon One source of truth" descr="Icon One source of trut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248" y="4297680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344668" y="502920"/>
            <a:ext cx="14996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New features"/>
          <p:cNvSpPr txBox="1"/>
          <p:nvPr/>
        </p:nvSpPr>
        <p:spPr>
          <a:xfrm>
            <a:off x="5344668" y="5029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NEW FEATURES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Features we can add next</a:t>
            </a:r>
            <a:endParaRPr lang="en-US" sz="3000" dirty="0"/>
          </a:p>
        </p:txBody>
      </p:sp>
      <p:sp>
        <p:nvSpPr>
          <p:cNvPr id="5" name="Feature card Purchase orders"/>
          <p:cNvSpPr/>
          <p:nvPr/>
        </p:nvSpPr>
        <p:spPr>
          <a:xfrm>
            <a:off x="777240" y="1737360"/>
            <a:ext cx="2487168" cy="1965960"/>
          </a:xfrm>
          <a:prstGeom prst="roundRect">
            <a:avLst>
              <a:gd name="adj" fmla="val 7442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6" name="Proposed Purchase orders"/>
          <p:cNvSpPr/>
          <p:nvPr/>
        </p:nvSpPr>
        <p:spPr>
          <a:xfrm>
            <a:off x="2167128" y="196596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7" name="Text"/>
          <p:cNvSpPr txBox="1"/>
          <p:nvPr/>
        </p:nvSpPr>
        <p:spPr>
          <a:xfrm>
            <a:off x="2167128" y="19659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850" dirty="0"/>
          </a:p>
        </p:txBody>
      </p:sp>
      <p:sp>
        <p:nvSpPr>
          <p:cNvPr id="8" name="Text"/>
          <p:cNvSpPr txBox="1"/>
          <p:nvPr/>
        </p:nvSpPr>
        <p:spPr>
          <a:xfrm>
            <a:off x="1005840" y="251460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Purchase orders</a:t>
            </a:r>
            <a:endParaRPr lang="en-US" sz="1500" dirty="0"/>
          </a:p>
        </p:txBody>
      </p:sp>
      <p:sp>
        <p:nvSpPr>
          <p:cNvPr id="9" name="Text"/>
          <p:cNvSpPr txBox="1"/>
          <p:nvPr/>
        </p:nvSpPr>
        <p:spPr>
          <a:xfrm>
            <a:off x="1005840" y="2852928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Raise orders to suppliers and track what is pending.</a:t>
            </a:r>
            <a:endParaRPr lang="en-US" sz="1200" dirty="0"/>
          </a:p>
        </p:txBody>
      </p:sp>
      <p:sp>
        <p:nvSpPr>
          <p:cNvPr id="10" name="Feature card Label printing"/>
          <p:cNvSpPr/>
          <p:nvPr/>
        </p:nvSpPr>
        <p:spPr>
          <a:xfrm>
            <a:off x="3493008" y="1737360"/>
            <a:ext cx="2487168" cy="1965960"/>
          </a:xfrm>
          <a:prstGeom prst="roundRect">
            <a:avLst>
              <a:gd name="adj" fmla="val 7442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1" name="Proposed Label printing"/>
          <p:cNvSpPr/>
          <p:nvPr/>
        </p:nvSpPr>
        <p:spPr>
          <a:xfrm>
            <a:off x="4882896" y="196596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2" name="Text"/>
          <p:cNvSpPr txBox="1"/>
          <p:nvPr/>
        </p:nvSpPr>
        <p:spPr>
          <a:xfrm>
            <a:off x="4882896" y="19659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850" dirty="0"/>
          </a:p>
        </p:txBody>
      </p:sp>
      <p:sp>
        <p:nvSpPr>
          <p:cNvPr id="13" name="Text"/>
          <p:cNvSpPr txBox="1"/>
          <p:nvPr/>
        </p:nvSpPr>
        <p:spPr>
          <a:xfrm>
            <a:off x="3721608" y="251460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Label printing</a:t>
            </a:r>
            <a:endParaRPr lang="en-US" sz="1500" dirty="0"/>
          </a:p>
        </p:txBody>
      </p:sp>
      <p:sp>
        <p:nvSpPr>
          <p:cNvPr id="14" name="Text"/>
          <p:cNvSpPr txBox="1"/>
          <p:nvPr/>
        </p:nvSpPr>
        <p:spPr>
          <a:xfrm>
            <a:off x="3721608" y="2852928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Print QR and barcode labels for parts and bikes.</a:t>
            </a:r>
            <a:endParaRPr lang="en-US" sz="1200" dirty="0"/>
          </a:p>
        </p:txBody>
      </p:sp>
      <p:sp>
        <p:nvSpPr>
          <p:cNvPr id="15" name="Feature card Multi-warehouse"/>
          <p:cNvSpPr/>
          <p:nvPr/>
        </p:nvSpPr>
        <p:spPr>
          <a:xfrm>
            <a:off x="6208776" y="1737360"/>
            <a:ext cx="2487168" cy="1965960"/>
          </a:xfrm>
          <a:prstGeom prst="roundRect">
            <a:avLst>
              <a:gd name="adj" fmla="val 7442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6" name="Proposed Multi-warehouse"/>
          <p:cNvSpPr/>
          <p:nvPr/>
        </p:nvSpPr>
        <p:spPr>
          <a:xfrm>
            <a:off x="7598664" y="196596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7" name="Text"/>
          <p:cNvSpPr txBox="1"/>
          <p:nvPr/>
        </p:nvSpPr>
        <p:spPr>
          <a:xfrm>
            <a:off x="7598664" y="19659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850" dirty="0"/>
          </a:p>
        </p:txBody>
      </p:sp>
      <p:sp>
        <p:nvSpPr>
          <p:cNvPr id="18" name="Text"/>
          <p:cNvSpPr txBox="1"/>
          <p:nvPr/>
        </p:nvSpPr>
        <p:spPr>
          <a:xfrm>
            <a:off x="6437376" y="251460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Multi-warehouse</a:t>
            </a:r>
            <a:endParaRPr lang="en-US" sz="1500" dirty="0"/>
          </a:p>
        </p:txBody>
      </p:sp>
      <p:sp>
        <p:nvSpPr>
          <p:cNvPr id="19" name="Text"/>
          <p:cNvSpPr txBox="1"/>
          <p:nvPr/>
        </p:nvSpPr>
        <p:spPr>
          <a:xfrm>
            <a:off x="6437376" y="2852928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Move stock between stores and keep each count.</a:t>
            </a:r>
            <a:endParaRPr lang="en-US" sz="1200" dirty="0"/>
          </a:p>
        </p:txBody>
      </p:sp>
      <p:sp>
        <p:nvSpPr>
          <p:cNvPr id="20" name="Feature card Reorder suggestions"/>
          <p:cNvSpPr/>
          <p:nvPr/>
        </p:nvSpPr>
        <p:spPr>
          <a:xfrm>
            <a:off x="8924544" y="1737360"/>
            <a:ext cx="2487168" cy="1965960"/>
          </a:xfrm>
          <a:prstGeom prst="roundRect">
            <a:avLst>
              <a:gd name="adj" fmla="val 7442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1" name="Proposed Reorder suggestions"/>
          <p:cNvSpPr/>
          <p:nvPr/>
        </p:nvSpPr>
        <p:spPr>
          <a:xfrm>
            <a:off x="10314432" y="196596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2" name="Text"/>
          <p:cNvSpPr txBox="1"/>
          <p:nvPr/>
        </p:nvSpPr>
        <p:spPr>
          <a:xfrm>
            <a:off x="10314432" y="19659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850" dirty="0"/>
          </a:p>
        </p:txBody>
      </p:sp>
      <p:sp>
        <p:nvSpPr>
          <p:cNvPr id="23" name="Text"/>
          <p:cNvSpPr txBox="1"/>
          <p:nvPr/>
        </p:nvSpPr>
        <p:spPr>
          <a:xfrm>
            <a:off x="9153144" y="251460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Reorder suggestions</a:t>
            </a:r>
            <a:endParaRPr lang="en-US" sz="1500" dirty="0"/>
          </a:p>
        </p:txBody>
      </p:sp>
      <p:sp>
        <p:nvSpPr>
          <p:cNvPr id="24" name="Text"/>
          <p:cNvSpPr txBox="1"/>
          <p:nvPr/>
        </p:nvSpPr>
        <p:spPr>
          <a:xfrm>
            <a:off x="9153144" y="2852928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Suggested quantities from past usage.</a:t>
            </a:r>
            <a:endParaRPr lang="en-US" sz="1200" dirty="0"/>
          </a:p>
        </p:txBody>
      </p:sp>
      <p:sp>
        <p:nvSpPr>
          <p:cNvPr id="25" name="Feature card Dealer ordering"/>
          <p:cNvSpPr/>
          <p:nvPr/>
        </p:nvSpPr>
        <p:spPr>
          <a:xfrm>
            <a:off x="777240" y="3886200"/>
            <a:ext cx="2487168" cy="1965960"/>
          </a:xfrm>
          <a:prstGeom prst="roundRect">
            <a:avLst>
              <a:gd name="adj" fmla="val 7442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6" name="Proposed Dealer ordering"/>
          <p:cNvSpPr/>
          <p:nvPr/>
        </p:nvSpPr>
        <p:spPr>
          <a:xfrm>
            <a:off x="2167128" y="4114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7" name="Text"/>
          <p:cNvSpPr txBox="1"/>
          <p:nvPr/>
        </p:nvSpPr>
        <p:spPr>
          <a:xfrm>
            <a:off x="2167128" y="4114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850" dirty="0"/>
          </a:p>
        </p:txBody>
      </p:sp>
      <p:sp>
        <p:nvSpPr>
          <p:cNvPr id="28" name="Text"/>
          <p:cNvSpPr txBox="1"/>
          <p:nvPr/>
        </p:nvSpPr>
        <p:spPr>
          <a:xfrm>
            <a:off x="1005840" y="466344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 ordering</a:t>
            </a:r>
            <a:endParaRPr lang="en-US" sz="1500" dirty="0"/>
          </a:p>
        </p:txBody>
      </p:sp>
      <p:sp>
        <p:nvSpPr>
          <p:cNvPr id="29" name="Text"/>
          <p:cNvSpPr txBox="1"/>
          <p:nvPr/>
        </p:nvSpPr>
        <p:spPr>
          <a:xfrm>
            <a:off x="1005840" y="5001768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Dealers request bikes and see their order status.</a:t>
            </a:r>
            <a:endParaRPr lang="en-US" sz="1200" dirty="0"/>
          </a:p>
        </p:txBody>
      </p:sp>
      <p:sp>
        <p:nvSpPr>
          <p:cNvPr id="30" name="Feature card Returns and claims"/>
          <p:cNvSpPr/>
          <p:nvPr/>
        </p:nvSpPr>
        <p:spPr>
          <a:xfrm>
            <a:off x="3493008" y="3886200"/>
            <a:ext cx="2487168" cy="1965960"/>
          </a:xfrm>
          <a:prstGeom prst="roundRect">
            <a:avLst>
              <a:gd name="adj" fmla="val 7442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1" name="Proposed Returns and claims"/>
          <p:cNvSpPr/>
          <p:nvPr/>
        </p:nvSpPr>
        <p:spPr>
          <a:xfrm>
            <a:off x="4882896" y="4114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2" name="Text"/>
          <p:cNvSpPr txBox="1"/>
          <p:nvPr/>
        </p:nvSpPr>
        <p:spPr>
          <a:xfrm>
            <a:off x="4882896" y="4114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850" dirty="0"/>
          </a:p>
        </p:txBody>
      </p:sp>
      <p:sp>
        <p:nvSpPr>
          <p:cNvPr id="33" name="Text"/>
          <p:cNvSpPr txBox="1"/>
          <p:nvPr/>
        </p:nvSpPr>
        <p:spPr>
          <a:xfrm>
            <a:off x="3721608" y="466344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Returns and claims</a:t>
            </a:r>
            <a:endParaRPr lang="en-US" sz="1500" dirty="0"/>
          </a:p>
        </p:txBody>
      </p:sp>
      <p:sp>
        <p:nvSpPr>
          <p:cNvPr id="34" name="Text"/>
          <p:cNvSpPr txBox="1"/>
          <p:nvPr/>
        </p:nvSpPr>
        <p:spPr>
          <a:xfrm>
            <a:off x="3721608" y="5001768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Faulty parts back to the supplier, warranty claims.</a:t>
            </a:r>
            <a:endParaRPr lang="en-US" sz="1200" dirty="0"/>
          </a:p>
        </p:txBody>
      </p:sp>
      <p:sp>
        <p:nvSpPr>
          <p:cNvPr id="35" name="Feature card Accounting export"/>
          <p:cNvSpPr/>
          <p:nvPr/>
        </p:nvSpPr>
        <p:spPr>
          <a:xfrm>
            <a:off x="6208776" y="3886200"/>
            <a:ext cx="2487168" cy="1965960"/>
          </a:xfrm>
          <a:prstGeom prst="roundRect">
            <a:avLst>
              <a:gd name="adj" fmla="val 7442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6" name="Proposed Accounting export"/>
          <p:cNvSpPr/>
          <p:nvPr/>
        </p:nvSpPr>
        <p:spPr>
          <a:xfrm>
            <a:off x="7598664" y="4114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7" name="Text"/>
          <p:cNvSpPr txBox="1"/>
          <p:nvPr/>
        </p:nvSpPr>
        <p:spPr>
          <a:xfrm>
            <a:off x="7598664" y="4114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850" dirty="0"/>
          </a:p>
        </p:txBody>
      </p:sp>
      <p:sp>
        <p:nvSpPr>
          <p:cNvPr id="38" name="Text"/>
          <p:cNvSpPr txBox="1"/>
          <p:nvPr/>
        </p:nvSpPr>
        <p:spPr>
          <a:xfrm>
            <a:off x="6437376" y="466344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Accounting export</a:t>
            </a:r>
            <a:endParaRPr lang="en-US" sz="1500" dirty="0"/>
          </a:p>
        </p:txBody>
      </p:sp>
      <p:sp>
        <p:nvSpPr>
          <p:cNvPr id="39" name="Text"/>
          <p:cNvSpPr txBox="1"/>
          <p:nvPr/>
        </p:nvSpPr>
        <p:spPr>
          <a:xfrm>
            <a:off x="6437376" y="5001768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Send stock and dispatch entries to your accounts software.</a:t>
            </a:r>
            <a:endParaRPr lang="en-US" sz="1200" dirty="0"/>
          </a:p>
        </p:txBody>
      </p:sp>
      <p:sp>
        <p:nvSpPr>
          <p:cNvPr id="40" name="Feature card WhatsApp alerts"/>
          <p:cNvSpPr/>
          <p:nvPr/>
        </p:nvSpPr>
        <p:spPr>
          <a:xfrm>
            <a:off x="8924544" y="3886200"/>
            <a:ext cx="2487168" cy="1965960"/>
          </a:xfrm>
          <a:prstGeom prst="roundRect">
            <a:avLst>
              <a:gd name="adj" fmla="val 7442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1" name="Proposed WhatsApp alerts"/>
          <p:cNvSpPr/>
          <p:nvPr/>
        </p:nvSpPr>
        <p:spPr>
          <a:xfrm>
            <a:off x="10314432" y="4114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2" name="Text"/>
          <p:cNvSpPr txBox="1"/>
          <p:nvPr/>
        </p:nvSpPr>
        <p:spPr>
          <a:xfrm>
            <a:off x="10314432" y="4114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850" dirty="0"/>
          </a:p>
        </p:txBody>
      </p:sp>
      <p:sp>
        <p:nvSpPr>
          <p:cNvPr id="43" name="Text"/>
          <p:cNvSpPr txBox="1"/>
          <p:nvPr/>
        </p:nvSpPr>
        <p:spPr>
          <a:xfrm>
            <a:off x="9153144" y="466344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WhatsApp alerts</a:t>
            </a:r>
            <a:endParaRPr lang="en-US" sz="1500" dirty="0"/>
          </a:p>
        </p:txBody>
      </p:sp>
      <p:sp>
        <p:nvSpPr>
          <p:cNvPr id="44" name="Text"/>
          <p:cNvSpPr txBox="1"/>
          <p:nvPr/>
        </p:nvSpPr>
        <p:spPr>
          <a:xfrm>
            <a:off x="9153144" y="5001768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Low stock and dispatch messages to the right person.</a:t>
            </a:r>
            <a:endParaRPr lang="en-US" sz="1200" dirty="0"/>
          </a:p>
        </p:txBody>
      </p:sp>
      <p:pic>
        <p:nvPicPr>
          <p:cNvPr id="46" name="Icon Purchase orders" descr="Icon Purchase ord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384048" cy="384048"/>
          </a:xfrm>
          <a:prstGeom prst="rect">
            <a:avLst/>
          </a:prstGeom>
        </p:spPr>
      </p:pic>
      <p:pic>
        <p:nvPicPr>
          <p:cNvPr id="47" name="Icon Label printing" descr="Icon Label print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1965960"/>
            <a:ext cx="384048" cy="384048"/>
          </a:xfrm>
          <a:prstGeom prst="rect">
            <a:avLst/>
          </a:prstGeom>
        </p:spPr>
      </p:pic>
      <p:pic>
        <p:nvPicPr>
          <p:cNvPr id="48" name="Icon Reorder suggestions" descr="Icon Reorder suggest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144" y="1965960"/>
            <a:ext cx="384048" cy="384048"/>
          </a:xfrm>
          <a:prstGeom prst="rect">
            <a:avLst/>
          </a:prstGeom>
        </p:spPr>
      </p:pic>
      <p:pic>
        <p:nvPicPr>
          <p:cNvPr id="49" name="Icon Multi-warehouse" descr="Icon Multi-warehou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1965960"/>
            <a:ext cx="384048" cy="384048"/>
          </a:xfrm>
          <a:prstGeom prst="rect">
            <a:avLst/>
          </a:prstGeom>
        </p:spPr>
      </p:pic>
      <p:pic>
        <p:nvPicPr>
          <p:cNvPr id="50" name="Icon Returns and claims" descr="Icon Returns and claim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608" y="4114800"/>
            <a:ext cx="384048" cy="384048"/>
          </a:xfrm>
          <a:prstGeom prst="rect">
            <a:avLst/>
          </a:prstGeom>
        </p:spPr>
      </p:pic>
      <p:pic>
        <p:nvPicPr>
          <p:cNvPr id="51" name="Icon Dealer ordering" descr="Icon Dealer order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114800"/>
            <a:ext cx="384048" cy="384048"/>
          </a:xfrm>
          <a:prstGeom prst="rect">
            <a:avLst/>
          </a:prstGeom>
        </p:spPr>
      </p:pic>
      <p:pic>
        <p:nvPicPr>
          <p:cNvPr id="52" name="Icon Accounting export" descr="Icon Accounting expor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376" y="4114800"/>
            <a:ext cx="384048" cy="384048"/>
          </a:xfrm>
          <a:prstGeom prst="rect">
            <a:avLst/>
          </a:prstGeom>
        </p:spPr>
      </p:pic>
      <p:pic>
        <p:nvPicPr>
          <p:cNvPr id="53" name="Icon WhatsApp alerts" descr="Icon WhatsApp alert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3144" y="411480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Next steps"/>
          <p:cNvSpPr txBox="1"/>
          <p:nvPr/>
        </p:nvSpPr>
        <p:spPr>
          <a:xfrm>
            <a:off x="777240" y="502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Start with your own Excel sheet</a:t>
            </a:r>
            <a:endParaRPr lang="en-US" sz="3000" dirty="0"/>
          </a:p>
        </p:txBody>
      </p:sp>
      <p:sp>
        <p:nvSpPr>
          <p:cNvPr id="5" name="Step card 1"/>
          <p:cNvSpPr/>
          <p:nvPr/>
        </p:nvSpPr>
        <p:spPr>
          <a:xfrm>
            <a:off x="777240" y="1828800"/>
            <a:ext cx="3331464" cy="2468880"/>
          </a:xfrm>
          <a:prstGeom prst="roundRect">
            <a:avLst>
              <a:gd name="adj" fmla="val 7407"/>
            </a:avLst>
          </a:prstGeom>
          <a:solidFill>
            <a:schemeClr val="accent4"/>
          </a:solidFill>
          <a:ln/>
        </p:spPr>
      </p:sp>
      <p:sp>
        <p:nvSpPr>
          <p:cNvPr id="6" name="Step disc 1"/>
          <p:cNvSpPr/>
          <p:nvPr/>
        </p:nvSpPr>
        <p:spPr>
          <a:xfrm>
            <a:off x="1051560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"/>
          <p:cNvSpPr txBox="1"/>
          <p:nvPr/>
        </p:nvSpPr>
        <p:spPr>
          <a:xfrm>
            <a:off x="10515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"/>
          <p:cNvSpPr txBox="1"/>
          <p:nvPr/>
        </p:nvSpPr>
        <p:spPr>
          <a:xfrm>
            <a:off x="1051560" y="2926080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Share one stock sheet</a:t>
            </a:r>
            <a:endParaRPr lang="en-US" sz="1800" dirty="0"/>
          </a:p>
        </p:txBody>
      </p:sp>
      <p:sp>
        <p:nvSpPr>
          <p:cNvPr id="9" name="Text"/>
          <p:cNvSpPr txBox="1"/>
          <p:nvPr/>
        </p:nvSpPr>
        <p:spPr>
          <a:xfrm>
            <a:off x="1051560" y="3383280"/>
            <a:ext cx="2782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We import it and show your own parts in the dashboard.</a:t>
            </a:r>
            <a:endParaRPr lang="en-US" sz="1300" dirty="0"/>
          </a:p>
        </p:txBody>
      </p:sp>
      <p:sp>
        <p:nvSpPr>
          <p:cNvPr id="10" name="Step card 2"/>
          <p:cNvSpPr/>
          <p:nvPr/>
        </p:nvSpPr>
        <p:spPr>
          <a:xfrm>
            <a:off x="4428744" y="1828800"/>
            <a:ext cx="3331464" cy="2468880"/>
          </a:xfrm>
          <a:prstGeom prst="roundRect">
            <a:avLst>
              <a:gd name="adj" fmla="val 7407"/>
            </a:avLst>
          </a:prstGeom>
          <a:solidFill>
            <a:schemeClr val="accent4"/>
          </a:solidFill>
          <a:ln/>
        </p:spPr>
      </p:sp>
      <p:sp>
        <p:nvSpPr>
          <p:cNvPr id="11" name="Step disc 2"/>
          <p:cNvSpPr/>
          <p:nvPr/>
        </p:nvSpPr>
        <p:spPr>
          <a:xfrm>
            <a:off x="4703064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"/>
          <p:cNvSpPr txBox="1"/>
          <p:nvPr/>
        </p:nvSpPr>
        <p:spPr>
          <a:xfrm>
            <a:off x="470306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"/>
          <p:cNvSpPr txBox="1"/>
          <p:nvPr/>
        </p:nvSpPr>
        <p:spPr>
          <a:xfrm>
            <a:off x="4703064" y="2926080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Pilot for a week</a:t>
            </a:r>
            <a:endParaRPr lang="en-US" sz="1800" dirty="0"/>
          </a:p>
        </p:txBody>
      </p:sp>
      <p:sp>
        <p:nvSpPr>
          <p:cNvPr id="14" name="Text"/>
          <p:cNvSpPr txBox="1"/>
          <p:nvPr/>
        </p:nvSpPr>
        <p:spPr>
          <a:xfrm>
            <a:off x="4703064" y="3383280"/>
            <a:ext cx="2782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Receive and dispatch with phone scans, and time a few lookups.</a:t>
            </a:r>
            <a:endParaRPr lang="en-US" sz="1300" dirty="0"/>
          </a:p>
        </p:txBody>
      </p:sp>
      <p:sp>
        <p:nvSpPr>
          <p:cNvPr id="15" name="Step card 3"/>
          <p:cNvSpPr/>
          <p:nvPr/>
        </p:nvSpPr>
        <p:spPr>
          <a:xfrm>
            <a:off x="8080248" y="1828800"/>
            <a:ext cx="3331464" cy="2468880"/>
          </a:xfrm>
          <a:prstGeom prst="roundRect">
            <a:avLst>
              <a:gd name="adj" fmla="val 7407"/>
            </a:avLst>
          </a:prstGeom>
          <a:solidFill>
            <a:schemeClr val="accent4"/>
          </a:solidFill>
          <a:ln/>
        </p:spPr>
      </p:sp>
      <p:sp>
        <p:nvSpPr>
          <p:cNvPr id="16" name="Step disc 3"/>
          <p:cNvSpPr/>
          <p:nvPr/>
        </p:nvSpPr>
        <p:spPr>
          <a:xfrm>
            <a:off x="8354568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"/>
          <p:cNvSpPr txBox="1"/>
          <p:nvPr/>
        </p:nvSpPr>
        <p:spPr>
          <a:xfrm>
            <a:off x="8354568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"/>
          <p:cNvSpPr txBox="1"/>
          <p:nvPr/>
        </p:nvSpPr>
        <p:spPr>
          <a:xfrm>
            <a:off x="8354568" y="2926080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 live</a:t>
            </a:r>
            <a:endParaRPr lang="en-US" sz="1800" dirty="0"/>
          </a:p>
        </p:txBody>
      </p:sp>
      <p:sp>
        <p:nvSpPr>
          <p:cNvPr id="19" name="Text"/>
          <p:cNvSpPr txBox="1"/>
          <p:nvPr/>
        </p:nvSpPr>
        <p:spPr>
          <a:xfrm>
            <a:off x="8354568" y="3383280"/>
            <a:ext cx="2782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Move the store and dispatch bay over, then add features.</a:t>
            </a:r>
            <a:endParaRPr lang="en-US" sz="1300" dirty="0"/>
          </a:p>
        </p:txBody>
      </p:sp>
      <p:pic>
        <p:nvPicPr>
          <p:cNvPr id="20" name="ABC EV Bikes logo" descr="ABC EV Bikes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754880"/>
            <a:ext cx="1737360" cy="967958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2880360" y="5074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screen in this deck is a mock-up with sample data. ABC EV Bikes is a placeholder name.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C Mint">
  <a:themeElements>
    <a:clrScheme name="ABC Mint">
      <a:dk1>
        <a:srgbClr val="0E3D3A"/>
      </a:dk1>
      <a:lt1>
        <a:srgbClr val="FFFFFF"/>
      </a:lt1>
      <a:dk2>
        <a:srgbClr val="0E3D3A"/>
      </a:dk2>
      <a:lt2>
        <a:srgbClr val="F2FBEE"/>
      </a:lt2>
      <a:accent1>
        <a:srgbClr val="8BE07F"/>
      </a:accent1>
      <a:accent2>
        <a:srgbClr val="2F9E57"/>
      </a:accent2>
      <a:accent3>
        <a:srgbClr val="DAF5D3"/>
      </a:accent3>
      <a:accent4>
        <a:srgbClr val="1F5C57"/>
      </a:accent4>
      <a:accent5>
        <a:srgbClr val="B7EEA9"/>
      </a:accent5>
      <a:accent6>
        <a:srgbClr val="5C7A76"/>
      </a:accent6>
      <a:hlink>
        <a:srgbClr val="2F9E57"/>
      </a:hlink>
      <a:folHlink>
        <a:srgbClr val="5C7A76"/>
      </a:folHlink>
    </a:clrScheme>
    <a:fontScheme name="ABC Mint">
      <a:majorFont>
        <a:latin typeface="Outf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utfi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syfr.live</dc:title>
  <dc:subject>PptxGenJS Presentation</dc:subject>
  <dc:creator>syfr.live</dc:creator>
  <cp:lastModifiedBy>syfr.live</cp:lastModifiedBy>
  <cp:revision>1</cp:revision>
  <dcterms:created xsi:type="dcterms:W3CDTF">2026-10-18T08:27:05Z</dcterms:created>
  <dcterms:modified xsi:type="dcterms:W3CDTF">2026-10-18T08:27:05Z</dcterms:modified>
</cp:coreProperties>
</file>