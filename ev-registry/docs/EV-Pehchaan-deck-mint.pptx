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57e610da-7265-d4e7-40f9-6bd3298ad096}">
          <p14:sldIdLst>
            <p14:sldId id="256"/>
            <p14:sldId id="257"/>
            <p14:sldId id="258"/>
            <p14:sldId id="259"/>
          </p14:sldIdLst>
        </p14:section>
        <p14:section name="Company" id="{c10a802c-92bc-8964-d635-7f410f381396}">
          <p14:sldIdLst>
            <p14:sldId id="260"/>
            <p14:sldId id="261"/>
            <p14:sldId id="262"/>
            <p14:sldId id="263"/>
          </p14:sldIdLst>
        </p14:section>
        <p14:section name="Dealer and owner" id="{29b0b6d9-70eb-14bb-88e1-d6dff660306c}">
          <p14:sldIdLst>
            <p14:sldId id="264"/>
          </p14:sldIdLst>
        </p14:section>
        <p14:section name="Next" id="{4ef265c4-041b-7122-3a9f-3f31c4b87c67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FF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AF5D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7EEA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E07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FB9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Uttar Pradesh</c:v>
                  </c:pt>
                  <c:pt idx="1">
                    <c:v>Gujarat</c:v>
                  </c:pt>
                  <c:pt idx="2">
                    <c:v>Maharashtra</c:v>
                  </c:pt>
                  <c:pt idx="3">
                    <c:v>Tamil Nadu</c:v>
                  </c:pt>
                  <c:pt idx="4">
                    <c:v>Madhya Pradesh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27528</c:v>
                </c:pt>
                <c:pt idx="1">
                  <c:v>15077</c:v>
                </c:pt>
                <c:pt idx="2">
                  <c:v>13260</c:v>
                </c:pt>
                <c:pt idx="3">
                  <c:v>11331</c:v>
                </c:pt>
                <c:pt idx="4">
                  <c:v>9336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AF5D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Warranty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3D3A"/>
              </a:solidFill>
              <a:ln w="25400" cap="flat">
                <a:solidFill>
                  <a:srgbClr val="F2FBEE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8BE07F"/>
              </a:solidFill>
              <a:ln w="25400" cap="flat">
                <a:solidFill>
                  <a:srgbClr val="F2FBEE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DAF5D3"/>
              </a:solidFill>
              <a:ln w="25400" cap="flat">
                <a:solidFill>
                  <a:srgbClr val="F2FBEE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Active</c:v>
                </c:pt>
                <c:pt idx="1">
                  <c:v>Expiring soon</c:v>
                </c:pt>
                <c:pt idx="2">
                  <c:v>Expired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485</c:v>
                </c:pt>
                <c:pt idx="1">
                  <c:v>38</c:v>
                </c:pt>
                <c:pt idx="2">
                  <c:v>17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 Pehchaan is a web portal that keeps the records of small, non-RTO electric bikes: who owns which bike, where it was sold, what warranty each part carries, and which parts have been replaced. Everything in this deck is shown with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gap: low-speed e-bikes do not go through the RTO, so there is no government registry to lean on. The portal fills that gap for the manufacturer and its dealer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plate is the link between the physical bike and its record. Scanning it opens registration, warranty per part and the parts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role gets its own view of the same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data. The five largest states in the demo registry; the full table lists every state and union territory with its districts.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uses real district boundaries. The numbers are made up. The live feed adds a registration every few seconds so the real-time behaviour is visible in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data: counts from the demo register. 'Expiring soon' means a part's warranty ends within 60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Warranty months come from the demo's four models: motors carry 24 or 36 months, controllers 24, batteries 18 to 30. Serial numbers shown are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Dealers register a bike and scan plates; owners see their registration, QR and warranty per part. The dealer app also logs part replacements.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qualitative comparison, not a measured one: it describes what the portal adds, not how any particular dealer works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two steps exist in the demo. The rest are proposals, not commitments; the backend unlocks the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link is a private page; share it from its Share menu before sending it to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I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2331720"/>
            <a:ext cx="65836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77240" y="3931920"/>
            <a:ext cx="5669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NT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3" name="Image 0" descr="/tmp/claude-0/-home-user-fans-app/34dcd851-4012-5285-8b19-5836f8a3c053/scratchpad/deck/img/n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38251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NT_CENTE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pic>
        <p:nvPicPr>
          <p:cNvPr id="3" name="Image 0" descr="/tmp/claude-0/-home-user-fans-app/34dcd851-4012-5285-8b19-5836f8a3c053/scratchpad/deck/img/n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38251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LEF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3" name="Image 0" descr="/tmp/claude-0/-home-user-fans-app/34dcd851-4012-5285-8b19-5836f8a3c053/scratchpad/deck/img/n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38251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MI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309360" y="1554480"/>
            <a:ext cx="51206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laude.ai/artifact/76eZmTT9gninNENMKdFitt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4" Type="http://schemas.openxmlformats.org/officeDocument/2006/relationships/image" Target="../media/image-12-3.png"/><Relationship Id="rId5" Type="http://schemas.openxmlformats.org/officeDocument/2006/relationships/image" Target="../media/image-12-4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mark" descr="EV Pehchaa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48640"/>
            <a:ext cx="347472" cy="347472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1234440" y="548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 Pehchaan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23317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registry for every non-RTO e-bike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77240" y="39319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Registration, warranty and parts history, from the factory to the dealer to the owner.</a:t>
            </a:r>
            <a:endParaRPr lang="en-US" sz="1600" dirty="0"/>
          </a:p>
        </p:txBody>
      </p:sp>
      <p:pic>
        <p:nvPicPr>
          <p:cNvPr id="6" name="Hero panel" descr="Owner phone screen with the number plate and QR 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502920"/>
            <a:ext cx="3200400" cy="585216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777240" y="5669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</a:t>
            </a:r>
            <a:endParaRPr lang="en-US" sz="1000" dirty="0"/>
          </a:p>
        </p:txBody>
      </p:sp>
      <p:sp>
        <p:nvSpPr>
          <p:cNvPr id="8" name="Text"/>
          <p:cNvSpPr txBox="1"/>
          <p:nvPr/>
        </p:nvSpPr>
        <p:spPr>
          <a:xfrm>
            <a:off x="777240" y="5916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Registry for small e-bikes</a:t>
            </a:r>
            <a:endParaRPr lang="en-US" sz="1300" dirty="0"/>
          </a:p>
        </p:txBody>
      </p:sp>
      <p:sp>
        <p:nvSpPr>
          <p:cNvPr id="9" name="Text"/>
          <p:cNvSpPr txBox="1"/>
          <p:nvPr/>
        </p:nvSpPr>
        <p:spPr>
          <a:xfrm>
            <a:off x="3703320" y="5669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Text"/>
          <p:cNvSpPr txBox="1"/>
          <p:nvPr/>
        </p:nvSpPr>
        <p:spPr>
          <a:xfrm>
            <a:off x="3703320" y="5916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Sample data only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06527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The gap"/>
          <p:cNvSpPr txBox="1"/>
          <p:nvPr/>
        </p:nvSpPr>
        <p:spPr>
          <a:xfrm>
            <a:off x="777240" y="502920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GAP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Non-RTO e-bikes leave no record behind</a:t>
            </a:r>
            <a:endParaRPr lang="en-US" sz="3000" dirty="0"/>
          </a:p>
        </p:txBody>
      </p:sp>
      <p:sp>
        <p:nvSpPr>
          <p:cNvPr id="5" name="Left tile"/>
          <p:cNvSpPr/>
          <p:nvPr/>
        </p:nvSpPr>
        <p:spPr>
          <a:xfrm>
            <a:off x="777240" y="1783080"/>
            <a:ext cx="3154680" cy="3429000"/>
          </a:xfrm>
          <a:prstGeom prst="roundRect">
            <a:avLst>
              <a:gd name="adj" fmla="val 5797"/>
            </a:avLst>
          </a:prstGeom>
          <a:solidFill>
            <a:schemeClr val="accent3"/>
          </a:solidFill>
          <a:ln/>
        </p:spPr>
      </p:sp>
      <p:pic>
        <p:nvPicPr>
          <p:cNvPr id="6" name="Icon: no central record" descr="Icon: no central rec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240280"/>
            <a:ext cx="822960" cy="82296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1188720" y="3429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central record</a:t>
            </a:r>
            <a:endParaRPr lang="en-US" sz="1900" dirty="0"/>
          </a:p>
        </p:txBody>
      </p:sp>
      <p:sp>
        <p:nvSpPr>
          <p:cNvPr id="8" name="Text"/>
          <p:cNvSpPr txBox="1"/>
          <p:nvPr/>
        </p:nvSpPr>
        <p:spPr>
          <a:xfrm>
            <a:off x="1188720" y="38862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Nobody can say how many bikes are on the road, who owns them or where they were sold.</a:t>
            </a:r>
            <a:endParaRPr lang="en-US" sz="1400" dirty="0"/>
          </a:p>
        </p:txBody>
      </p:sp>
      <p:sp>
        <p:nvSpPr>
          <p:cNvPr id="9" name="Center card"/>
          <p:cNvSpPr/>
          <p:nvPr/>
        </p:nvSpPr>
        <p:spPr>
          <a:xfrm>
            <a:off x="4114800" y="1783080"/>
            <a:ext cx="4114800" cy="34290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pic>
        <p:nvPicPr>
          <p:cNvPr id="10" name="Icon: paper warranty" descr="Icon: paper warran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40280"/>
            <a:ext cx="640080" cy="64008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5394960" y="2286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Paper warranty</a:t>
            </a:r>
            <a:endParaRPr lang="en-US" sz="2200" dirty="0"/>
          </a:p>
        </p:txBody>
      </p:sp>
      <p:pic>
        <p:nvPicPr>
          <p:cNvPr id="12" name="Check 1" descr="Check 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291840"/>
            <a:ext cx="274320" cy="274320"/>
          </a:xfrm>
          <a:prstGeom prst="rect">
            <a:avLst/>
          </a:prstGeom>
        </p:spPr>
      </p:pic>
      <p:sp>
        <p:nvSpPr>
          <p:cNvPr id="13" name="Text"/>
          <p:cNvSpPr txBox="1"/>
          <p:nvPr/>
        </p:nvSpPr>
        <p:spPr>
          <a:xfrm>
            <a:off x="5029200" y="32644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claim depends on a bill the owner may have lost</a:t>
            </a:r>
            <a:endParaRPr lang="en-US" sz="1400" dirty="0"/>
          </a:p>
        </p:txBody>
      </p:sp>
      <p:pic>
        <p:nvPicPr>
          <p:cNvPr id="14" name="Check 2" descr="Check 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913632"/>
            <a:ext cx="274320" cy="274320"/>
          </a:xfrm>
          <a:prstGeom prst="rect">
            <a:avLst/>
          </a:prstGeom>
        </p:spPr>
      </p:pic>
      <p:sp>
        <p:nvSpPr>
          <p:cNvPr id="15" name="Text"/>
          <p:cNvSpPr txBox="1"/>
          <p:nvPr/>
        </p:nvSpPr>
        <p:spPr>
          <a:xfrm>
            <a:off x="5029200" y="3886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Dealers rely on their memory of the sale</a:t>
            </a:r>
            <a:endParaRPr lang="en-US" sz="1400" dirty="0"/>
          </a:p>
        </p:txBody>
      </p:sp>
      <p:pic>
        <p:nvPicPr>
          <p:cNvPr id="16" name="Check 3" descr="Check 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535424"/>
            <a:ext cx="274320" cy="274320"/>
          </a:xfrm>
          <a:prstGeom prst="rect">
            <a:avLst/>
          </a:prstGeom>
        </p:spPr>
      </p:pic>
      <p:sp>
        <p:nvSpPr>
          <p:cNvPr id="17" name="Text"/>
          <p:cNvSpPr txBox="1"/>
          <p:nvPr/>
        </p:nvSpPr>
        <p:spPr>
          <a:xfrm>
            <a:off x="5029200" y="45079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Nobody can check which part carries which warranty</a:t>
            </a:r>
            <a:endParaRPr lang="en-US" sz="1400" dirty="0"/>
          </a:p>
        </p:txBody>
      </p:sp>
      <p:sp>
        <p:nvSpPr>
          <p:cNvPr id="18" name="Right tile"/>
          <p:cNvSpPr/>
          <p:nvPr/>
        </p:nvSpPr>
        <p:spPr>
          <a:xfrm>
            <a:off x="8412480" y="1783080"/>
            <a:ext cx="3154680" cy="3429000"/>
          </a:xfrm>
          <a:prstGeom prst="roundRect">
            <a:avLst>
              <a:gd name="adj" fmla="val 5797"/>
            </a:avLst>
          </a:prstGeom>
          <a:solidFill>
            <a:schemeClr val="accent3"/>
          </a:solidFill>
          <a:ln/>
        </p:spPr>
      </p:sp>
      <p:pic>
        <p:nvPicPr>
          <p:cNvPr id="19" name="Icon: unseen part swaps" descr="Icon: unseen part swap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0" y="2240280"/>
            <a:ext cx="822960" cy="822960"/>
          </a:xfrm>
          <a:prstGeom prst="rect">
            <a:avLst/>
          </a:prstGeom>
        </p:spPr>
      </p:pic>
      <p:sp>
        <p:nvSpPr>
          <p:cNvPr id="20" name="Text"/>
          <p:cNvSpPr txBox="1"/>
          <p:nvPr/>
        </p:nvSpPr>
        <p:spPr>
          <a:xfrm>
            <a:off x="8823960" y="3429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Unseen part swaps</a:t>
            </a:r>
            <a:endParaRPr lang="en-US" sz="1900" dirty="0"/>
          </a:p>
        </p:txBody>
      </p:sp>
      <p:sp>
        <p:nvSpPr>
          <p:cNvPr id="21" name="Text"/>
          <p:cNvSpPr txBox="1"/>
          <p:nvPr/>
        </p:nvSpPr>
        <p:spPr>
          <a:xfrm>
            <a:off x="8823960" y="38862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new motor, controller or battery is fitted and what was replaced, and when, is lost.</a:t>
            </a:r>
            <a:endParaRPr lang="en-US" sz="1400" dirty="0"/>
          </a:p>
        </p:txBody>
      </p:sp>
      <p:sp>
        <p:nvSpPr>
          <p:cNvPr id="22" name="Text"/>
          <p:cNvSpPr txBox="1"/>
          <p:nvPr/>
        </p:nvSpPr>
        <p:spPr>
          <a:xfrm>
            <a:off x="777240" y="548640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 Pehchaan gives each bike a QR plate and one record that company, dealer and owner can all read.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49961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The solution"/>
          <p:cNvSpPr txBox="1"/>
          <p:nvPr/>
        </p:nvSpPr>
        <p:spPr>
          <a:xfrm>
            <a:off x="777240" y="5029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QR plate. One record for everyone</a:t>
            </a:r>
            <a:endParaRPr lang="en-US" sz="3000" dirty="0"/>
          </a:p>
        </p:txBody>
      </p:sp>
      <p:pic>
        <p:nvPicPr>
          <p:cNvPr id="5" name="Check 1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365760" cy="36576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1371600" y="19659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dealer registers the bike before it is sold</a:t>
            </a:r>
            <a:endParaRPr lang="en-US" sz="1600" dirty="0"/>
          </a:p>
        </p:txBody>
      </p:sp>
      <p:pic>
        <p:nvPicPr>
          <p:cNvPr id="7" name="Check 2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63240"/>
            <a:ext cx="365760" cy="36576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371600" y="30175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plate carries the company logo and a QR code</a:t>
            </a:r>
            <a:endParaRPr lang="en-US" sz="1600" dirty="0"/>
          </a:p>
        </p:txBody>
      </p:sp>
      <p:pic>
        <p:nvPicPr>
          <p:cNvPr id="9" name="Check 3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14800"/>
            <a:ext cx="365760" cy="365760"/>
          </a:xfrm>
          <a:prstGeom prst="rect">
            <a:avLst/>
          </a:prstGeom>
        </p:spPr>
      </p:pic>
      <p:sp>
        <p:nvSpPr>
          <p:cNvPr id="10" name="Text"/>
          <p:cNvSpPr txBox="1"/>
          <p:nvPr/>
        </p:nvSpPr>
        <p:spPr>
          <a:xfrm>
            <a:off x="1371600" y="40690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Owner, dealer and company read the same record</a:t>
            </a:r>
            <a:endParaRPr lang="en-US" sz="1600" dirty="0"/>
          </a:p>
        </p:txBody>
      </p:sp>
      <p:pic>
        <p:nvPicPr>
          <p:cNvPr id="11" name="Plate tile" descr="Number plate with company logo and QR c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783080"/>
            <a:ext cx="2651760" cy="3108960"/>
          </a:xfrm>
          <a:prstGeom prst="rect">
            <a:avLst/>
          </a:prstGeom>
        </p:spPr>
      </p:pic>
      <p:pic>
        <p:nvPicPr>
          <p:cNvPr id="12" name="Phone tile" descr="Owner warranty scre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1783080"/>
            <a:ext cx="2651760" cy="3108960"/>
          </a:xfrm>
          <a:prstGeom prst="rect">
            <a:avLst/>
          </a:prstGeom>
        </p:spPr>
      </p:pic>
      <p:sp>
        <p:nvSpPr>
          <p:cNvPr id="13" name="Callout"/>
          <p:cNvSpPr/>
          <p:nvPr/>
        </p:nvSpPr>
        <p:spPr>
          <a:xfrm>
            <a:off x="5989320" y="5120640"/>
            <a:ext cx="5486400" cy="548640"/>
          </a:xfrm>
          <a:prstGeom prst="roundRect">
            <a:avLst>
              <a:gd name="adj" fmla="val 33333"/>
            </a:avLst>
          </a:prstGeom>
          <a:solidFill>
            <a:schemeClr val="accent3"/>
          </a:solidFill>
          <a:ln/>
        </p:spPr>
      </p:sp>
      <p:sp>
        <p:nvSpPr>
          <p:cNvPr id="14" name="Text"/>
          <p:cNvSpPr txBox="1"/>
          <p:nvPr/>
        </p:nvSpPr>
        <p:spPr>
          <a:xfrm>
            <a:off x="5989320" y="5120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Scan the plate, see the whole bike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344668" y="502920"/>
            <a:ext cx="149961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Who it&amp;apos;s for"/>
          <p:cNvSpPr txBox="1"/>
          <p:nvPr/>
        </p:nvSpPr>
        <p:spPr>
          <a:xfrm>
            <a:off x="5344668" y="5029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WHO IT'S FOR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Three users, one registry</a:t>
            </a:r>
            <a:endParaRPr lang="en-US" sz="3000" dirty="0"/>
          </a:p>
        </p:txBody>
      </p:sp>
      <p:sp>
        <p:nvSpPr>
          <p:cNvPr id="5" name="User card Company"/>
          <p:cNvSpPr/>
          <p:nvPr/>
        </p:nvSpPr>
        <p:spPr>
          <a:xfrm>
            <a:off x="950976" y="2011680"/>
            <a:ext cx="3246120" cy="2651760"/>
          </a:xfrm>
          <a:prstGeom prst="roundRect">
            <a:avLst>
              <a:gd name="adj" fmla="val 6897"/>
            </a:avLst>
          </a:prstGeom>
          <a:solidFill>
            <a:schemeClr val="accent3"/>
          </a:solidFill>
          <a:ln/>
        </p:spPr>
      </p:sp>
      <p:sp>
        <p:nvSpPr>
          <p:cNvPr id="6" name="Icon disc Company"/>
          <p:cNvSpPr/>
          <p:nvPr/>
        </p:nvSpPr>
        <p:spPr>
          <a:xfrm>
            <a:off x="2208276" y="2286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: Company" descr="Icon: Compa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2868" y="2450592"/>
            <a:ext cx="402336" cy="402336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225296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Company</a:t>
            </a:r>
            <a:endParaRPr lang="en-US" sz="1800" dirty="0"/>
          </a:p>
        </p:txBody>
      </p:sp>
      <p:sp>
        <p:nvSpPr>
          <p:cNvPr id="9" name="Text"/>
          <p:cNvSpPr txBox="1"/>
          <p:nvPr/>
        </p:nvSpPr>
        <p:spPr>
          <a:xfrm>
            <a:off x="1271016" y="36118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Live map, area report and every warranty on record. Desktop first.</a:t>
            </a:r>
            <a:endParaRPr lang="en-US" sz="1300" dirty="0"/>
          </a:p>
        </p:txBody>
      </p:sp>
      <p:sp>
        <p:nvSpPr>
          <p:cNvPr id="10" name="User card Dealer"/>
          <p:cNvSpPr/>
          <p:nvPr/>
        </p:nvSpPr>
        <p:spPr>
          <a:xfrm>
            <a:off x="4471416" y="2011680"/>
            <a:ext cx="3246120" cy="2651760"/>
          </a:xfrm>
          <a:prstGeom prst="roundRect">
            <a:avLst>
              <a:gd name="adj" fmla="val 6897"/>
            </a:avLst>
          </a:prstGeom>
          <a:solidFill>
            <a:schemeClr val="accent3"/>
          </a:solidFill>
          <a:ln/>
        </p:spPr>
      </p:sp>
      <p:sp>
        <p:nvSpPr>
          <p:cNvPr id="11" name="Icon disc Dealer"/>
          <p:cNvSpPr/>
          <p:nvPr/>
        </p:nvSpPr>
        <p:spPr>
          <a:xfrm>
            <a:off x="5728716" y="2286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: Dealer" descr="Icon: Deal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308" y="2450592"/>
            <a:ext cx="402336" cy="402336"/>
          </a:xfrm>
          <a:prstGeom prst="rect">
            <a:avLst/>
          </a:prstGeom>
        </p:spPr>
      </p:pic>
      <p:sp>
        <p:nvSpPr>
          <p:cNvPr id="13" name="Text"/>
          <p:cNvSpPr txBox="1"/>
          <p:nvPr/>
        </p:nvSpPr>
        <p:spPr>
          <a:xfrm>
            <a:off x="4745736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</a:t>
            </a:r>
            <a:endParaRPr lang="en-US" sz="1800" dirty="0"/>
          </a:p>
        </p:txBody>
      </p:sp>
      <p:sp>
        <p:nvSpPr>
          <p:cNvPr id="14" name="Text"/>
          <p:cNvSpPr txBox="1"/>
          <p:nvPr/>
        </p:nvSpPr>
        <p:spPr>
          <a:xfrm>
            <a:off x="4791456" y="36118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Register before selling, scan the plate, log part swaps. Phone and tablet.</a:t>
            </a:r>
            <a:endParaRPr lang="en-US" sz="1300" dirty="0"/>
          </a:p>
        </p:txBody>
      </p:sp>
      <p:sp>
        <p:nvSpPr>
          <p:cNvPr id="15" name="User card Vehicle owner"/>
          <p:cNvSpPr/>
          <p:nvPr/>
        </p:nvSpPr>
        <p:spPr>
          <a:xfrm>
            <a:off x="7991856" y="2011680"/>
            <a:ext cx="3246120" cy="2651760"/>
          </a:xfrm>
          <a:prstGeom prst="roundRect">
            <a:avLst>
              <a:gd name="adj" fmla="val 6897"/>
            </a:avLst>
          </a:prstGeom>
          <a:solidFill>
            <a:schemeClr val="accent3"/>
          </a:solidFill>
          <a:ln/>
        </p:spPr>
      </p:sp>
      <p:sp>
        <p:nvSpPr>
          <p:cNvPr id="16" name="Icon disc Vehicle owner"/>
          <p:cNvSpPr/>
          <p:nvPr/>
        </p:nvSpPr>
        <p:spPr>
          <a:xfrm>
            <a:off x="9249156" y="2286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: Vehicle owner" descr="Icon: Vehicle own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3748" y="2450592"/>
            <a:ext cx="402336" cy="402336"/>
          </a:xfrm>
          <a:prstGeom prst="rect">
            <a:avLst/>
          </a:prstGeom>
        </p:spPr>
      </p:pic>
      <p:sp>
        <p:nvSpPr>
          <p:cNvPr id="18" name="Text"/>
          <p:cNvSpPr txBox="1"/>
          <p:nvPr/>
        </p:nvSpPr>
        <p:spPr>
          <a:xfrm>
            <a:off x="8266176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Vehicle owner</a:t>
            </a:r>
            <a:endParaRPr lang="en-US" sz="1800" dirty="0"/>
          </a:p>
        </p:txBody>
      </p:sp>
      <p:sp>
        <p:nvSpPr>
          <p:cNvPr id="19" name="Text"/>
          <p:cNvSpPr txBox="1"/>
          <p:nvPr/>
        </p:nvSpPr>
        <p:spPr>
          <a:xfrm>
            <a:off x="8311896" y="36118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Registration period, warranty per part and parts history. On the phone.</a:t>
            </a:r>
            <a:endParaRPr lang="en-US" sz="1300" dirty="0"/>
          </a:p>
        </p:txBody>
      </p:sp>
      <p:sp>
        <p:nvSpPr>
          <p:cNvPr id="20" name="Text"/>
          <p:cNvSpPr txBox="1"/>
          <p:nvPr/>
        </p:nvSpPr>
        <p:spPr>
          <a:xfrm>
            <a:off x="777240" y="512064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 for the control room, the shop counter and the owner's pocket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06527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Company"/>
          <p:cNvSpPr txBox="1"/>
          <p:nvPr/>
        </p:nvSpPr>
        <p:spPr>
          <a:xfrm>
            <a:off x="777240" y="502920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COMPANY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Registrations by state, as they happen</a:t>
            </a:r>
            <a:endParaRPr lang="en-US" sz="3000" dirty="0"/>
          </a:p>
        </p:txBody>
      </p:sp>
      <p:sp>
        <p:nvSpPr>
          <p:cNvPr id="5" name="Text"/>
          <p:cNvSpPr txBox="1"/>
          <p:nvPr/>
        </p:nvSpPr>
        <p:spPr>
          <a:xfrm>
            <a:off x="777240" y="19202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state and union territory, with its districts underneath. Totals move as dealers register bikes.</a:t>
            </a:r>
            <a:endParaRPr lang="en-US" sz="1500" dirty="0"/>
          </a:p>
        </p:txBody>
      </p:sp>
      <p:sp>
        <p:nvSpPr>
          <p:cNvPr id="6" name="Text"/>
          <p:cNvSpPr txBox="1"/>
          <p:nvPr/>
        </p:nvSpPr>
        <p:spPr>
          <a:xfrm>
            <a:off x="777240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REGISTERED IN THE DEMO</a:t>
            </a:r>
            <a:endParaRPr lang="en-US" sz="1000" dirty="0"/>
          </a:p>
        </p:txBody>
      </p:sp>
      <p:sp>
        <p:nvSpPr>
          <p:cNvPr id="7" name="Text"/>
          <p:cNvSpPr txBox="1"/>
          <p:nvPr/>
        </p:nvSpPr>
        <p:spPr>
          <a:xfrm>
            <a:off x="777240" y="42062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1,48,000+</a:t>
            </a:r>
            <a:endParaRPr lang="en-US" sz="4400" dirty="0"/>
          </a:p>
        </p:txBody>
      </p:sp>
      <p:sp>
        <p:nvSpPr>
          <p:cNvPr id="8" name="Sample badge"/>
          <p:cNvSpPr/>
          <p:nvPr/>
        </p:nvSpPr>
        <p:spPr>
          <a:xfrm>
            <a:off x="777240" y="5120640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9" name="Text"/>
          <p:cNvSpPr txBox="1"/>
          <p:nvPr/>
        </p:nvSpPr>
        <p:spPr>
          <a:xfrm>
            <a:off x="777240" y="51206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SAMPLE DATA</a:t>
            </a:r>
            <a:endParaRPr lang="en-US" sz="1000" dirty="0"/>
          </a:p>
        </p:txBody>
      </p:sp>
      <p:sp>
        <p:nvSpPr>
          <p:cNvPr id="10" name="Text"/>
          <p:cNvSpPr txBox="1"/>
          <p:nvPr/>
        </p:nvSpPr>
        <p:spPr>
          <a:xfrm>
            <a:off x="585216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Top five states in the demo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760720" y="210312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06527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Company"/>
          <p:cNvSpPr txBox="1"/>
          <p:nvPr/>
        </p:nvSpPr>
        <p:spPr>
          <a:xfrm>
            <a:off x="777240" y="502920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COMPANY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district on one live map</a:t>
            </a:r>
            <a:endParaRPr lang="en-US" sz="3000" dirty="0"/>
          </a:p>
        </p:txBody>
      </p:sp>
      <p:sp>
        <p:nvSpPr>
          <p:cNvPr id="5" name="Text"/>
          <p:cNvSpPr txBox="1"/>
          <p:nvPr/>
        </p:nvSpPr>
        <p:spPr>
          <a:xfrm>
            <a:off x="777240" y="19202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circle per district. A deeper shade means more registrations. Click a state to zoom in, and watch new bikes pulse onto the map.</a:t>
            </a:r>
            <a:endParaRPr lang="en-US" sz="1500" dirty="0"/>
          </a:p>
        </p:txBody>
      </p:sp>
      <p:sp>
        <p:nvSpPr>
          <p:cNvPr id="6" name="Text"/>
          <p:cNvSpPr txBox="1"/>
          <p:nvPr/>
        </p:nvSpPr>
        <p:spPr>
          <a:xfrm>
            <a:off x="777240" y="3657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36</a:t>
            </a:r>
            <a:endParaRPr lang="en-US" sz="4400" dirty="0"/>
          </a:p>
        </p:txBody>
      </p:sp>
      <p:sp>
        <p:nvSpPr>
          <p:cNvPr id="7" name="Text"/>
          <p:cNvSpPr txBox="1"/>
          <p:nvPr/>
        </p:nvSpPr>
        <p:spPr>
          <a:xfrm>
            <a:off x="777240" y="4389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states and union territories</a:t>
            </a:r>
            <a:endParaRPr lang="en-US" sz="1200" dirty="0"/>
          </a:p>
        </p:txBody>
      </p:sp>
      <p:sp>
        <p:nvSpPr>
          <p:cNvPr id="8" name="Text"/>
          <p:cNvSpPr txBox="1"/>
          <p:nvPr/>
        </p:nvSpPr>
        <p:spPr>
          <a:xfrm>
            <a:off x="2880360" y="3657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726</a:t>
            </a:r>
            <a:endParaRPr lang="en-US" sz="4400" dirty="0"/>
          </a:p>
        </p:txBody>
      </p:sp>
      <p:sp>
        <p:nvSpPr>
          <p:cNvPr id="9" name="Text"/>
          <p:cNvSpPr txBox="1"/>
          <p:nvPr/>
        </p:nvSpPr>
        <p:spPr>
          <a:xfrm>
            <a:off x="2880360" y="4389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districts, one circle each</a:t>
            </a:r>
            <a:endParaRPr lang="en-US" sz="1200" dirty="0"/>
          </a:p>
        </p:txBody>
      </p:sp>
      <p:sp>
        <p:nvSpPr>
          <p:cNvPr id="10" name="Image panel"/>
          <p:cNvSpPr/>
          <p:nvPr/>
        </p:nvSpPr>
        <p:spPr>
          <a:xfrm>
            <a:off x="5262866" y="1508760"/>
            <a:ext cx="6331726" cy="4937760"/>
          </a:xfrm>
          <a:prstGeom prst="roundRect">
            <a:avLst>
              <a:gd name="adj" fmla="val 4630"/>
            </a:avLst>
          </a:prstGeom>
          <a:solidFill>
            <a:schemeClr val="accent3"/>
          </a:solidFill>
          <a:ln/>
        </p:spPr>
      </p:sp>
      <p:pic>
        <p:nvPicPr>
          <p:cNvPr id="11" name="India map" descr="India map with one circle per district; deeper shade means more registr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5746" y="1691640"/>
            <a:ext cx="3737693" cy="4572000"/>
          </a:xfrm>
          <a:prstGeom prst="rect">
            <a:avLst/>
          </a:prstGeom>
        </p:spPr>
      </p:pic>
      <p:pic>
        <p:nvPicPr>
          <p:cNvPr id="12" name="Top states and live feed" descr="Top states ranking and live fe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039" y="1691640"/>
            <a:ext cx="1999673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152144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Warranty"/>
          <p:cNvSpPr txBox="1"/>
          <p:nvPr/>
        </p:nvSpPr>
        <p:spPr>
          <a:xfrm>
            <a:off x="777240" y="50292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WARRANTY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Warranty status across every vehicle</a:t>
            </a:r>
            <a:endParaRPr lang="en-US" sz="3000" dirty="0"/>
          </a:p>
        </p:txBody>
      </p:sp>
      <p:sp>
        <p:nvSpPr>
          <p:cNvPr id="5" name="Text"/>
          <p:cNvSpPr txBox="1"/>
          <p:nvPr/>
        </p:nvSpPr>
        <p:spPr>
          <a:xfrm>
            <a:off x="777240" y="192024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register lists each bike with motor, controller and battery status. Filter by active, expiring soon or expired, or search by serial number.</a:t>
            </a:r>
            <a:endParaRPr lang="en-US" sz="1500" dirty="0"/>
          </a:p>
        </p:txBody>
      </p:sp>
      <p:sp>
        <p:nvSpPr>
          <p:cNvPr id="6" name="Text"/>
          <p:cNvSpPr txBox="1"/>
          <p:nvPr/>
        </p:nvSpPr>
        <p:spPr>
          <a:xfrm>
            <a:off x="777240" y="3840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VEHICLES IN THE SAMPLE REGISTER</a:t>
            </a:r>
            <a:endParaRPr lang="en-US" sz="1000" dirty="0"/>
          </a:p>
        </p:txBody>
      </p:sp>
      <p:sp>
        <p:nvSpPr>
          <p:cNvPr id="7" name="Text"/>
          <p:cNvSpPr txBox="1"/>
          <p:nvPr/>
        </p:nvSpPr>
        <p:spPr>
          <a:xfrm>
            <a:off x="777240" y="4114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540</a:t>
            </a:r>
            <a:endParaRPr lang="en-US" sz="4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852160" y="1554480"/>
          <a:ext cx="32918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Legend dot Active"/>
          <p:cNvSpPr/>
          <p:nvPr/>
        </p:nvSpPr>
        <p:spPr>
          <a:xfrm>
            <a:off x="9418320" y="2176272"/>
            <a:ext cx="201168" cy="201168"/>
          </a:xfrm>
          <a:prstGeom prst="ellipse">
            <a:avLst/>
          </a:prstGeom>
          <a:solidFill>
            <a:srgbClr val="0E3D3A"/>
          </a:solidFill>
          <a:ln w="6350">
            <a:solidFill>
              <a:srgbClr val="0E3D3A"/>
            </a:solidFill>
            <a:prstDash val="solid"/>
          </a:ln>
        </p:spPr>
      </p:sp>
      <p:sp>
        <p:nvSpPr>
          <p:cNvPr id="10" name="Text"/>
          <p:cNvSpPr txBox="1"/>
          <p:nvPr/>
        </p:nvSpPr>
        <p:spPr>
          <a:xfrm>
            <a:off x="973836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Active</a:t>
            </a:r>
            <a:endParaRPr lang="en-US" sz="1300" dirty="0"/>
          </a:p>
        </p:txBody>
      </p:sp>
      <p:sp>
        <p:nvSpPr>
          <p:cNvPr id="11" name="Text"/>
          <p:cNvSpPr txBox="1"/>
          <p:nvPr/>
        </p:nvSpPr>
        <p:spPr>
          <a:xfrm>
            <a:off x="9738360" y="2359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485</a:t>
            </a:r>
            <a:endParaRPr lang="en-US" sz="2400" dirty="0"/>
          </a:p>
        </p:txBody>
      </p:sp>
      <p:sp>
        <p:nvSpPr>
          <p:cNvPr id="12" name="Legend dot Expiring soon"/>
          <p:cNvSpPr/>
          <p:nvPr/>
        </p:nvSpPr>
        <p:spPr>
          <a:xfrm>
            <a:off x="9418320" y="3090672"/>
            <a:ext cx="201168" cy="201168"/>
          </a:xfrm>
          <a:prstGeom prst="ellipse">
            <a:avLst/>
          </a:prstGeom>
          <a:solidFill>
            <a:srgbClr val="8BE07F"/>
          </a:solidFill>
          <a:ln w="6350">
            <a:solidFill>
              <a:srgbClr val="0E3D3A"/>
            </a:solidFill>
            <a:prstDash val="solid"/>
          </a:ln>
        </p:spPr>
      </p:sp>
      <p:sp>
        <p:nvSpPr>
          <p:cNvPr id="13" name="Text"/>
          <p:cNvSpPr txBox="1"/>
          <p:nvPr/>
        </p:nvSpPr>
        <p:spPr>
          <a:xfrm>
            <a:off x="973836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Expiring soon</a:t>
            </a:r>
            <a:endParaRPr lang="en-US" sz="1300" dirty="0"/>
          </a:p>
        </p:txBody>
      </p:sp>
      <p:sp>
        <p:nvSpPr>
          <p:cNvPr id="14" name="Text"/>
          <p:cNvSpPr txBox="1"/>
          <p:nvPr/>
        </p:nvSpPr>
        <p:spPr>
          <a:xfrm>
            <a:off x="9738360" y="32735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38</a:t>
            </a:r>
            <a:endParaRPr lang="en-US" sz="2400" dirty="0"/>
          </a:p>
        </p:txBody>
      </p:sp>
      <p:sp>
        <p:nvSpPr>
          <p:cNvPr id="15" name="Legend dot Expired"/>
          <p:cNvSpPr/>
          <p:nvPr/>
        </p:nvSpPr>
        <p:spPr>
          <a:xfrm>
            <a:off x="9418320" y="4005072"/>
            <a:ext cx="201168" cy="201168"/>
          </a:xfrm>
          <a:prstGeom prst="ellipse">
            <a:avLst/>
          </a:prstGeom>
          <a:solidFill>
            <a:srgbClr val="DAF5D3"/>
          </a:solidFill>
          <a:ln w="6350">
            <a:solidFill>
              <a:srgbClr val="0E3D3A"/>
            </a:solidFill>
            <a:prstDash val="solid"/>
          </a:ln>
        </p:spPr>
      </p:sp>
      <p:sp>
        <p:nvSpPr>
          <p:cNvPr id="16" name="Text"/>
          <p:cNvSpPr txBox="1"/>
          <p:nvPr/>
        </p:nvSpPr>
        <p:spPr>
          <a:xfrm>
            <a:off x="973836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Expired</a:t>
            </a:r>
            <a:endParaRPr lang="en-US" sz="1300" dirty="0"/>
          </a:p>
        </p:txBody>
      </p:sp>
      <p:sp>
        <p:nvSpPr>
          <p:cNvPr id="17" name="Text"/>
          <p:cNvSpPr txBox="1"/>
          <p:nvPr/>
        </p:nvSpPr>
        <p:spPr>
          <a:xfrm>
            <a:off x="9738360" y="4187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17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648706" y="502920"/>
            <a:ext cx="8915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Parts"/>
          <p:cNvSpPr txBox="1"/>
          <p:nvPr/>
        </p:nvSpPr>
        <p:spPr>
          <a:xfrm>
            <a:off x="5648706" y="502920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PARTS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Three parts, each with its own warranty</a:t>
            </a:r>
            <a:endParaRPr lang="en-US" sz="3000" dirty="0"/>
          </a:p>
        </p:txBody>
      </p:sp>
      <p:sp>
        <p:nvSpPr>
          <p:cNvPr id="5" name="Part card Motor"/>
          <p:cNvSpPr/>
          <p:nvPr/>
        </p:nvSpPr>
        <p:spPr>
          <a:xfrm>
            <a:off x="1088136" y="1965960"/>
            <a:ext cx="3154680" cy="3566160"/>
          </a:xfrm>
          <a:prstGeom prst="roundRect">
            <a:avLst>
              <a:gd name="adj" fmla="val 6377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6" name="Text"/>
          <p:cNvSpPr txBox="1"/>
          <p:nvPr/>
        </p:nvSpPr>
        <p:spPr>
          <a:xfrm>
            <a:off x="1088136" y="2286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MOTOR</a:t>
            </a:r>
            <a:endParaRPr lang="en-US" sz="1100" dirty="0"/>
          </a:p>
        </p:txBody>
      </p:sp>
      <p:sp>
        <p:nvSpPr>
          <p:cNvPr id="7" name="Term pill Motor"/>
          <p:cNvSpPr/>
          <p:nvPr/>
        </p:nvSpPr>
        <p:spPr>
          <a:xfrm>
            <a:off x="1499616" y="2697480"/>
            <a:ext cx="2331720" cy="7315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8" name="Text"/>
          <p:cNvSpPr txBox="1"/>
          <p:nvPr/>
        </p:nvSpPr>
        <p:spPr>
          <a:xfrm>
            <a:off x="1499616" y="26974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24-36 months</a:t>
            </a:r>
            <a:endParaRPr lang="en-US" sz="2200" dirty="0"/>
          </a:p>
        </p:txBody>
      </p:sp>
      <p:sp>
        <p:nvSpPr>
          <p:cNvPr id="9" name="Text"/>
          <p:cNvSpPr txBox="1"/>
          <p:nvPr/>
        </p:nvSpPr>
        <p:spPr>
          <a:xfrm>
            <a:off x="1362456" y="3749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Tracked by motor number</a:t>
            </a:r>
            <a:endParaRPr lang="en-US" sz="1400" dirty="0"/>
          </a:p>
        </p:txBody>
      </p:sp>
      <p:sp>
        <p:nvSpPr>
          <p:cNvPr id="10" name="Text"/>
          <p:cNvSpPr txBox="1"/>
          <p:nvPr/>
        </p:nvSpPr>
        <p:spPr>
          <a:xfrm>
            <a:off x="1362456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MTR-250-8695278</a:t>
            </a:r>
            <a:endParaRPr lang="en-US" sz="1300" dirty="0"/>
          </a:p>
        </p:txBody>
      </p:sp>
      <p:sp>
        <p:nvSpPr>
          <p:cNvPr id="11" name="Text"/>
          <p:cNvSpPr txBox="1"/>
          <p:nvPr/>
        </p:nvSpPr>
        <p:spPr>
          <a:xfrm>
            <a:off x="1362456" y="4663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replacement starts a new warranty</a:t>
            </a:r>
            <a:endParaRPr lang="en-US" sz="1300" dirty="0"/>
          </a:p>
        </p:txBody>
      </p:sp>
      <p:sp>
        <p:nvSpPr>
          <p:cNvPr id="12" name="Part card Controller"/>
          <p:cNvSpPr/>
          <p:nvPr/>
        </p:nvSpPr>
        <p:spPr>
          <a:xfrm>
            <a:off x="4517136" y="1783080"/>
            <a:ext cx="3154680" cy="3931920"/>
          </a:xfrm>
          <a:prstGeom prst="roundRect">
            <a:avLst>
              <a:gd name="adj" fmla="val 6377"/>
            </a:avLst>
          </a:prstGeom>
          <a:solidFill>
            <a:schemeClr val="tx2"/>
          </a:solidFill>
          <a:ln/>
        </p:spPr>
      </p:sp>
      <p:sp>
        <p:nvSpPr>
          <p:cNvPr id="13" name="Text"/>
          <p:cNvSpPr txBox="1"/>
          <p:nvPr/>
        </p:nvSpPr>
        <p:spPr>
          <a:xfrm>
            <a:off x="4517136" y="2103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14" name="Term pill Controller"/>
          <p:cNvSpPr/>
          <p:nvPr/>
        </p:nvSpPr>
        <p:spPr>
          <a:xfrm>
            <a:off x="4928616" y="2514600"/>
            <a:ext cx="2331720" cy="7315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5" name="Text"/>
          <p:cNvSpPr txBox="1"/>
          <p:nvPr/>
        </p:nvSpPr>
        <p:spPr>
          <a:xfrm>
            <a:off x="4928616" y="25146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24 months</a:t>
            </a:r>
            <a:endParaRPr lang="en-US" sz="2200" dirty="0"/>
          </a:p>
        </p:txBody>
      </p:sp>
      <p:sp>
        <p:nvSpPr>
          <p:cNvPr id="16" name="Text"/>
          <p:cNvSpPr txBox="1"/>
          <p:nvPr/>
        </p:nvSpPr>
        <p:spPr>
          <a:xfrm>
            <a:off x="4791456" y="3566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Tracked by controller serial</a:t>
            </a:r>
            <a:endParaRPr lang="en-US" sz="1400" dirty="0"/>
          </a:p>
        </p:txBody>
      </p:sp>
      <p:sp>
        <p:nvSpPr>
          <p:cNvPr id="17" name="Text"/>
          <p:cNvSpPr txBox="1"/>
          <p:nvPr/>
        </p:nvSpPr>
        <p:spPr>
          <a:xfrm>
            <a:off x="4791456" y="3977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CTL-48V-725741</a:t>
            </a:r>
            <a:endParaRPr lang="en-US" sz="1300" dirty="0"/>
          </a:p>
        </p:txBody>
      </p:sp>
      <p:sp>
        <p:nvSpPr>
          <p:cNvPr id="18" name="Text"/>
          <p:cNvSpPr txBox="1"/>
          <p:nvPr/>
        </p:nvSpPr>
        <p:spPr>
          <a:xfrm>
            <a:off x="4791456" y="4480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replacement starts a new warranty</a:t>
            </a:r>
            <a:endParaRPr lang="en-US" sz="1300" dirty="0"/>
          </a:p>
        </p:txBody>
      </p:sp>
      <p:sp>
        <p:nvSpPr>
          <p:cNvPr id="19" name="Part card Battery"/>
          <p:cNvSpPr/>
          <p:nvPr/>
        </p:nvSpPr>
        <p:spPr>
          <a:xfrm>
            <a:off x="7946136" y="1965960"/>
            <a:ext cx="3154680" cy="3566160"/>
          </a:xfrm>
          <a:prstGeom prst="roundRect">
            <a:avLst>
              <a:gd name="adj" fmla="val 6377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0" name="Text"/>
          <p:cNvSpPr txBox="1"/>
          <p:nvPr/>
        </p:nvSpPr>
        <p:spPr>
          <a:xfrm>
            <a:off x="7946136" y="2286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BATTERY</a:t>
            </a:r>
            <a:endParaRPr lang="en-US" sz="1100" dirty="0"/>
          </a:p>
        </p:txBody>
      </p:sp>
      <p:sp>
        <p:nvSpPr>
          <p:cNvPr id="21" name="Term pill Battery"/>
          <p:cNvSpPr/>
          <p:nvPr/>
        </p:nvSpPr>
        <p:spPr>
          <a:xfrm>
            <a:off x="8357616" y="2697480"/>
            <a:ext cx="2331720" cy="7315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2" name="Text"/>
          <p:cNvSpPr txBox="1"/>
          <p:nvPr/>
        </p:nvSpPr>
        <p:spPr>
          <a:xfrm>
            <a:off x="8357616" y="26974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18-30 months</a:t>
            </a:r>
            <a:endParaRPr lang="en-US" sz="2200" dirty="0"/>
          </a:p>
        </p:txBody>
      </p:sp>
      <p:sp>
        <p:nvSpPr>
          <p:cNvPr id="23" name="Text"/>
          <p:cNvSpPr txBox="1"/>
          <p:nvPr/>
        </p:nvSpPr>
        <p:spPr>
          <a:xfrm>
            <a:off x="8220456" y="3749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Tracked by battery serial</a:t>
            </a:r>
            <a:endParaRPr lang="en-US" sz="1400" dirty="0"/>
          </a:p>
        </p:txBody>
      </p:sp>
      <p:sp>
        <p:nvSpPr>
          <p:cNvPr id="24" name="Text"/>
          <p:cNvSpPr txBox="1"/>
          <p:nvPr/>
        </p:nvSpPr>
        <p:spPr>
          <a:xfrm>
            <a:off x="8220456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BAT-48V20-7257410</a:t>
            </a:r>
            <a:endParaRPr lang="en-US" sz="1300" dirty="0"/>
          </a:p>
        </p:txBody>
      </p:sp>
      <p:sp>
        <p:nvSpPr>
          <p:cNvPr id="25" name="Text"/>
          <p:cNvSpPr txBox="1"/>
          <p:nvPr/>
        </p:nvSpPr>
        <p:spPr>
          <a:xfrm>
            <a:off x="8220456" y="4663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replacement starts a new warranty</a:t>
            </a:r>
            <a:endParaRPr lang="en-US" sz="1300" dirty="0"/>
          </a:p>
        </p:txBody>
      </p:sp>
      <p:sp>
        <p:nvSpPr>
          <p:cNvPr id="26" name="Text"/>
          <p:cNvSpPr txBox="1"/>
          <p:nvPr/>
        </p:nvSpPr>
        <p:spPr>
          <a:xfrm>
            <a:off x="777240" y="5897880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Terms vary by model. Shown from the demo's model list.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344668" y="502920"/>
            <a:ext cx="149961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On the phone"/>
          <p:cNvSpPr txBox="1"/>
          <p:nvPr/>
        </p:nvSpPr>
        <p:spPr>
          <a:xfrm>
            <a:off x="5344668" y="5029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 THE PHONE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 for the shop counter and the owner's pocket</a:t>
            </a:r>
            <a:endParaRPr lang="en-US" sz="3000" dirty="0"/>
          </a:p>
        </p:txBody>
      </p:sp>
      <p:sp>
        <p:nvSpPr>
          <p:cNvPr id="5" name="Header Dealers"/>
          <p:cNvSpPr/>
          <p:nvPr/>
        </p:nvSpPr>
        <p:spPr>
          <a:xfrm>
            <a:off x="745236" y="1783080"/>
            <a:ext cx="5212080" cy="411480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  <p:sp>
        <p:nvSpPr>
          <p:cNvPr id="6" name="Text"/>
          <p:cNvSpPr txBox="1"/>
          <p:nvPr/>
        </p:nvSpPr>
        <p:spPr>
          <a:xfrm>
            <a:off x="745236" y="1783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Dealers</a:t>
            </a:r>
            <a:endParaRPr lang="en-US" sz="1400" dirty="0"/>
          </a:p>
        </p:txBody>
      </p:sp>
      <p:sp>
        <p:nvSpPr>
          <p:cNvPr id="7" name="Dealers: Register in one form frame"/>
          <p:cNvSpPr/>
          <p:nvPr/>
        </p:nvSpPr>
        <p:spPr>
          <a:xfrm>
            <a:off x="1231417" y="2377440"/>
            <a:ext cx="1633677" cy="3429000"/>
          </a:xfrm>
          <a:prstGeom prst="roundRect">
            <a:avLst>
              <a:gd name="adj" fmla="val 12314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8" name="Dealers: Register in one form" descr="Dealers: Register in one 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7137" y="2423160"/>
            <a:ext cx="1542237" cy="333756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859536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Register in one form</a:t>
            </a:r>
            <a:endParaRPr lang="en-US" sz="1200" dirty="0"/>
          </a:p>
        </p:txBody>
      </p:sp>
      <p:sp>
        <p:nvSpPr>
          <p:cNvPr id="10" name="Dealers: Scan the plate QR frame"/>
          <p:cNvSpPr/>
          <p:nvPr/>
        </p:nvSpPr>
        <p:spPr>
          <a:xfrm>
            <a:off x="3837457" y="2377440"/>
            <a:ext cx="1633677" cy="3429000"/>
          </a:xfrm>
          <a:prstGeom prst="roundRect">
            <a:avLst>
              <a:gd name="adj" fmla="val 12314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11" name="Dealers: Scan the plate QR" descr="Dealers: Scan the plate Q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177" y="2423160"/>
            <a:ext cx="1542237" cy="3337560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3465576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Scan the plate QR</a:t>
            </a:r>
            <a:endParaRPr lang="en-US" sz="1200" dirty="0"/>
          </a:p>
        </p:txBody>
      </p:sp>
      <p:sp>
        <p:nvSpPr>
          <p:cNvPr id="13" name="Header Vehicle owners"/>
          <p:cNvSpPr/>
          <p:nvPr/>
        </p:nvSpPr>
        <p:spPr>
          <a:xfrm>
            <a:off x="6231636" y="1783080"/>
            <a:ext cx="5212080" cy="411480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  <p:sp>
        <p:nvSpPr>
          <p:cNvPr id="14" name="Text"/>
          <p:cNvSpPr txBox="1"/>
          <p:nvPr/>
        </p:nvSpPr>
        <p:spPr>
          <a:xfrm>
            <a:off x="6231636" y="1783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Vehicle owners</a:t>
            </a:r>
            <a:endParaRPr lang="en-US" sz="1400" dirty="0"/>
          </a:p>
        </p:txBody>
      </p:sp>
      <p:sp>
        <p:nvSpPr>
          <p:cNvPr id="15" name="Vehicle owners: Registration and QR frame"/>
          <p:cNvSpPr/>
          <p:nvPr/>
        </p:nvSpPr>
        <p:spPr>
          <a:xfrm>
            <a:off x="6717817" y="2377440"/>
            <a:ext cx="1633677" cy="3429000"/>
          </a:xfrm>
          <a:prstGeom prst="roundRect">
            <a:avLst>
              <a:gd name="adj" fmla="val 12314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16" name="Vehicle owners: Registration and QR" descr="Vehicle owners: Registration and Q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537" y="2423160"/>
            <a:ext cx="1542237" cy="3337560"/>
          </a:xfrm>
          <a:prstGeom prst="rect">
            <a:avLst/>
          </a:prstGeom>
        </p:spPr>
      </p:pic>
      <p:sp>
        <p:nvSpPr>
          <p:cNvPr id="17" name="Text"/>
          <p:cNvSpPr txBox="1"/>
          <p:nvPr/>
        </p:nvSpPr>
        <p:spPr>
          <a:xfrm>
            <a:off x="6345936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Registration and QR</a:t>
            </a:r>
            <a:endParaRPr lang="en-US" sz="1200" dirty="0"/>
          </a:p>
        </p:txBody>
      </p:sp>
      <p:sp>
        <p:nvSpPr>
          <p:cNvPr id="18" name="Vehicle owners: Warranty per part frame"/>
          <p:cNvSpPr/>
          <p:nvPr/>
        </p:nvSpPr>
        <p:spPr>
          <a:xfrm>
            <a:off x="9323857" y="2377440"/>
            <a:ext cx="1633677" cy="3429000"/>
          </a:xfrm>
          <a:prstGeom prst="roundRect">
            <a:avLst>
              <a:gd name="adj" fmla="val 12314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19" name="Vehicle owners: Warranty per part" descr="Vehicle owners: Warranty per pa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9577" y="2423160"/>
            <a:ext cx="1542237" cy="3337560"/>
          </a:xfrm>
          <a:prstGeom prst="rect">
            <a:avLst/>
          </a:prstGeom>
        </p:spPr>
      </p:pic>
      <p:sp>
        <p:nvSpPr>
          <p:cNvPr id="20" name="Text"/>
          <p:cNvSpPr txBox="1"/>
          <p:nvPr/>
        </p:nvSpPr>
        <p:spPr>
          <a:xfrm>
            <a:off x="8951976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Warranty per part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84708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Before and after"/>
          <p:cNvSpPr txBox="1"/>
          <p:nvPr/>
        </p:nvSpPr>
        <p:spPr>
          <a:xfrm>
            <a:off x="777240" y="5029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BEFORE AND AFTER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From scattered paper to one registry</a:t>
            </a:r>
            <a:endParaRPr lang="en-US" sz="3000" dirty="0"/>
          </a:p>
        </p:txBody>
      </p:sp>
      <p:sp>
        <p:nvSpPr>
          <p:cNvPr id="5" name="Text"/>
          <p:cNvSpPr txBox="1"/>
          <p:nvPr/>
        </p:nvSpPr>
        <p:spPr>
          <a:xfrm>
            <a:off x="777240" y="19202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changes for a small e-bike once it has a plate that opens a record.</a:t>
            </a:r>
            <a:endParaRPr lang="en-US" sz="1500" dirty="0"/>
          </a:p>
        </p:txBody>
      </p:sp>
      <p:graphicFrame>
        <p:nvGraphicFramePr>
          <p:cNvPr id="11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783080"/>
          <a:ext cx="63093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463040"/>
                <a:gridCol w="14630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3D3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Feature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3D3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Paper and memory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3D3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EV Pehchaan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5D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Central record of every bike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No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Yes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Warranty visible to the owner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No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Yes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Part replacement history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No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Yes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Live area-wise numbers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No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Yes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Plate that opens the record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No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Yes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</a:tbl>
          </a:graphicData>
        </a:graphic>
      </p:graphicFrame>
      <p:sp>
        <p:nvSpPr>
          <p:cNvPr id="7" name="Callout"/>
          <p:cNvSpPr/>
          <p:nvPr/>
        </p:nvSpPr>
        <p:spPr>
          <a:xfrm>
            <a:off x="5120640" y="5486400"/>
            <a:ext cx="6309360" cy="54864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8" name="Text"/>
          <p:cNvSpPr txBox="1"/>
          <p:nvPr/>
        </p:nvSpPr>
        <p:spPr>
          <a:xfrm>
            <a:off x="5120640" y="54864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record that company, dealer and owner can all read.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561838" y="502920"/>
            <a:ext cx="106527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Roadmap"/>
          <p:cNvSpPr txBox="1"/>
          <p:nvPr/>
        </p:nvSpPr>
        <p:spPr>
          <a:xfrm>
            <a:off x="5561838" y="502920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is built, and what comes next</a:t>
            </a:r>
            <a:endParaRPr lang="en-US" sz="3000" dirty="0"/>
          </a:p>
        </p:txBody>
      </p:sp>
      <p:sp>
        <p:nvSpPr>
          <p:cNvPr id="5" name="Timeline line"/>
          <p:cNvSpPr/>
          <p:nvPr/>
        </p:nvSpPr>
        <p:spPr>
          <a:xfrm>
            <a:off x="1663446" y="3291840"/>
            <a:ext cx="886206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Text"/>
          <p:cNvSpPr txBox="1"/>
          <p:nvPr/>
        </p:nvSpPr>
        <p:spPr>
          <a:xfrm>
            <a:off x="777240" y="2240280"/>
            <a:ext cx="1772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1000" dirty="0"/>
          </a:p>
        </p:txBody>
      </p:sp>
      <p:sp>
        <p:nvSpPr>
          <p:cNvPr id="7" name="Node 1"/>
          <p:cNvSpPr/>
          <p:nvPr/>
        </p:nvSpPr>
        <p:spPr>
          <a:xfrm>
            <a:off x="1389126" y="301752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8" name="Done 1" descr="Don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142" y="3145536"/>
            <a:ext cx="292608" cy="292608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850392" y="3840480"/>
            <a:ext cx="1626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Demo UI</a:t>
            </a:r>
            <a:endParaRPr lang="en-US" sz="1400" dirty="0"/>
          </a:p>
        </p:txBody>
      </p:sp>
      <p:sp>
        <p:nvSpPr>
          <p:cNvPr id="10" name="Text"/>
          <p:cNvSpPr txBox="1"/>
          <p:nvPr/>
        </p:nvSpPr>
        <p:spPr>
          <a:xfrm>
            <a:off x="868680" y="4434840"/>
            <a:ext cx="15895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Three role views with sample data</a:t>
            </a:r>
            <a:endParaRPr lang="en-US" sz="1200" dirty="0"/>
          </a:p>
        </p:txBody>
      </p:sp>
      <p:sp>
        <p:nvSpPr>
          <p:cNvPr id="11" name="Text"/>
          <p:cNvSpPr txBox="1"/>
          <p:nvPr/>
        </p:nvSpPr>
        <p:spPr>
          <a:xfrm>
            <a:off x="2549652" y="2240280"/>
            <a:ext cx="1772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1000" dirty="0"/>
          </a:p>
        </p:txBody>
      </p:sp>
      <p:sp>
        <p:nvSpPr>
          <p:cNvPr id="12" name="Node 2"/>
          <p:cNvSpPr/>
          <p:nvPr/>
        </p:nvSpPr>
        <p:spPr>
          <a:xfrm>
            <a:off x="3161538" y="301752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13" name="Done 2" descr="Don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554" y="3145536"/>
            <a:ext cx="292608" cy="292608"/>
          </a:xfrm>
          <a:prstGeom prst="rect">
            <a:avLst/>
          </a:prstGeom>
        </p:spPr>
      </p:pic>
      <p:sp>
        <p:nvSpPr>
          <p:cNvPr id="14" name="Text"/>
          <p:cNvSpPr txBox="1"/>
          <p:nvPr/>
        </p:nvSpPr>
        <p:spPr>
          <a:xfrm>
            <a:off x="2622804" y="3840480"/>
            <a:ext cx="1626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 plate and scan</a:t>
            </a:r>
            <a:endParaRPr lang="en-US" sz="1400" dirty="0"/>
          </a:p>
        </p:txBody>
      </p:sp>
      <p:sp>
        <p:nvSpPr>
          <p:cNvPr id="15" name="Text"/>
          <p:cNvSpPr txBox="1"/>
          <p:nvPr/>
        </p:nvSpPr>
        <p:spPr>
          <a:xfrm>
            <a:off x="2641092" y="4434840"/>
            <a:ext cx="15895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Logo and QR on the plate, camera or photo scan</a:t>
            </a:r>
            <a:endParaRPr lang="en-US" sz="1200" dirty="0"/>
          </a:p>
        </p:txBody>
      </p:sp>
      <p:sp>
        <p:nvSpPr>
          <p:cNvPr id="16" name="Text"/>
          <p:cNvSpPr txBox="1"/>
          <p:nvPr/>
        </p:nvSpPr>
        <p:spPr>
          <a:xfrm>
            <a:off x="4322064" y="2240280"/>
            <a:ext cx="1772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PROPOSED</a:t>
            </a:r>
            <a:endParaRPr lang="en-US" sz="1000" dirty="0"/>
          </a:p>
        </p:txBody>
      </p:sp>
      <p:sp>
        <p:nvSpPr>
          <p:cNvPr id="17" name="Node 3"/>
          <p:cNvSpPr/>
          <p:nvPr/>
        </p:nvSpPr>
        <p:spPr>
          <a:xfrm>
            <a:off x="4933950" y="3017520"/>
            <a:ext cx="548640" cy="54864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493395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"/>
          <p:cNvSpPr txBox="1"/>
          <p:nvPr/>
        </p:nvSpPr>
        <p:spPr>
          <a:xfrm>
            <a:off x="4395216" y="3840480"/>
            <a:ext cx="1626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Backend</a:t>
            </a:r>
            <a:endParaRPr lang="en-US" sz="1400" dirty="0"/>
          </a:p>
        </p:txBody>
      </p:sp>
      <p:sp>
        <p:nvSpPr>
          <p:cNvPr id="20" name="Text"/>
          <p:cNvSpPr txBox="1"/>
          <p:nvPr/>
        </p:nvSpPr>
        <p:spPr>
          <a:xfrm>
            <a:off x="4413504" y="4434840"/>
            <a:ext cx="15895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Real database and API behind the screens</a:t>
            </a:r>
            <a:endParaRPr lang="en-US" sz="1200" dirty="0"/>
          </a:p>
        </p:txBody>
      </p:sp>
      <p:sp>
        <p:nvSpPr>
          <p:cNvPr id="21" name="Text"/>
          <p:cNvSpPr txBox="1"/>
          <p:nvPr/>
        </p:nvSpPr>
        <p:spPr>
          <a:xfrm>
            <a:off x="6094476" y="2240280"/>
            <a:ext cx="1772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PROPOSED</a:t>
            </a:r>
            <a:endParaRPr lang="en-US" sz="1000" dirty="0"/>
          </a:p>
        </p:txBody>
      </p:sp>
      <p:sp>
        <p:nvSpPr>
          <p:cNvPr id="22" name="Node 4"/>
          <p:cNvSpPr/>
          <p:nvPr/>
        </p:nvSpPr>
        <p:spPr>
          <a:xfrm>
            <a:off x="6706362" y="3017520"/>
            <a:ext cx="548640" cy="54864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3" name="Text"/>
          <p:cNvSpPr txBox="1"/>
          <p:nvPr/>
        </p:nvSpPr>
        <p:spPr>
          <a:xfrm>
            <a:off x="6706362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"/>
          <p:cNvSpPr txBox="1"/>
          <p:nvPr/>
        </p:nvSpPr>
        <p:spPr>
          <a:xfrm>
            <a:off x="6167628" y="3840480"/>
            <a:ext cx="1626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Sign-in</a:t>
            </a:r>
            <a:endParaRPr lang="en-US" sz="1400" dirty="0"/>
          </a:p>
        </p:txBody>
      </p:sp>
      <p:sp>
        <p:nvSpPr>
          <p:cNvPr id="25" name="Text"/>
          <p:cNvSpPr txBox="1"/>
          <p:nvPr/>
        </p:nvSpPr>
        <p:spPr>
          <a:xfrm>
            <a:off x="6185916" y="4434840"/>
            <a:ext cx="15895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Role login, with OTP for owners</a:t>
            </a:r>
            <a:endParaRPr lang="en-US" sz="1200" dirty="0"/>
          </a:p>
        </p:txBody>
      </p:sp>
      <p:sp>
        <p:nvSpPr>
          <p:cNvPr id="26" name="Text"/>
          <p:cNvSpPr txBox="1"/>
          <p:nvPr/>
        </p:nvSpPr>
        <p:spPr>
          <a:xfrm>
            <a:off x="7866888" y="2240280"/>
            <a:ext cx="1772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PROPOSED</a:t>
            </a:r>
            <a:endParaRPr lang="en-US" sz="1000" dirty="0"/>
          </a:p>
        </p:txBody>
      </p:sp>
      <p:sp>
        <p:nvSpPr>
          <p:cNvPr id="27" name="Node 5"/>
          <p:cNvSpPr/>
          <p:nvPr/>
        </p:nvSpPr>
        <p:spPr>
          <a:xfrm>
            <a:off x="8478774" y="3017520"/>
            <a:ext cx="548640" cy="54864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8" name="Text"/>
          <p:cNvSpPr txBox="1"/>
          <p:nvPr/>
        </p:nvSpPr>
        <p:spPr>
          <a:xfrm>
            <a:off x="8478774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"/>
          <p:cNvSpPr txBox="1"/>
          <p:nvPr/>
        </p:nvSpPr>
        <p:spPr>
          <a:xfrm>
            <a:off x="7940040" y="3840480"/>
            <a:ext cx="1626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 rollout</a:t>
            </a:r>
            <a:endParaRPr lang="en-US" sz="1400" dirty="0"/>
          </a:p>
        </p:txBody>
      </p:sp>
      <p:sp>
        <p:nvSpPr>
          <p:cNvPr id="30" name="Text"/>
          <p:cNvSpPr txBox="1"/>
          <p:nvPr/>
        </p:nvSpPr>
        <p:spPr>
          <a:xfrm>
            <a:off x="7958328" y="4434840"/>
            <a:ext cx="15895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Onboarding and bulk QR plate printing</a:t>
            </a:r>
            <a:endParaRPr lang="en-US" sz="1200" dirty="0"/>
          </a:p>
        </p:txBody>
      </p:sp>
      <p:sp>
        <p:nvSpPr>
          <p:cNvPr id="31" name="Text"/>
          <p:cNvSpPr txBox="1"/>
          <p:nvPr/>
        </p:nvSpPr>
        <p:spPr>
          <a:xfrm>
            <a:off x="9639300" y="2240280"/>
            <a:ext cx="1772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PROPOSED</a:t>
            </a:r>
            <a:endParaRPr lang="en-US" sz="1000" dirty="0"/>
          </a:p>
        </p:txBody>
      </p:sp>
      <p:sp>
        <p:nvSpPr>
          <p:cNvPr id="32" name="Node 6"/>
          <p:cNvSpPr/>
          <p:nvPr/>
        </p:nvSpPr>
        <p:spPr>
          <a:xfrm>
            <a:off x="10251186" y="3017520"/>
            <a:ext cx="548640" cy="54864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33" name="Text"/>
          <p:cNvSpPr txBox="1"/>
          <p:nvPr/>
        </p:nvSpPr>
        <p:spPr>
          <a:xfrm>
            <a:off x="10251186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"/>
          <p:cNvSpPr txBox="1"/>
          <p:nvPr/>
        </p:nvSpPr>
        <p:spPr>
          <a:xfrm>
            <a:off x="9712452" y="3840480"/>
            <a:ext cx="1626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Reminders and claims</a:t>
            </a:r>
            <a:endParaRPr lang="en-US" sz="1400" dirty="0"/>
          </a:p>
        </p:txBody>
      </p:sp>
      <p:sp>
        <p:nvSpPr>
          <p:cNvPr id="35" name="Text"/>
          <p:cNvSpPr txBox="1"/>
          <p:nvPr/>
        </p:nvSpPr>
        <p:spPr>
          <a:xfrm>
            <a:off x="9730740" y="4434840"/>
            <a:ext cx="15895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SMS or WhatsApp alerts, claim workflow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 panel" descr="Plate and scan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48640"/>
            <a:ext cx="4937760" cy="5760720"/>
          </a:xfrm>
          <a:prstGeom prst="rect">
            <a:avLst/>
          </a:prstGeom>
        </p:spPr>
      </p:pic>
      <p:sp>
        <p:nvSpPr>
          <p:cNvPr id="3" name="Tag pill"/>
          <p:cNvSpPr/>
          <p:nvPr/>
        </p:nvSpPr>
        <p:spPr>
          <a:xfrm>
            <a:off x="6309360" y="1097280"/>
            <a:ext cx="97840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ag: Try it"/>
          <p:cNvSpPr txBox="1"/>
          <p:nvPr/>
        </p:nvSpPr>
        <p:spPr>
          <a:xfrm>
            <a:off x="6309360" y="109728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TRY IT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309360" y="155448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QR plate.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registry.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 Pehchaan.</a:t>
            </a:r>
            <a:endParaRPr lang="en-US" sz="4000" dirty="0"/>
          </a:p>
        </p:txBody>
      </p:sp>
      <p:pic>
        <p:nvPicPr>
          <p:cNvPr id="6" name="Icon 1" descr="Icon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4178808"/>
            <a:ext cx="256032" cy="256032"/>
          </a:xfrm>
          <a:prstGeom prst="rect">
            <a:avLst/>
          </a:prstGeom>
        </p:spPr>
      </p:pic>
      <p:sp>
        <p:nvSpPr>
          <p:cNvPr id="7" name="Contact 1">
            <a:hlinkClick r:id="rId3" tooltip="Open the demo"/>
          </p:cNvPr>
          <p:cNvSpPr txBox="1"/>
          <p:nvPr/>
        </p:nvSpPr>
        <p:spPr>
          <a:xfrm>
            <a:off x="6720840" y="4160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  <a:hlinkClick r:id="rId3" invalidUrl="" action="" tgtFrame="" tooltip="Open the dem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demo: claude.ai/artifact/76eZmTT9gninNENMKdFitt</a:t>
            </a:r>
            <a:endParaRPr lang="en-US" sz="1300" dirty="0"/>
          </a:p>
        </p:txBody>
      </p:sp>
      <p:pic>
        <p:nvPicPr>
          <p:cNvPr id="8" name="Icon 2" descr="Icon 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636008"/>
            <a:ext cx="256032" cy="256032"/>
          </a:xfrm>
          <a:prstGeom prst="rect">
            <a:avLst/>
          </a:prstGeom>
        </p:spPr>
      </p:pic>
      <p:sp>
        <p:nvSpPr>
          <p:cNvPr id="9" name="Contact 2"/>
          <p:cNvSpPr txBox="1"/>
          <p:nvPr/>
        </p:nvSpPr>
        <p:spPr>
          <a:xfrm>
            <a:off x="6720840" y="46177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Code: ev-registry/ in the fans-app repo</a:t>
            </a:r>
            <a:endParaRPr lang="en-US" sz="1300" dirty="0"/>
          </a:p>
        </p:txBody>
      </p:sp>
      <p:pic>
        <p:nvPicPr>
          <p:cNvPr id="10" name="Icon 3" descr="Icon 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5093208"/>
            <a:ext cx="256032" cy="256032"/>
          </a:xfrm>
          <a:prstGeom prst="rect">
            <a:avLst/>
          </a:prstGeom>
        </p:spPr>
      </p:pic>
      <p:sp>
        <p:nvSpPr>
          <p:cNvPr id="11" name="Contact 3"/>
          <p:cNvSpPr txBox="1"/>
          <p:nvPr/>
        </p:nvSpPr>
        <p:spPr>
          <a:xfrm>
            <a:off x="6720840" y="5074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All data shown is sample data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 Pehchaan Mint">
  <a:themeElements>
    <a:clrScheme name="EV Pehchaan Mint">
      <a:dk1>
        <a:srgbClr val="0E3D3A"/>
      </a:dk1>
      <a:lt1>
        <a:srgbClr val="FFFFFF"/>
      </a:lt1>
      <a:dk2>
        <a:srgbClr val="0E3D3A"/>
      </a:dk2>
      <a:lt2>
        <a:srgbClr val="F2FBEE"/>
      </a:lt2>
      <a:accent1>
        <a:srgbClr val="8BE07F"/>
      </a:accent1>
      <a:accent2>
        <a:srgbClr val="2F9E57"/>
      </a:accent2>
      <a:accent3>
        <a:srgbClr val="DAF5D3"/>
      </a:accent3>
      <a:accent4>
        <a:srgbClr val="1F5C57"/>
      </a:accent4>
      <a:accent5>
        <a:srgbClr val="B7EEA9"/>
      </a:accent5>
      <a:accent6>
        <a:srgbClr val="5C7A76"/>
      </a:accent6>
      <a:hlink>
        <a:srgbClr val="2F9E57"/>
      </a:hlink>
      <a:folHlink>
        <a:srgbClr val="5C7A76"/>
      </a:folHlink>
    </a:clrScheme>
    <a:fontScheme name="EV Pehchaan Mint">
      <a:majorFont>
        <a:latin typeface="Outfi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utfi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Pehchaan</dc:title>
  <dc:subject>PptxGenJS Presentation</dc:subject>
  <dc:creator>EV Pehchaan</dc:creator>
  <cp:lastModifiedBy>EV Pehchaan</cp:lastModifiedBy>
  <cp:revision>1</cp:revision>
  <dcterms:created xsi:type="dcterms:W3CDTF">2026-10-17T05:01:58Z</dcterms:created>
  <dcterms:modified xsi:type="dcterms:W3CDTF">2026-10-17T05:01:58Z</dcterms:modified>
</cp:coreProperties>
</file>