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7e610da-7265-d4e7-40f9-6bd3298ad096}">
          <p14:sldIdLst>
            <p14:sldId id="256"/>
            <p14:sldId id="257"/>
            <p14:sldId id="258"/>
            <p14:sldId id="259"/>
          </p14:sldIdLst>
        </p14:section>
        <p14:section name="Company" id="{c10a802c-92bc-8964-d635-7f410f381396}">
          <p14:sldIdLst>
            <p14:sldId id="260"/>
            <p14:sldId id="261"/>
            <p14:sldId id="262"/>
            <p14:sldId id="263"/>
          </p14:sldIdLst>
        </p14:section>
        <p14:section name="Dealer and owner" id="{29b0b6d9-70eb-14bb-88e1-d6dff660306c}">
          <p14:sldIdLst>
            <p14:sldId id="264"/>
          </p14:sldIdLst>
        </p14:section>
        <p14:section name="Next" id="{4ef265c4-041b-7122-3a9f-3f31c4b87c67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F5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EE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E0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B9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Uttar Pradesh</c:v>
                  </c:pt>
                  <c:pt idx="1">
                    <c:v>Gujarat</c:v>
                  </c:pt>
                  <c:pt idx="2">
                    <c:v>Maharashtra</c:v>
                  </c:pt>
                  <c:pt idx="3">
                    <c:v>Tamil Nadu</c:v>
                  </c:pt>
                  <c:pt idx="4">
                    <c:v>Madhya Pradesh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27528</c:v>
                </c:pt>
                <c:pt idx="1">
                  <c:v>15077</c:v>
                </c:pt>
                <c:pt idx="2">
                  <c:v>13260</c:v>
                </c:pt>
                <c:pt idx="3">
                  <c:v>11331</c:v>
                </c:pt>
                <c:pt idx="4">
                  <c:v>9336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AF5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Warranty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D3A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E07F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DAF5D3"/>
              </a:solidFill>
              <a:ln w="25400" cap="flat">
                <a:solidFill>
                  <a:srgbClr val="F2FBE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Expiring soon</c:v>
                </c:pt>
                <c:pt idx="2">
                  <c:v>Expired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485</c:v>
                </c:pt>
                <c:pt idx="1">
                  <c:v>38</c:v>
                </c:pt>
                <c:pt idx="2">
                  <c:v>17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syfr.live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plate is the link between the physical bike and its record. Scanning it opens registration, warranty per part and the parts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data. The five largest states in the demo registry; the full table lists every state and union territory with its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data: counts from the demo register. 'Expiring soon' means a part's warranty ends within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Warranty months come from the demo's four models: motors carry 24 or 36 months, controllers 24, batteries 18 to 30. Serial numbers shown are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Dealers register a bike and scan plates; owners see their registration, QR and warranty per part. The dealer app also logs part replacements.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qualitative comparison, not a measured one: it describes what the portal adds, not how any particular dealer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steps exist in the demo. The rest are proposals, not commitments; the backend unlocks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_CEN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fans-app/34dcd851-4012-5285-8b19-5836f8a3c053/scratchpad/deck/img/n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382512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M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76eZmTT9gninNENMKdFitt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syfr.liv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347472" cy="347472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1234440" y="548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2331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 for every non-RTO e-bike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77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Registration, warranty and parts history, from the factory to the dealer to the owner.</a:t>
            </a:r>
            <a:endParaRPr lang="en-US" sz="1600" dirty="0"/>
          </a:p>
        </p:txBody>
      </p:sp>
      <p:pic>
        <p:nvPicPr>
          <p:cNvPr id="6" name="Hero panel" descr="Owner phone screen with the number plate and QR 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02920"/>
            <a:ext cx="3200400" cy="5852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7724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000" dirty="0"/>
          </a:p>
        </p:txBody>
      </p:sp>
      <p:sp>
        <p:nvSpPr>
          <p:cNvPr id="8" name="Text"/>
          <p:cNvSpPr txBox="1"/>
          <p:nvPr/>
        </p:nvSpPr>
        <p:spPr>
          <a:xfrm>
            <a:off x="77724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Registry for small e-bikes</a:t>
            </a:r>
            <a:endParaRPr lang="en-US" sz="1300" dirty="0"/>
          </a:p>
        </p:txBody>
      </p:sp>
      <p:sp>
        <p:nvSpPr>
          <p:cNvPr id="9" name="Text"/>
          <p:cNvSpPr txBox="1"/>
          <p:nvPr/>
        </p:nvSpPr>
        <p:spPr>
          <a:xfrm>
            <a:off x="3703320" y="5669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3703320" y="5916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 only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gap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GAP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Non-RTO e-bikes leave no record behind</a:t>
            </a:r>
            <a:endParaRPr lang="en-US" sz="3000" dirty="0"/>
          </a:p>
        </p:txBody>
      </p:sp>
      <p:sp>
        <p:nvSpPr>
          <p:cNvPr id="5" name="Left tile"/>
          <p:cNvSpPr/>
          <p:nvPr/>
        </p:nvSpPr>
        <p:spPr>
          <a:xfrm>
            <a:off x="77724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6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40280"/>
            <a:ext cx="822960" cy="8229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central record</a:t>
            </a:r>
            <a:endParaRPr lang="en-US" sz="1900" dirty="0"/>
          </a:p>
        </p:txBody>
      </p:sp>
      <p:sp>
        <p:nvSpPr>
          <p:cNvPr id="8" name="Text"/>
          <p:cNvSpPr txBox="1"/>
          <p:nvPr/>
        </p:nvSpPr>
        <p:spPr>
          <a:xfrm>
            <a:off x="118872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say how many bikes are on the road, who owns them or where they were sold.</a:t>
            </a:r>
            <a:endParaRPr lang="en-US" sz="1400" dirty="0"/>
          </a:p>
        </p:txBody>
      </p:sp>
      <p:sp>
        <p:nvSpPr>
          <p:cNvPr id="9" name="Center card"/>
          <p:cNvSpPr/>
          <p:nvPr/>
        </p:nvSpPr>
        <p:spPr>
          <a:xfrm>
            <a:off x="4114800" y="1783080"/>
            <a:ext cx="4114800" cy="34290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pic>
        <p:nvPicPr>
          <p:cNvPr id="10" name="Icon: paper warranty" descr="Icon: pap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640080" cy="64008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539496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warranty</a:t>
            </a:r>
            <a:endParaRPr lang="en-US" sz="2200" dirty="0"/>
          </a:p>
        </p:txBody>
      </p:sp>
      <p:pic>
        <p:nvPicPr>
          <p:cNvPr id="12" name="Check 1" descr="Check 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91840"/>
            <a:ext cx="274320" cy="274320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5029200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claim depends on a bill the owner may have lost</a:t>
            </a:r>
            <a:endParaRPr lang="en-US" sz="1400" dirty="0"/>
          </a:p>
        </p:txBody>
      </p:sp>
      <p:pic>
        <p:nvPicPr>
          <p:cNvPr id="14" name="Check 2" descr="Check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13632"/>
            <a:ext cx="274320" cy="274320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50292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rely on their memory of the sale</a:t>
            </a:r>
            <a:endParaRPr lang="en-US" sz="1400" dirty="0"/>
          </a:p>
        </p:txBody>
      </p:sp>
      <p:pic>
        <p:nvPicPr>
          <p:cNvPr id="16" name="Check 3" descr="Check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35424"/>
            <a:ext cx="274320" cy="27432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5029200" y="4507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check which part carries which warranty</a:t>
            </a:r>
            <a:endParaRPr lang="en-US" sz="1400" dirty="0"/>
          </a:p>
        </p:txBody>
      </p:sp>
      <p:sp>
        <p:nvSpPr>
          <p:cNvPr id="18" name="Right tile"/>
          <p:cNvSpPr/>
          <p:nvPr/>
        </p:nvSpPr>
        <p:spPr>
          <a:xfrm>
            <a:off x="8412480" y="1783080"/>
            <a:ext cx="3154680" cy="3429000"/>
          </a:xfrm>
          <a:prstGeom prst="roundRect">
            <a:avLst>
              <a:gd name="adj" fmla="val 5797"/>
            </a:avLst>
          </a:prstGeom>
          <a:solidFill>
            <a:schemeClr val="accent3"/>
          </a:solidFill>
          <a:ln/>
        </p:spPr>
      </p:sp>
      <p:pic>
        <p:nvPicPr>
          <p:cNvPr id="19" name="Icon: unseen part swaps" descr="Icon: unseen part swap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240280"/>
            <a:ext cx="822960" cy="8229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823960" y="3429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Unseen part swaps</a:t>
            </a:r>
            <a:endParaRPr lang="en-US" sz="1900" dirty="0"/>
          </a:p>
        </p:txBody>
      </p:sp>
      <p:sp>
        <p:nvSpPr>
          <p:cNvPr id="21" name="Text"/>
          <p:cNvSpPr txBox="1"/>
          <p:nvPr/>
        </p:nvSpPr>
        <p:spPr>
          <a:xfrm>
            <a:off x="8823960" y="3886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motor, controller or battery is fitted and what was replaced, and when, is lost.</a:t>
            </a:r>
            <a:endParaRPr lang="en-US" sz="1400" dirty="0"/>
          </a:p>
        </p:txBody>
      </p:sp>
      <p:sp>
        <p:nvSpPr>
          <p:cNvPr id="22" name="Text"/>
          <p:cNvSpPr txBox="1"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 gives each bike a QR plate and 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The solution"/>
          <p:cNvSpPr txBox="1"/>
          <p:nvPr/>
        </p:nvSpPr>
        <p:spPr>
          <a:xfrm>
            <a:off x="777240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 One record for everyone</a:t>
            </a:r>
            <a:endParaRPr lang="en-US" sz="3000" dirty="0"/>
          </a:p>
        </p:txBody>
      </p:sp>
      <p:pic>
        <p:nvPicPr>
          <p:cNvPr id="5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365760" cy="365760"/>
          </a:xfrm>
          <a:prstGeom prst="rect">
            <a:avLst/>
          </a:prstGeom>
        </p:spPr>
      </p:pic>
      <p:sp>
        <p:nvSpPr>
          <p:cNvPr id="6" name="Text"/>
          <p:cNvSpPr txBox="1"/>
          <p:nvPr/>
        </p:nvSpPr>
        <p:spPr>
          <a:xfrm>
            <a:off x="1371600" y="1965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dealer registers the bike before it is sold</a:t>
            </a:r>
            <a:endParaRPr lang="en-US" sz="1600" dirty="0"/>
          </a:p>
        </p:txBody>
      </p:sp>
      <p:pic>
        <p:nvPicPr>
          <p:cNvPr id="7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371600" y="30175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company logo and a QR code</a:t>
            </a:r>
            <a:endParaRPr lang="en-US" sz="1600" dirty="0"/>
          </a:p>
        </p:txBody>
      </p:sp>
      <p:pic>
        <p:nvPicPr>
          <p:cNvPr id="9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365760" cy="365760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371600" y="4069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Owner, dealer and company read the same record</a:t>
            </a:r>
            <a:endParaRPr lang="en-US" sz="1600" dirty="0"/>
          </a:p>
        </p:txBody>
      </p:sp>
      <p:pic>
        <p:nvPicPr>
          <p:cNvPr id="11" name="Plate tile" descr="Number plate with company logo and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2651760" cy="3108960"/>
          </a:xfrm>
          <a:prstGeom prst="rect">
            <a:avLst/>
          </a:prstGeom>
        </p:spPr>
      </p:pic>
      <p:pic>
        <p:nvPicPr>
          <p:cNvPr id="12" name="Phone tile" descr="Owner warranty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783080"/>
            <a:ext cx="2651760" cy="3108960"/>
          </a:xfrm>
          <a:prstGeom prst="rect">
            <a:avLst/>
          </a:prstGeom>
        </p:spPr>
      </p:pic>
      <p:sp>
        <p:nvSpPr>
          <p:cNvPr id="13" name="Callout"/>
          <p:cNvSpPr/>
          <p:nvPr/>
        </p:nvSpPr>
        <p:spPr>
          <a:xfrm>
            <a:off x="5989320" y="5120640"/>
            <a:ext cx="5486400" cy="548640"/>
          </a:xfrm>
          <a:prstGeom prst="roundRect">
            <a:avLst>
              <a:gd name="adj" fmla="val 33333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598932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plate, see the whole bike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ho it&amp;apos;s for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users, one registry</a:t>
            </a:r>
            <a:endParaRPr lang="en-US" sz="3000" dirty="0"/>
          </a:p>
        </p:txBody>
      </p:sp>
      <p:sp>
        <p:nvSpPr>
          <p:cNvPr id="5" name="User card Company"/>
          <p:cNvSpPr/>
          <p:nvPr/>
        </p:nvSpPr>
        <p:spPr>
          <a:xfrm>
            <a:off x="95097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6" name="Icon disc Company"/>
          <p:cNvSpPr/>
          <p:nvPr/>
        </p:nvSpPr>
        <p:spPr>
          <a:xfrm>
            <a:off x="220827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868" y="2450592"/>
            <a:ext cx="402336" cy="402336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22529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800" dirty="0"/>
          </a:p>
        </p:txBody>
      </p:sp>
      <p:sp>
        <p:nvSpPr>
          <p:cNvPr id="9" name="Text"/>
          <p:cNvSpPr txBox="1"/>
          <p:nvPr/>
        </p:nvSpPr>
        <p:spPr>
          <a:xfrm>
            <a:off x="127101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map, area report and every warranty on record. Desktop first.</a:t>
            </a:r>
            <a:endParaRPr lang="en-US" sz="1300" dirty="0"/>
          </a:p>
        </p:txBody>
      </p:sp>
      <p:sp>
        <p:nvSpPr>
          <p:cNvPr id="10" name="User card Dealer"/>
          <p:cNvSpPr/>
          <p:nvPr/>
        </p:nvSpPr>
        <p:spPr>
          <a:xfrm>
            <a:off x="447141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1" name="Icon disc Dealer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450592"/>
            <a:ext cx="402336" cy="402336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474573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479145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before selling, scan the plate, log part swaps. Phone and tablet.</a:t>
            </a:r>
            <a:endParaRPr lang="en-US" sz="1300" dirty="0"/>
          </a:p>
        </p:txBody>
      </p:sp>
      <p:sp>
        <p:nvSpPr>
          <p:cNvPr id="15" name="User card Vehicle owner"/>
          <p:cNvSpPr/>
          <p:nvPr/>
        </p:nvSpPr>
        <p:spPr>
          <a:xfrm>
            <a:off x="7991856" y="2011680"/>
            <a:ext cx="3246120" cy="265176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/>
        </p:spPr>
      </p:sp>
      <p:sp>
        <p:nvSpPr>
          <p:cNvPr id="16" name="Icon disc Vehicle owner"/>
          <p:cNvSpPr/>
          <p:nvPr/>
        </p:nvSpPr>
        <p:spPr>
          <a:xfrm>
            <a:off x="9249156" y="2286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: Vehicle owner" descr="Icon: Vehicle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8" y="2450592"/>
            <a:ext cx="402336" cy="402336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266176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</a:t>
            </a:r>
            <a:endParaRPr lang="en-US" sz="1800" dirty="0"/>
          </a:p>
        </p:txBody>
      </p:sp>
      <p:sp>
        <p:nvSpPr>
          <p:cNvPr id="19" name="Text"/>
          <p:cNvSpPr txBox="1"/>
          <p:nvPr/>
        </p:nvSpPr>
        <p:spPr>
          <a:xfrm>
            <a:off x="8311896" y="36118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period, warranty per part and parts history. On the phone.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777240" y="51206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control room, the shop counter and the owner's pocket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Registrations by state, as they happen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state and union territory, with its districts underneath. Totals move as dealers register bikes.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IN THE DEMO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206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1,48,000+</a:t>
            </a:r>
            <a:endParaRPr lang="en-US" sz="4400" dirty="0"/>
          </a:p>
        </p:txBody>
      </p:sp>
      <p:sp>
        <p:nvSpPr>
          <p:cNvPr id="8" name="Sample badge"/>
          <p:cNvSpPr/>
          <p:nvPr/>
        </p:nvSpPr>
        <p:spPr>
          <a:xfrm>
            <a:off x="777240" y="51206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9" name="Text"/>
          <p:cNvSpPr txBox="1"/>
          <p:nvPr/>
        </p:nvSpPr>
        <p:spPr>
          <a:xfrm>
            <a:off x="777240" y="5120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10" name="Text"/>
          <p:cNvSpPr txBox="1"/>
          <p:nvPr/>
        </p:nvSpPr>
        <p:spPr>
          <a:xfrm>
            <a:off x="58521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five states in the demo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760720" y="210312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Company"/>
          <p:cNvSpPr txBox="1"/>
          <p:nvPr/>
        </p:nvSpPr>
        <p:spPr>
          <a:xfrm>
            <a:off x="777240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COMPANY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district on one live map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circle per district. A deeper shade means more registrations. Click a state to zoom in, and watch new bikes pulse onto the map.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36</a:t>
            </a:r>
            <a:endParaRPr lang="en-US" sz="44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states and union territories</a:t>
            </a:r>
            <a:endParaRPr lang="en-US" sz="1200" dirty="0"/>
          </a:p>
        </p:txBody>
      </p:sp>
      <p:sp>
        <p:nvSpPr>
          <p:cNvPr id="8" name="Text"/>
          <p:cNvSpPr txBox="1"/>
          <p:nvPr/>
        </p:nvSpPr>
        <p:spPr>
          <a:xfrm>
            <a:off x="288036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726</a:t>
            </a:r>
            <a:endParaRPr lang="en-US" sz="4400" dirty="0"/>
          </a:p>
        </p:txBody>
      </p:sp>
      <p:sp>
        <p:nvSpPr>
          <p:cNvPr id="9" name="Text"/>
          <p:cNvSpPr txBox="1"/>
          <p:nvPr/>
        </p:nvSpPr>
        <p:spPr>
          <a:xfrm>
            <a:off x="288036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districts, one circle each</a:t>
            </a:r>
            <a:endParaRPr lang="en-US" sz="1200" dirty="0"/>
          </a:p>
        </p:txBody>
      </p:sp>
      <p:sp>
        <p:nvSpPr>
          <p:cNvPr id="10" name="Image panel"/>
          <p:cNvSpPr/>
          <p:nvPr/>
        </p:nvSpPr>
        <p:spPr>
          <a:xfrm>
            <a:off x="5262866" y="1508760"/>
            <a:ext cx="6331726" cy="4937760"/>
          </a:xfrm>
          <a:prstGeom prst="roundRect">
            <a:avLst>
              <a:gd name="adj" fmla="val 4630"/>
            </a:avLst>
          </a:prstGeom>
          <a:solidFill>
            <a:schemeClr val="accent3"/>
          </a:solidFill>
          <a:ln/>
        </p:spPr>
      </p:sp>
      <p:pic>
        <p:nvPicPr>
          <p:cNvPr id="11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746" y="1691640"/>
            <a:ext cx="3737693" cy="4572000"/>
          </a:xfrm>
          <a:prstGeom prst="rect">
            <a:avLst/>
          </a:prstGeom>
        </p:spPr>
      </p:pic>
      <p:pic>
        <p:nvPicPr>
          <p:cNvPr id="12" name="Top states and live feed" descr="Top states ranking and live fe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039" y="1691640"/>
            <a:ext cx="199967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15214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Warranty"/>
          <p:cNvSpPr txBox="1"/>
          <p:nvPr/>
        </p:nvSpPr>
        <p:spPr>
          <a:xfrm>
            <a:off x="777240" y="502920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status across every vehicle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register lists each bike with motor, controller and battery status. Filter by active, expiring soon or expired, or search by serial number.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77724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VEHICLES IN THE SAMPLE REGISTER</a:t>
            </a:r>
            <a:endParaRPr lang="en-US" sz="1000" dirty="0"/>
          </a:p>
        </p:txBody>
      </p:sp>
      <p:sp>
        <p:nvSpPr>
          <p:cNvPr id="7" name="Text"/>
          <p:cNvSpPr txBox="1"/>
          <p:nvPr/>
        </p:nvSpPr>
        <p:spPr>
          <a:xfrm>
            <a:off x="777240" y="4114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540</a:t>
            </a:r>
            <a:endParaRPr lang="en-US" sz="4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852160" y="1554480"/>
          <a:ext cx="329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Legend dot Active"/>
          <p:cNvSpPr/>
          <p:nvPr/>
        </p:nvSpPr>
        <p:spPr>
          <a:xfrm>
            <a:off x="9418320" y="2176272"/>
            <a:ext cx="201168" cy="201168"/>
          </a:xfrm>
          <a:prstGeom prst="ellipse">
            <a:avLst/>
          </a:prstGeom>
          <a:solidFill>
            <a:srgbClr val="0E3D3A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97383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9738360" y="2359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485</a:t>
            </a:r>
            <a:endParaRPr lang="en-US" sz="2400" dirty="0"/>
          </a:p>
        </p:txBody>
      </p:sp>
      <p:sp>
        <p:nvSpPr>
          <p:cNvPr id="12" name="Legend dot Expiring soon"/>
          <p:cNvSpPr/>
          <p:nvPr/>
        </p:nvSpPr>
        <p:spPr>
          <a:xfrm>
            <a:off x="9418320" y="3090672"/>
            <a:ext cx="201168" cy="201168"/>
          </a:xfrm>
          <a:prstGeom prst="ellipse">
            <a:avLst/>
          </a:prstGeom>
          <a:solidFill>
            <a:srgbClr val="8BE07F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97383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Expiring soon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9738360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</a:t>
            </a:r>
            <a:endParaRPr lang="en-US" sz="2400" dirty="0"/>
          </a:p>
        </p:txBody>
      </p:sp>
      <p:sp>
        <p:nvSpPr>
          <p:cNvPr id="15" name="Legend dot Expired"/>
          <p:cNvSpPr/>
          <p:nvPr/>
        </p:nvSpPr>
        <p:spPr>
          <a:xfrm>
            <a:off x="9418320" y="4005072"/>
            <a:ext cx="201168" cy="201168"/>
          </a:xfrm>
          <a:prstGeom prst="ellipse">
            <a:avLst/>
          </a:prstGeom>
          <a:solidFill>
            <a:srgbClr val="DAF5D3"/>
          </a:solidFill>
          <a:ln w="6350">
            <a:solidFill>
              <a:srgbClr val="0E3D3A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97383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Expired</a:t>
            </a:r>
            <a:endParaRPr lang="en-US" sz="1300" dirty="0"/>
          </a:p>
        </p:txBody>
      </p:sp>
      <p:sp>
        <p:nvSpPr>
          <p:cNvPr id="17" name="Text"/>
          <p:cNvSpPr txBox="1"/>
          <p:nvPr/>
        </p:nvSpPr>
        <p:spPr>
          <a:xfrm>
            <a:off x="9738360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648706" y="502920"/>
            <a:ext cx="8915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Parts"/>
          <p:cNvSpPr txBox="1"/>
          <p:nvPr/>
        </p:nvSpPr>
        <p:spPr>
          <a:xfrm>
            <a:off x="5648706" y="50292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parts, each with its own warranty</a:t>
            </a:r>
            <a:endParaRPr lang="en-US" sz="3000" dirty="0"/>
          </a:p>
        </p:txBody>
      </p:sp>
      <p:sp>
        <p:nvSpPr>
          <p:cNvPr id="5" name="Part card Motor"/>
          <p:cNvSpPr/>
          <p:nvPr/>
        </p:nvSpPr>
        <p:spPr>
          <a:xfrm>
            <a:off x="1088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1088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</a:t>
            </a:r>
            <a:endParaRPr lang="en-US" sz="1100" dirty="0"/>
          </a:p>
        </p:txBody>
      </p:sp>
      <p:sp>
        <p:nvSpPr>
          <p:cNvPr id="7" name="Term pill Motor"/>
          <p:cNvSpPr/>
          <p:nvPr/>
        </p:nvSpPr>
        <p:spPr>
          <a:xfrm>
            <a:off x="1499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1499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24-36 months</a:t>
            </a:r>
            <a:endParaRPr lang="en-US" sz="2200" dirty="0"/>
          </a:p>
        </p:txBody>
      </p:sp>
      <p:sp>
        <p:nvSpPr>
          <p:cNvPr id="9" name="Text"/>
          <p:cNvSpPr txBox="1"/>
          <p:nvPr/>
        </p:nvSpPr>
        <p:spPr>
          <a:xfrm>
            <a:off x="1362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motor number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362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MTR-250-8695278</a:t>
            </a:r>
            <a:endParaRPr lang="en-US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362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2" name="Part card Controller"/>
          <p:cNvSpPr/>
          <p:nvPr/>
        </p:nvSpPr>
        <p:spPr>
          <a:xfrm>
            <a:off x="4517136" y="1783080"/>
            <a:ext cx="3154680" cy="3931920"/>
          </a:xfrm>
          <a:prstGeom prst="roundRect">
            <a:avLst>
              <a:gd name="adj" fmla="val 6377"/>
            </a:avLst>
          </a:prstGeom>
          <a:solidFill>
            <a:schemeClr val="tx2"/>
          </a:solidFill>
          <a:ln/>
        </p:spPr>
      </p:sp>
      <p:sp>
        <p:nvSpPr>
          <p:cNvPr id="13" name="Text"/>
          <p:cNvSpPr txBox="1"/>
          <p:nvPr/>
        </p:nvSpPr>
        <p:spPr>
          <a:xfrm>
            <a:off x="4517136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4" name="Term pill Controller"/>
          <p:cNvSpPr/>
          <p:nvPr/>
        </p:nvSpPr>
        <p:spPr>
          <a:xfrm>
            <a:off x="4928616" y="251460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5" name="Text"/>
          <p:cNvSpPr txBox="1"/>
          <p:nvPr/>
        </p:nvSpPr>
        <p:spPr>
          <a:xfrm>
            <a:off x="4928616" y="2514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24 months</a:t>
            </a:r>
            <a:endParaRPr lang="en-US" sz="2200" dirty="0"/>
          </a:p>
        </p:txBody>
      </p:sp>
      <p:sp>
        <p:nvSpPr>
          <p:cNvPr id="16" name="Text"/>
          <p:cNvSpPr txBox="1"/>
          <p:nvPr/>
        </p:nvSpPr>
        <p:spPr>
          <a:xfrm>
            <a:off x="4791456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controller serial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4791456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CTL-48V-725741</a:t>
            </a:r>
            <a:endParaRPr lang="en-US" sz="1300" dirty="0"/>
          </a:p>
        </p:txBody>
      </p:sp>
      <p:sp>
        <p:nvSpPr>
          <p:cNvPr id="18" name="Text"/>
          <p:cNvSpPr txBox="1"/>
          <p:nvPr/>
        </p:nvSpPr>
        <p:spPr>
          <a:xfrm>
            <a:off x="4791456" y="4480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19" name="Part card Battery"/>
          <p:cNvSpPr/>
          <p:nvPr/>
        </p:nvSpPr>
        <p:spPr>
          <a:xfrm>
            <a:off x="7946136" y="1965960"/>
            <a:ext cx="3154680" cy="3566160"/>
          </a:xfrm>
          <a:prstGeom prst="roundRect">
            <a:avLst>
              <a:gd name="adj" fmla="val 637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7946136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rm pill Battery"/>
          <p:cNvSpPr/>
          <p:nvPr/>
        </p:nvSpPr>
        <p:spPr>
          <a:xfrm>
            <a:off x="8357616" y="2697480"/>
            <a:ext cx="233172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2" name="Text"/>
          <p:cNvSpPr txBox="1"/>
          <p:nvPr/>
        </p:nvSpPr>
        <p:spPr>
          <a:xfrm>
            <a:off x="8357616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18-30 months</a:t>
            </a:r>
            <a:endParaRPr lang="en-US" sz="2200" dirty="0"/>
          </a:p>
        </p:txBody>
      </p:sp>
      <p:sp>
        <p:nvSpPr>
          <p:cNvPr id="23" name="Text"/>
          <p:cNvSpPr txBox="1"/>
          <p:nvPr/>
        </p:nvSpPr>
        <p:spPr>
          <a:xfrm>
            <a:off x="8220456" y="3749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Tracked by battery serial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8220456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BAT-48V20-7257410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8220456" y="4663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replacement starts a new warranty</a:t>
            </a:r>
            <a:endParaRPr lang="en-US" sz="1300" dirty="0"/>
          </a:p>
        </p:txBody>
      </p:sp>
      <p:sp>
        <p:nvSpPr>
          <p:cNvPr id="26" name="Text"/>
          <p:cNvSpPr txBox="1"/>
          <p:nvPr/>
        </p:nvSpPr>
        <p:spPr>
          <a:xfrm>
            <a:off x="777240" y="5897880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Terms vary by model. Shown from the demo's model list.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344668" y="502920"/>
            <a:ext cx="14996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On the phone"/>
          <p:cNvSpPr txBox="1"/>
          <p:nvPr/>
        </p:nvSpPr>
        <p:spPr>
          <a:xfrm>
            <a:off x="5344668" y="5029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THE PHONE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the shop counter and the owner's pocket</a:t>
            </a:r>
            <a:endParaRPr lang="en-US" sz="3000" dirty="0"/>
          </a:p>
        </p:txBody>
      </p:sp>
      <p:sp>
        <p:nvSpPr>
          <p:cNvPr id="5" name="Header Dealers"/>
          <p:cNvSpPr/>
          <p:nvPr/>
        </p:nvSpPr>
        <p:spPr>
          <a:xfrm>
            <a:off x="7452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6" name="Text"/>
          <p:cNvSpPr txBox="1"/>
          <p:nvPr/>
        </p:nvSpPr>
        <p:spPr>
          <a:xfrm>
            <a:off x="7452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</a:t>
            </a:r>
            <a:endParaRPr lang="en-US" sz="1400" dirty="0"/>
          </a:p>
        </p:txBody>
      </p:sp>
      <p:sp>
        <p:nvSpPr>
          <p:cNvPr id="7" name="Dealers: Register in one form frame"/>
          <p:cNvSpPr/>
          <p:nvPr/>
        </p:nvSpPr>
        <p:spPr>
          <a:xfrm>
            <a:off x="12314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8" name="Dealers: Register in one form" descr="Dealers: Register in on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137" y="2423160"/>
            <a:ext cx="1542237" cy="333756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95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 in one form</a:t>
            </a:r>
            <a:endParaRPr lang="en-US" sz="1200" dirty="0"/>
          </a:p>
        </p:txBody>
      </p:sp>
      <p:sp>
        <p:nvSpPr>
          <p:cNvPr id="10" name="Dealers: Scan the plate QR frame"/>
          <p:cNvSpPr/>
          <p:nvPr/>
        </p:nvSpPr>
        <p:spPr>
          <a:xfrm>
            <a:off x="38374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1" name="Dealers: Scan the plate QR" descr="Dealers: Scan the plate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177" y="2423160"/>
            <a:ext cx="1542237" cy="333756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34655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the plate QR</a:t>
            </a:r>
            <a:endParaRPr lang="en-US" sz="1200" dirty="0"/>
          </a:p>
        </p:txBody>
      </p:sp>
      <p:sp>
        <p:nvSpPr>
          <p:cNvPr id="13" name="Header Vehicle owners"/>
          <p:cNvSpPr/>
          <p:nvPr/>
        </p:nvSpPr>
        <p:spPr>
          <a:xfrm>
            <a:off x="6231636" y="1783080"/>
            <a:ext cx="5212080" cy="411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4" name="Text"/>
          <p:cNvSpPr txBox="1"/>
          <p:nvPr/>
        </p:nvSpPr>
        <p:spPr>
          <a:xfrm>
            <a:off x="6231636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Vehicle owners</a:t>
            </a:r>
            <a:endParaRPr lang="en-US" sz="1400" dirty="0"/>
          </a:p>
        </p:txBody>
      </p:sp>
      <p:sp>
        <p:nvSpPr>
          <p:cNvPr id="15" name="Vehicle owners: Registration and QR frame"/>
          <p:cNvSpPr/>
          <p:nvPr/>
        </p:nvSpPr>
        <p:spPr>
          <a:xfrm>
            <a:off x="671781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6" name="Vehicle owners: Registration and QR" descr="Vehicle owners: Registration and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37" y="2423160"/>
            <a:ext cx="1542237" cy="3337560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634593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and QR</a:t>
            </a:r>
            <a:endParaRPr lang="en-US" sz="1200" dirty="0"/>
          </a:p>
        </p:txBody>
      </p:sp>
      <p:sp>
        <p:nvSpPr>
          <p:cNvPr id="18" name="Vehicle owners: Warranty per part frame"/>
          <p:cNvSpPr/>
          <p:nvPr/>
        </p:nvSpPr>
        <p:spPr>
          <a:xfrm>
            <a:off x="9323857" y="2377440"/>
            <a:ext cx="1633677" cy="3429000"/>
          </a:xfrm>
          <a:prstGeom prst="roundRect">
            <a:avLst>
              <a:gd name="adj" fmla="val 1231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52400" dist="38100" dir="5400000">
              <a:srgbClr val="0E3D3A">
                <a:alpha val="12000"/>
              </a:srgbClr>
            </a:outerShdw>
          </a:effectLst>
        </p:spPr>
      </p:sp>
      <p:pic>
        <p:nvPicPr>
          <p:cNvPr id="19" name="Vehicle owners: Warranty per part" descr="Vehicle owners: Warranty per 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577" y="2423160"/>
            <a:ext cx="1542237" cy="33375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8951976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per part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777240" y="502920"/>
            <a:ext cx="184708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Before and after"/>
          <p:cNvSpPr txBox="1"/>
          <p:nvPr/>
        </p:nvSpPr>
        <p:spPr>
          <a:xfrm>
            <a:off x="777240" y="50292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AND AFTER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scattered paper to one registry</a:t>
            </a:r>
            <a:endParaRPr lang="en-US" sz="3000" dirty="0"/>
          </a:p>
        </p:txBody>
      </p:sp>
      <p:sp>
        <p:nvSpPr>
          <p:cNvPr id="5" name="Text"/>
          <p:cNvSpPr txBox="1"/>
          <p:nvPr/>
        </p:nvSpPr>
        <p:spPr>
          <a:xfrm>
            <a:off x="777240" y="1920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changes for a small e-bike once it has a plate that opens a record.</a:t>
            </a:r>
            <a:endParaRPr lang="en-US" sz="15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Feature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Paper and memory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3D3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syfr.live</a:t>
                      </a:r>
                      <a:endParaRPr lang="en-US" sz="13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5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Central record of every bike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Warranty visible to the owner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Part replacement history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Live area-wise numbers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Plate that opens the record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3A3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E07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Yes</a:t>
                      </a:r>
                      <a:endParaRPr lang="en-US" sz="14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5C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A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120640" y="5486400"/>
            <a:ext cx="630936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8" name="Text"/>
          <p:cNvSpPr txBox="1"/>
          <p:nvPr/>
        </p:nvSpPr>
        <p:spPr>
          <a:xfrm>
            <a:off x="5120640" y="54864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record that company, dealer and owner can all read.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5561838" y="502920"/>
            <a:ext cx="106527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ag: Roadmap"/>
          <p:cNvSpPr txBox="1"/>
          <p:nvPr/>
        </p:nvSpPr>
        <p:spPr>
          <a:xfrm>
            <a:off x="5561838" y="502920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77240" y="8686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built, and what comes next</a:t>
            </a:r>
            <a:endParaRPr lang="en-US" sz="3000" dirty="0"/>
          </a:p>
        </p:txBody>
      </p:sp>
      <p:sp>
        <p:nvSpPr>
          <p:cNvPr id="5" name="Timeline line"/>
          <p:cNvSpPr/>
          <p:nvPr/>
        </p:nvSpPr>
        <p:spPr>
          <a:xfrm>
            <a:off x="1663446" y="3291840"/>
            <a:ext cx="88620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"/>
          <p:cNvSpPr txBox="1"/>
          <p:nvPr/>
        </p:nvSpPr>
        <p:spPr>
          <a:xfrm>
            <a:off x="777240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000" dirty="0"/>
          </a:p>
        </p:txBody>
      </p:sp>
      <p:sp>
        <p:nvSpPr>
          <p:cNvPr id="7" name="Node 1"/>
          <p:cNvSpPr/>
          <p:nvPr/>
        </p:nvSpPr>
        <p:spPr>
          <a:xfrm>
            <a:off x="1389126" y="3017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8" name="Done 1" descr="Do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142" y="3145536"/>
            <a:ext cx="292608" cy="292608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850392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UI</a:t>
            </a:r>
            <a:endParaRPr lang="en-US" sz="1400" dirty="0"/>
          </a:p>
        </p:txBody>
      </p:sp>
      <p:sp>
        <p:nvSpPr>
          <p:cNvPr id="10" name="Text"/>
          <p:cNvSpPr txBox="1"/>
          <p:nvPr/>
        </p:nvSpPr>
        <p:spPr>
          <a:xfrm>
            <a:off x="868680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role views with sample data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2549652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Node 2"/>
          <p:cNvSpPr/>
          <p:nvPr/>
        </p:nvSpPr>
        <p:spPr>
          <a:xfrm>
            <a:off x="3161538" y="30175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3" name="Done 2" descr="Don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554" y="3145536"/>
            <a:ext cx="292608" cy="292608"/>
          </a:xfrm>
          <a:prstGeom prst="rect">
            <a:avLst/>
          </a:prstGeom>
        </p:spPr>
      </p:pic>
      <p:sp>
        <p:nvSpPr>
          <p:cNvPr id="14" name="Text"/>
          <p:cNvSpPr txBox="1"/>
          <p:nvPr/>
        </p:nvSpPr>
        <p:spPr>
          <a:xfrm>
            <a:off x="2622804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plate and scan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2641092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Logo and QR on the plate, camera or photo scan</a:t>
            </a:r>
            <a:endParaRPr lang="en-US" sz="1200" dirty="0"/>
          </a:p>
        </p:txBody>
      </p:sp>
      <p:sp>
        <p:nvSpPr>
          <p:cNvPr id="16" name="Text"/>
          <p:cNvSpPr txBox="1"/>
          <p:nvPr/>
        </p:nvSpPr>
        <p:spPr>
          <a:xfrm>
            <a:off x="4322064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7" name="Node 3"/>
          <p:cNvSpPr/>
          <p:nvPr/>
        </p:nvSpPr>
        <p:spPr>
          <a:xfrm>
            <a:off x="4933950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493395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"/>
          <p:cNvSpPr txBox="1"/>
          <p:nvPr/>
        </p:nvSpPr>
        <p:spPr>
          <a:xfrm>
            <a:off x="4395216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"/>
          <p:cNvSpPr txBox="1"/>
          <p:nvPr/>
        </p:nvSpPr>
        <p:spPr>
          <a:xfrm>
            <a:off x="4413504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 database and API behind the screens</a:t>
            </a:r>
            <a:endParaRPr lang="en-US" sz="1200" dirty="0"/>
          </a:p>
        </p:txBody>
      </p:sp>
      <p:sp>
        <p:nvSpPr>
          <p:cNvPr id="21" name="Text"/>
          <p:cNvSpPr txBox="1"/>
          <p:nvPr/>
        </p:nvSpPr>
        <p:spPr>
          <a:xfrm>
            <a:off x="6094476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2" name="Node 4"/>
          <p:cNvSpPr/>
          <p:nvPr/>
        </p:nvSpPr>
        <p:spPr>
          <a:xfrm>
            <a:off x="6706362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670636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"/>
          <p:cNvSpPr txBox="1"/>
          <p:nvPr/>
        </p:nvSpPr>
        <p:spPr>
          <a:xfrm>
            <a:off x="6167628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Sign-in</a:t>
            </a:r>
            <a:endParaRPr lang="en-US" sz="1400" dirty="0"/>
          </a:p>
        </p:txBody>
      </p:sp>
      <p:sp>
        <p:nvSpPr>
          <p:cNvPr id="25" name="Text"/>
          <p:cNvSpPr txBox="1"/>
          <p:nvPr/>
        </p:nvSpPr>
        <p:spPr>
          <a:xfrm>
            <a:off x="6185916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Role login, with OTP for owners</a:t>
            </a:r>
            <a:endParaRPr lang="en-US" sz="1200" dirty="0"/>
          </a:p>
        </p:txBody>
      </p:sp>
      <p:sp>
        <p:nvSpPr>
          <p:cNvPr id="26" name="Text"/>
          <p:cNvSpPr txBox="1"/>
          <p:nvPr/>
        </p:nvSpPr>
        <p:spPr>
          <a:xfrm>
            <a:off x="7866888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27" name="Node 5"/>
          <p:cNvSpPr/>
          <p:nvPr/>
        </p:nvSpPr>
        <p:spPr>
          <a:xfrm>
            <a:off x="8478774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847877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"/>
          <p:cNvSpPr txBox="1"/>
          <p:nvPr/>
        </p:nvSpPr>
        <p:spPr>
          <a:xfrm>
            <a:off x="7940040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 rollout</a:t>
            </a:r>
            <a:endParaRPr lang="en-US" sz="1400" dirty="0"/>
          </a:p>
        </p:txBody>
      </p:sp>
      <p:sp>
        <p:nvSpPr>
          <p:cNvPr id="30" name="Text"/>
          <p:cNvSpPr txBox="1"/>
          <p:nvPr/>
        </p:nvSpPr>
        <p:spPr>
          <a:xfrm>
            <a:off x="7958328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Onboarding and bulk QR plate printing</a:t>
            </a:r>
            <a:endParaRPr lang="en-US" sz="1200" dirty="0"/>
          </a:p>
        </p:txBody>
      </p:sp>
      <p:sp>
        <p:nvSpPr>
          <p:cNvPr id="31" name="Text"/>
          <p:cNvSpPr txBox="1"/>
          <p:nvPr/>
        </p:nvSpPr>
        <p:spPr>
          <a:xfrm>
            <a:off x="9639300" y="2240280"/>
            <a:ext cx="177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PROPOSED</a:t>
            </a:r>
            <a:endParaRPr lang="en-US" sz="1000" dirty="0"/>
          </a:p>
        </p:txBody>
      </p:sp>
      <p:sp>
        <p:nvSpPr>
          <p:cNvPr id="32" name="Node 6"/>
          <p:cNvSpPr/>
          <p:nvPr/>
        </p:nvSpPr>
        <p:spPr>
          <a:xfrm>
            <a:off x="10251186" y="30175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3" name="Text"/>
          <p:cNvSpPr txBox="1"/>
          <p:nvPr/>
        </p:nvSpPr>
        <p:spPr>
          <a:xfrm>
            <a:off x="10251186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"/>
          <p:cNvSpPr txBox="1"/>
          <p:nvPr/>
        </p:nvSpPr>
        <p:spPr>
          <a:xfrm>
            <a:off x="9712452" y="3840480"/>
            <a:ext cx="1626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 and claims</a:t>
            </a:r>
            <a:endParaRPr lang="en-US" sz="1400" dirty="0"/>
          </a:p>
        </p:txBody>
      </p:sp>
      <p:sp>
        <p:nvSpPr>
          <p:cNvPr id="35" name="Text"/>
          <p:cNvSpPr txBox="1"/>
          <p:nvPr/>
        </p:nvSpPr>
        <p:spPr>
          <a:xfrm>
            <a:off x="9730740" y="4434840"/>
            <a:ext cx="15895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 or WhatsApp alerts, claim workflow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anel" descr="Plate and sca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8640"/>
            <a:ext cx="4937760" cy="5760720"/>
          </a:xfrm>
          <a:prstGeom prst="rect">
            <a:avLst/>
          </a:prstGeom>
        </p:spPr>
      </p:pic>
      <p:sp>
        <p:nvSpPr>
          <p:cNvPr id="3" name="Tag pill"/>
          <p:cNvSpPr/>
          <p:nvPr/>
        </p:nvSpPr>
        <p:spPr>
          <a:xfrm>
            <a:off x="6309360" y="1097280"/>
            <a:ext cx="97840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ag: Try it"/>
          <p:cNvSpPr txBox="1"/>
          <p:nvPr/>
        </p:nvSpPr>
        <p:spPr>
          <a:xfrm>
            <a:off x="6309360" y="109728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TRY IT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309360" y="1554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QR plate.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registry.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syfr.live.</a:t>
            </a:r>
            <a:endParaRPr lang="en-US" sz="4000" dirty="0"/>
          </a:p>
        </p:txBody>
      </p:sp>
      <p:pic>
        <p:nvPicPr>
          <p:cNvPr id="6" name="Icon 1" descr="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78808"/>
            <a:ext cx="256032" cy="256032"/>
          </a:xfrm>
          <a:prstGeom prst="rect">
            <a:avLst/>
          </a:prstGeom>
        </p:spPr>
      </p:pic>
      <p:sp>
        <p:nvSpPr>
          <p:cNvPr id="7" name="Contact 1">
            <a:hlinkClick r:id="rId3" tooltip="Open the demo"/>
          </p:cNvPr>
          <p:cNvSpPr txBox="1"/>
          <p:nvPr/>
        </p:nvSpPr>
        <p:spPr>
          <a:xfrm>
            <a:off x="672084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3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demo: claude.ai/artifact/76eZmTT9gninNENMKdFitt</a:t>
            </a:r>
            <a:endParaRPr lang="en-US" sz="1300" dirty="0"/>
          </a:p>
        </p:txBody>
      </p:sp>
      <p:pic>
        <p:nvPicPr>
          <p:cNvPr id="8" name="Icon 2" descr="Icon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636008"/>
            <a:ext cx="256032" cy="256032"/>
          </a:xfrm>
          <a:prstGeom prst="rect">
            <a:avLst/>
          </a:prstGeom>
        </p:spPr>
      </p:pic>
      <p:sp>
        <p:nvSpPr>
          <p:cNvPr id="9" name="Contact 2"/>
          <p:cNvSpPr txBox="1"/>
          <p:nvPr/>
        </p:nvSpPr>
        <p:spPr>
          <a:xfrm>
            <a:off x="6720840" y="4617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Code: ev-registry/ in the fans-app repo</a:t>
            </a:r>
            <a:endParaRPr lang="en-US" sz="1300" dirty="0"/>
          </a:p>
        </p:txBody>
      </p:sp>
      <p:pic>
        <p:nvPicPr>
          <p:cNvPr id="10" name="Icon 3" descr="Icon 3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93208"/>
            <a:ext cx="256032" cy="256032"/>
          </a:xfrm>
          <a:prstGeom prst="rect">
            <a:avLst/>
          </a:prstGeom>
        </p:spPr>
      </p:pic>
      <p:sp>
        <p:nvSpPr>
          <p:cNvPr id="11" name="Contact 3"/>
          <p:cNvSpPr txBox="1"/>
          <p:nvPr/>
        </p:nvSpPr>
        <p:spPr>
          <a:xfrm>
            <a:off x="6720840" y="5074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data shown is sample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fr.live Mint">
  <a:themeElements>
    <a:clrScheme name="syfr.live Mint">
      <a:dk1>
        <a:srgbClr val="0E3D3A"/>
      </a:dk1>
      <a:lt1>
        <a:srgbClr val="FFFFFF"/>
      </a:lt1>
      <a:dk2>
        <a:srgbClr val="0E3D3A"/>
      </a:dk2>
      <a:lt2>
        <a:srgbClr val="F2FBEE"/>
      </a:lt2>
      <a:accent1>
        <a:srgbClr val="8BE07F"/>
      </a:accent1>
      <a:accent2>
        <a:srgbClr val="2F9E57"/>
      </a:accent2>
      <a:accent3>
        <a:srgbClr val="DAF5D3"/>
      </a:accent3>
      <a:accent4>
        <a:srgbClr val="1F5C57"/>
      </a:accent4>
      <a:accent5>
        <a:srgbClr val="B7EEA9"/>
      </a:accent5>
      <a:accent6>
        <a:srgbClr val="5C7A76"/>
      </a:accent6>
      <a:hlink>
        <a:srgbClr val="2F9E57"/>
      </a:hlink>
      <a:folHlink>
        <a:srgbClr val="5C7A76"/>
      </a:folHlink>
    </a:clrScheme>
    <a:fontScheme name="syfr.live Mint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2026-10-17T05:01:58Z</dcterms:created>
  <dcterms:modified xsi:type="dcterms:W3CDTF">2026-10-17T05:01:58Z</dcterms:modified>
</cp:coreProperties>
</file>